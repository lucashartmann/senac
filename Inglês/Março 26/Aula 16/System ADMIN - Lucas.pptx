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TT Hoves" charset="1" panose="02000003020000060003"/>
      <p:regular r:id="rId13"/>
    </p:embeddedFont>
    <p:embeddedFont>
      <p:font typeface="TT Hoves Bold" charset="1" panose="020000030200000600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2B8DD"/>
        </a:solidFill>
      </p:bgPr>
    </p:bg>
    <p:spTree>
      <p:nvGrpSpPr>
        <p:cNvPr id="1" name=""/>
        <p:cNvGrpSpPr/>
        <p:nvPr/>
      </p:nvGrpSpPr>
      <p:grpSpPr>
        <a:xfrm>
          <a:off x="0" y="0"/>
          <a:ext cx="0" cy="0"/>
          <a:chOff x="0" y="0"/>
          <a:chExt cx="0" cy="0"/>
        </a:xfrm>
      </p:grpSpPr>
      <p:grpSp>
        <p:nvGrpSpPr>
          <p:cNvPr name="Group 2" id="2"/>
          <p:cNvGrpSpPr/>
          <p:nvPr/>
        </p:nvGrpSpPr>
        <p:grpSpPr>
          <a:xfrm rot="0">
            <a:off x="2111600" y="-153702"/>
            <a:ext cx="16363038" cy="8520557"/>
            <a:chOff x="0" y="0"/>
            <a:chExt cx="4309607" cy="2244097"/>
          </a:xfrm>
        </p:grpSpPr>
        <p:sp>
          <p:nvSpPr>
            <p:cNvPr name="Freeform 3" id="3"/>
            <p:cNvSpPr/>
            <p:nvPr/>
          </p:nvSpPr>
          <p:spPr>
            <a:xfrm flipH="false" flipV="false" rot="0">
              <a:off x="0" y="0"/>
              <a:ext cx="4309607" cy="2244097"/>
            </a:xfrm>
            <a:custGeom>
              <a:avLst/>
              <a:gdLst/>
              <a:ahLst/>
              <a:cxnLst/>
              <a:rect r="r" b="b" t="t" l="l"/>
              <a:pathLst>
                <a:path h="2244097" w="4309607">
                  <a:moveTo>
                    <a:pt x="0" y="0"/>
                  </a:moveTo>
                  <a:lnTo>
                    <a:pt x="4309607" y="0"/>
                  </a:lnTo>
                  <a:lnTo>
                    <a:pt x="4309607" y="2244097"/>
                  </a:lnTo>
                  <a:lnTo>
                    <a:pt x="0" y="2244097"/>
                  </a:lnTo>
                  <a:close/>
                </a:path>
              </a:pathLst>
            </a:custGeom>
            <a:solidFill>
              <a:srgbClr val="FFFFFF"/>
            </a:solidFill>
          </p:spPr>
        </p:sp>
        <p:sp>
          <p:nvSpPr>
            <p:cNvPr name="TextBox 4" id="4"/>
            <p:cNvSpPr txBox="true"/>
            <p:nvPr/>
          </p:nvSpPr>
          <p:spPr>
            <a:xfrm>
              <a:off x="0" y="-38100"/>
              <a:ext cx="4309607" cy="228219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350272" y="9277350"/>
            <a:ext cx="14757203" cy="0"/>
          </a:xfrm>
          <a:prstGeom prst="line">
            <a:avLst/>
          </a:prstGeom>
          <a:ln cap="flat" w="9525">
            <a:solidFill>
              <a:srgbClr val="000000"/>
            </a:solidFill>
            <a:prstDash val="solid"/>
            <a:headEnd type="none" len="sm" w="sm"/>
            <a:tailEnd type="none" len="sm" w="sm"/>
          </a:ln>
        </p:spPr>
      </p:sp>
      <p:sp>
        <p:nvSpPr>
          <p:cNvPr name="Freeform 7" id="7"/>
          <p:cNvSpPr/>
          <p:nvPr/>
        </p:nvSpPr>
        <p:spPr>
          <a:xfrm flipH="false" flipV="false" rot="5400000">
            <a:off x="-723249" y="2257023"/>
            <a:ext cx="3503898" cy="471434"/>
          </a:xfrm>
          <a:custGeom>
            <a:avLst/>
            <a:gdLst/>
            <a:ahLst/>
            <a:cxnLst/>
            <a:rect r="r" b="b" t="t" l="l"/>
            <a:pathLst>
              <a:path h="471434" w="3503898">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890274" y="740791"/>
            <a:ext cx="1510928" cy="466683"/>
          </a:xfrm>
          <a:prstGeom prst="rect">
            <a:avLst/>
          </a:prstGeom>
        </p:spPr>
        <p:txBody>
          <a:bodyPr anchor="t" rtlCol="false" tIns="0" lIns="0" bIns="0" rIns="0">
            <a:spAutoFit/>
          </a:bodyPr>
          <a:lstStyle/>
          <a:p>
            <a:pPr algn="l" marL="0" indent="0" lvl="0">
              <a:lnSpc>
                <a:spcPts val="1883"/>
              </a:lnSpc>
            </a:pPr>
            <a:r>
              <a:rPr lang="en-US" sz="1506" spc="122">
                <a:solidFill>
                  <a:srgbClr val="000000"/>
                </a:solidFill>
                <a:latin typeface="TT Hoves"/>
                <a:ea typeface="TT Hoves"/>
                <a:cs typeface="TT Hoves"/>
                <a:sym typeface="TT Hoves"/>
              </a:rPr>
              <a:t>Lucas</a:t>
            </a:r>
          </a:p>
          <a:p>
            <a:pPr algn="l" marL="0" indent="0" lvl="0">
              <a:lnSpc>
                <a:spcPts val="1883"/>
              </a:lnSpc>
            </a:pPr>
            <a:r>
              <a:rPr lang="en-US" sz="1506" spc="122">
                <a:solidFill>
                  <a:srgbClr val="000000"/>
                </a:solidFill>
                <a:latin typeface="TT Hoves"/>
                <a:ea typeface="TT Hoves"/>
                <a:cs typeface="TT Hoves"/>
                <a:sym typeface="TT Hoves"/>
              </a:rPr>
              <a:t>Hartmann</a:t>
            </a:r>
          </a:p>
        </p:txBody>
      </p:sp>
      <p:sp>
        <p:nvSpPr>
          <p:cNvPr name="TextBox 9" id="9"/>
          <p:cNvSpPr txBox="true"/>
          <p:nvPr/>
        </p:nvSpPr>
        <p:spPr>
          <a:xfrm rot="0">
            <a:off x="2890274" y="3536757"/>
            <a:ext cx="9255329" cy="3228444"/>
          </a:xfrm>
          <a:prstGeom prst="rect">
            <a:avLst/>
          </a:prstGeom>
        </p:spPr>
        <p:txBody>
          <a:bodyPr anchor="t" rtlCol="false" tIns="0" lIns="0" bIns="0" rIns="0">
            <a:spAutoFit/>
          </a:bodyPr>
          <a:lstStyle/>
          <a:p>
            <a:pPr algn="l" marL="0" indent="0" lvl="0">
              <a:lnSpc>
                <a:spcPts val="8490"/>
              </a:lnSpc>
            </a:pPr>
            <a:r>
              <a:rPr lang="en-US" b="true" sz="7383">
                <a:solidFill>
                  <a:srgbClr val="000000"/>
                </a:solidFill>
                <a:latin typeface="TT Hoves Bold"/>
                <a:ea typeface="TT Hoves Bold"/>
                <a:cs typeface="TT Hoves Bold"/>
                <a:sym typeface="TT Hoves Bold"/>
              </a:rPr>
              <a:t>A Day in the Life of a System Administrator</a:t>
            </a:r>
          </a:p>
        </p:txBody>
      </p:sp>
      <p:sp>
        <p:nvSpPr>
          <p:cNvPr name="TextBox 10" id="10"/>
          <p:cNvSpPr txBox="true"/>
          <p:nvPr/>
        </p:nvSpPr>
        <p:spPr>
          <a:xfrm rot="0">
            <a:off x="2890274" y="7147921"/>
            <a:ext cx="7804538" cy="251268"/>
          </a:xfrm>
          <a:prstGeom prst="rect">
            <a:avLst/>
          </a:prstGeom>
        </p:spPr>
        <p:txBody>
          <a:bodyPr anchor="t" rtlCol="false" tIns="0" lIns="0" bIns="0" rIns="0">
            <a:spAutoFit/>
          </a:bodyPr>
          <a:lstStyle/>
          <a:p>
            <a:pPr algn="l" marL="0" indent="0" lvl="0">
              <a:lnSpc>
                <a:spcPts val="2154"/>
              </a:lnSpc>
            </a:pPr>
            <a:r>
              <a:rPr lang="en-US" sz="1506" spc="69">
                <a:solidFill>
                  <a:srgbClr val="000000"/>
                </a:solidFill>
                <a:latin typeface="TT Hoves"/>
                <a:ea typeface="TT Hoves"/>
                <a:cs typeface="TT Hoves"/>
                <a:sym typeface="TT Hoves"/>
              </a:rPr>
              <a:t>Exploring the Daily Responsibilities and Challenges of IT Infrastructure Management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2B8DD"/>
        </a:solidFill>
      </p:bgPr>
    </p:bg>
    <p:spTree>
      <p:nvGrpSpPr>
        <p:cNvPr id="1" name=""/>
        <p:cNvGrpSpPr/>
        <p:nvPr/>
      </p:nvGrpSpPr>
      <p:grpSpPr>
        <a:xfrm>
          <a:off x="0" y="0"/>
          <a:ext cx="0" cy="0"/>
          <a:chOff x="0" y="0"/>
          <a:chExt cx="0" cy="0"/>
        </a:xfrm>
      </p:grpSpPr>
      <p:sp>
        <p:nvSpPr>
          <p:cNvPr name="Freeform 2" id="2"/>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46689" y="4051379"/>
            <a:ext cx="16999803" cy="6717644"/>
            <a:chOff x="0" y="0"/>
            <a:chExt cx="4477314" cy="1769256"/>
          </a:xfrm>
        </p:grpSpPr>
        <p:sp>
          <p:nvSpPr>
            <p:cNvPr name="Freeform 4" id="4"/>
            <p:cNvSpPr/>
            <p:nvPr/>
          </p:nvSpPr>
          <p:spPr>
            <a:xfrm flipH="false" flipV="false" rot="0">
              <a:off x="0" y="0"/>
              <a:ext cx="4477314" cy="1769256"/>
            </a:xfrm>
            <a:custGeom>
              <a:avLst/>
              <a:gdLst/>
              <a:ahLst/>
              <a:cxnLst/>
              <a:rect r="r" b="b" t="t" l="l"/>
              <a:pathLst>
                <a:path h="1769256" w="4477314">
                  <a:moveTo>
                    <a:pt x="0" y="0"/>
                  </a:moveTo>
                  <a:lnTo>
                    <a:pt x="4477314" y="0"/>
                  </a:lnTo>
                  <a:lnTo>
                    <a:pt x="4477314" y="1769256"/>
                  </a:lnTo>
                  <a:lnTo>
                    <a:pt x="0" y="1769256"/>
                  </a:lnTo>
                  <a:close/>
                </a:path>
              </a:pathLst>
            </a:custGeom>
            <a:solidFill>
              <a:srgbClr val="FFFFFF"/>
            </a:solidFill>
          </p:spPr>
        </p:sp>
        <p:sp>
          <p:nvSpPr>
            <p:cNvPr name="TextBox 5" id="5"/>
            <p:cNvSpPr txBox="true"/>
            <p:nvPr/>
          </p:nvSpPr>
          <p:spPr>
            <a:xfrm>
              <a:off x="0" y="-38100"/>
              <a:ext cx="4477314" cy="180735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1028700" y="711200"/>
            <a:ext cx="1510928" cy="532095"/>
          </a:xfrm>
          <a:prstGeom prst="rect">
            <a:avLst/>
          </a:prstGeom>
        </p:spPr>
        <p:txBody>
          <a:bodyPr anchor="t" rtlCol="false" tIns="0" lIns="0" bIns="0" rIns="0">
            <a:spAutoFit/>
          </a:bodyPr>
          <a:lstStyle/>
          <a:p>
            <a:pPr algn="l" marL="0" indent="0" lvl="0">
              <a:lnSpc>
                <a:spcPts val="2131"/>
              </a:lnSpc>
            </a:pPr>
            <a:r>
              <a:rPr lang="en-US" sz="1705" spc="138">
                <a:solidFill>
                  <a:srgbClr val="000000"/>
                </a:solidFill>
                <a:latin typeface="TT Hoves"/>
                <a:ea typeface="TT Hoves"/>
                <a:cs typeface="TT Hoves"/>
                <a:sym typeface="TT Hoves"/>
              </a:rPr>
              <a:t>Lucas</a:t>
            </a:r>
          </a:p>
          <a:p>
            <a:pPr algn="l" marL="0" indent="0" lvl="0">
              <a:lnSpc>
                <a:spcPts val="2131"/>
              </a:lnSpc>
            </a:pPr>
            <a:r>
              <a:rPr lang="en-US" sz="1705" spc="138">
                <a:solidFill>
                  <a:srgbClr val="000000"/>
                </a:solidFill>
                <a:latin typeface="TT Hoves"/>
                <a:ea typeface="TT Hoves"/>
                <a:cs typeface="TT Hoves"/>
                <a:sym typeface="TT Hoves"/>
              </a:rPr>
              <a:t>Hartmann</a:t>
            </a:r>
          </a:p>
        </p:txBody>
      </p:sp>
      <p:sp>
        <p:nvSpPr>
          <p:cNvPr name="TextBox 7" id="7"/>
          <p:cNvSpPr txBox="true"/>
          <p:nvPr/>
        </p:nvSpPr>
        <p:spPr>
          <a:xfrm rot="0">
            <a:off x="1451734" y="2213087"/>
            <a:ext cx="7929994" cy="1104867"/>
          </a:xfrm>
          <a:prstGeom prst="rect">
            <a:avLst/>
          </a:prstGeom>
        </p:spPr>
        <p:txBody>
          <a:bodyPr anchor="t" rtlCol="false" tIns="0" lIns="0" bIns="0" rIns="0">
            <a:spAutoFit/>
          </a:bodyPr>
          <a:lstStyle/>
          <a:p>
            <a:pPr algn="l" marL="0" indent="0" lvl="0">
              <a:lnSpc>
                <a:spcPts val="8618"/>
              </a:lnSpc>
            </a:pPr>
            <a:r>
              <a:rPr lang="en-US" b="true" sz="7494">
                <a:solidFill>
                  <a:srgbClr val="000000"/>
                </a:solidFill>
                <a:latin typeface="TT Hoves Bold"/>
                <a:ea typeface="TT Hoves Bold"/>
                <a:cs typeface="TT Hoves Bold"/>
                <a:sym typeface="TT Hoves Bold"/>
              </a:rPr>
              <a:t>Morning Routine</a:t>
            </a:r>
          </a:p>
        </p:txBody>
      </p:sp>
      <p:sp>
        <p:nvSpPr>
          <p:cNvPr name="TextBox 8" id="8"/>
          <p:cNvSpPr txBox="true"/>
          <p:nvPr/>
        </p:nvSpPr>
        <p:spPr>
          <a:xfrm rot="0">
            <a:off x="6114883" y="6500982"/>
            <a:ext cx="3320710" cy="1598895"/>
          </a:xfrm>
          <a:prstGeom prst="rect">
            <a:avLst/>
          </a:prstGeom>
        </p:spPr>
        <p:txBody>
          <a:bodyPr anchor="t" rtlCol="false" tIns="0" lIns="0" bIns="0" rIns="0">
            <a:spAutoFit/>
          </a:bodyPr>
          <a:lstStyle/>
          <a:p>
            <a:pPr algn="l" marL="0" indent="0" lvl="0">
              <a:lnSpc>
                <a:spcPts val="2131"/>
              </a:lnSpc>
              <a:spcBef>
                <a:spcPct val="0"/>
              </a:spcBef>
            </a:pPr>
            <a:r>
              <a:rPr lang="en-US" sz="1705">
                <a:solidFill>
                  <a:srgbClr val="000000"/>
                </a:solidFill>
                <a:latin typeface="TT Hoves"/>
                <a:ea typeface="TT Hoves"/>
                <a:cs typeface="TT Hoves"/>
                <a:sym typeface="TT Hoves"/>
              </a:rPr>
              <a:t>Start the day by reviewing overnight emails and support tickets. Check for any urgent issues that came in after hours and flag critical items for immediate attention.</a:t>
            </a:r>
          </a:p>
        </p:txBody>
      </p:sp>
      <p:sp>
        <p:nvSpPr>
          <p:cNvPr name="TextBox 9" id="9"/>
          <p:cNvSpPr txBox="true"/>
          <p:nvPr/>
        </p:nvSpPr>
        <p:spPr>
          <a:xfrm rot="0">
            <a:off x="12186778" y="6500982"/>
            <a:ext cx="3451392" cy="1332195"/>
          </a:xfrm>
          <a:prstGeom prst="rect">
            <a:avLst/>
          </a:prstGeom>
        </p:spPr>
        <p:txBody>
          <a:bodyPr anchor="t" rtlCol="false" tIns="0" lIns="0" bIns="0" rIns="0">
            <a:spAutoFit/>
          </a:bodyPr>
          <a:lstStyle/>
          <a:p>
            <a:pPr algn="l" marL="0" indent="0" lvl="0">
              <a:lnSpc>
                <a:spcPts val="2131"/>
              </a:lnSpc>
              <a:spcBef>
                <a:spcPct val="0"/>
              </a:spcBef>
            </a:pPr>
            <a:r>
              <a:rPr lang="en-US" sz="1705">
                <a:solidFill>
                  <a:srgbClr val="000000"/>
                </a:solidFill>
                <a:latin typeface="TT Hoves"/>
                <a:ea typeface="TT Hoves"/>
                <a:cs typeface="TT Hoves"/>
                <a:sym typeface="TT Hoves"/>
              </a:rPr>
              <a:t>Prioritize the day's tasks based on urgency and impact. Create a to-do list, schedule maintenance windows, and coordinate with team members on collaborative projects.</a:t>
            </a:r>
          </a:p>
        </p:txBody>
      </p:sp>
      <p:sp>
        <p:nvSpPr>
          <p:cNvPr name="TextBox 10" id="10"/>
          <p:cNvSpPr txBox="true"/>
          <p:nvPr/>
        </p:nvSpPr>
        <p:spPr>
          <a:xfrm rot="0">
            <a:off x="6114883" y="5839272"/>
            <a:ext cx="3956792" cy="289014"/>
          </a:xfrm>
          <a:prstGeom prst="rect">
            <a:avLst/>
          </a:prstGeom>
        </p:spPr>
        <p:txBody>
          <a:bodyPr anchor="t" rtlCol="false" tIns="0" lIns="0" bIns="0" rIns="0">
            <a:spAutoFit/>
          </a:bodyPr>
          <a:lstStyle/>
          <a:p>
            <a:pPr algn="l" marL="0" indent="0" lvl="0">
              <a:lnSpc>
                <a:spcPts val="2316"/>
              </a:lnSpc>
            </a:pPr>
            <a:r>
              <a:rPr lang="en-US" b="true" sz="2014">
                <a:solidFill>
                  <a:srgbClr val="000000"/>
                </a:solidFill>
                <a:latin typeface="TT Hoves Bold"/>
                <a:ea typeface="TT Hoves Bold"/>
                <a:cs typeface="TT Hoves Bold"/>
                <a:sym typeface="TT Hoves Bold"/>
              </a:rPr>
              <a:t>Review Emails &amp; Tickets</a:t>
            </a:r>
          </a:p>
        </p:txBody>
      </p:sp>
      <p:sp>
        <p:nvSpPr>
          <p:cNvPr name="TextBox 11" id="11"/>
          <p:cNvSpPr txBox="true"/>
          <p:nvPr/>
        </p:nvSpPr>
        <p:spPr>
          <a:xfrm rot="0">
            <a:off x="12186778" y="5839272"/>
            <a:ext cx="2324213" cy="289014"/>
          </a:xfrm>
          <a:prstGeom prst="rect">
            <a:avLst/>
          </a:prstGeom>
        </p:spPr>
        <p:txBody>
          <a:bodyPr anchor="t" rtlCol="false" tIns="0" lIns="0" bIns="0" rIns="0">
            <a:spAutoFit/>
          </a:bodyPr>
          <a:lstStyle/>
          <a:p>
            <a:pPr algn="l" marL="0" indent="0" lvl="0">
              <a:lnSpc>
                <a:spcPts val="2316"/>
              </a:lnSpc>
            </a:pPr>
            <a:r>
              <a:rPr lang="en-US" b="true" sz="2014">
                <a:solidFill>
                  <a:srgbClr val="000000"/>
                </a:solidFill>
                <a:latin typeface="TT Hoves Bold"/>
                <a:ea typeface="TT Hoves Bold"/>
                <a:cs typeface="TT Hoves Bold"/>
                <a:sym typeface="TT Hoves Bold"/>
              </a:rPr>
              <a:t>Plan &amp; Prioritize</a:t>
            </a:r>
          </a:p>
        </p:txBody>
      </p:sp>
      <p:sp>
        <p:nvSpPr>
          <p:cNvPr name="AutoShape 12" id="12"/>
          <p:cNvSpPr/>
          <p:nvPr/>
        </p:nvSpPr>
        <p:spPr>
          <a:xfrm>
            <a:off x="2340781" y="4858524"/>
            <a:ext cx="10708067" cy="0"/>
          </a:xfrm>
          <a:prstGeom prst="line">
            <a:avLst/>
          </a:prstGeom>
          <a:ln cap="flat" w="38100">
            <a:solidFill>
              <a:srgbClr val="000000"/>
            </a:solidFill>
            <a:prstDash val="solid"/>
            <a:headEnd type="none" len="sm" w="sm"/>
            <a:tailEnd type="none" len="sm" w="sm"/>
          </a:ln>
        </p:spPr>
      </p:sp>
      <p:sp>
        <p:nvSpPr>
          <p:cNvPr name="AutoShape 13" id="13"/>
          <p:cNvSpPr/>
          <p:nvPr/>
        </p:nvSpPr>
        <p:spPr>
          <a:xfrm>
            <a:off x="2340781" y="4839474"/>
            <a:ext cx="0" cy="608053"/>
          </a:xfrm>
          <a:prstGeom prst="line">
            <a:avLst/>
          </a:prstGeom>
          <a:ln cap="flat" w="38100">
            <a:solidFill>
              <a:srgbClr val="000000"/>
            </a:solidFill>
            <a:prstDash val="solid"/>
            <a:headEnd type="none" len="sm" w="sm"/>
            <a:tailEnd type="arrow" len="sm" w="med"/>
          </a:ln>
        </p:spPr>
      </p:sp>
      <p:sp>
        <p:nvSpPr>
          <p:cNvPr name="AutoShape 14" id="14"/>
          <p:cNvSpPr/>
          <p:nvPr/>
        </p:nvSpPr>
        <p:spPr>
          <a:xfrm>
            <a:off x="7775238" y="4839474"/>
            <a:ext cx="0" cy="608053"/>
          </a:xfrm>
          <a:prstGeom prst="line">
            <a:avLst/>
          </a:prstGeom>
          <a:ln cap="flat" w="38100">
            <a:solidFill>
              <a:srgbClr val="000000"/>
            </a:solidFill>
            <a:prstDash val="solid"/>
            <a:headEnd type="none" len="sm" w="sm"/>
            <a:tailEnd type="arrow" len="sm" w="med"/>
          </a:ln>
        </p:spPr>
      </p:sp>
      <p:sp>
        <p:nvSpPr>
          <p:cNvPr name="AutoShape 15" id="15"/>
          <p:cNvSpPr/>
          <p:nvPr/>
        </p:nvSpPr>
        <p:spPr>
          <a:xfrm>
            <a:off x="13029798" y="4839474"/>
            <a:ext cx="0" cy="608053"/>
          </a:xfrm>
          <a:prstGeom prst="line">
            <a:avLst/>
          </a:prstGeom>
          <a:ln cap="flat" w="38100">
            <a:solidFill>
              <a:srgbClr val="000000"/>
            </a:solidFill>
            <a:prstDash val="solid"/>
            <a:headEnd type="none" len="sm" w="sm"/>
            <a:tailEnd type="arrow" len="sm" w="med"/>
          </a:ln>
        </p:spPr>
      </p:sp>
      <p:sp>
        <p:nvSpPr>
          <p:cNvPr name="Freeform 16" id="16"/>
          <p:cNvSpPr/>
          <p:nvPr/>
        </p:nvSpPr>
        <p:spPr>
          <a:xfrm flipH="false" flipV="false" rot="0">
            <a:off x="13236105" y="2515533"/>
            <a:ext cx="3503898" cy="471434"/>
          </a:xfrm>
          <a:custGeom>
            <a:avLst/>
            <a:gdLst/>
            <a:ahLst/>
            <a:cxnLst/>
            <a:rect r="r" b="b" t="t" l="l"/>
            <a:pathLst>
              <a:path h="471434" w="3503898">
                <a:moveTo>
                  <a:pt x="0" y="0"/>
                </a:moveTo>
                <a:lnTo>
                  <a:pt x="3503898" y="0"/>
                </a:lnTo>
                <a:lnTo>
                  <a:pt x="3503898" y="471433"/>
                </a:lnTo>
                <a:lnTo>
                  <a:pt x="0" y="4714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028700" y="6500982"/>
            <a:ext cx="3320710" cy="1332195"/>
          </a:xfrm>
          <a:prstGeom prst="rect">
            <a:avLst/>
          </a:prstGeom>
        </p:spPr>
        <p:txBody>
          <a:bodyPr anchor="t" rtlCol="false" tIns="0" lIns="0" bIns="0" rIns="0">
            <a:spAutoFit/>
          </a:bodyPr>
          <a:lstStyle/>
          <a:p>
            <a:pPr algn="l" marL="0" indent="0" lvl="0">
              <a:lnSpc>
                <a:spcPts val="2131"/>
              </a:lnSpc>
              <a:spcBef>
                <a:spcPct val="0"/>
              </a:spcBef>
            </a:pPr>
            <a:r>
              <a:rPr lang="en-US" sz="1705">
                <a:solidFill>
                  <a:srgbClr val="000000"/>
                </a:solidFill>
                <a:latin typeface="TT Hoves"/>
                <a:ea typeface="TT Hoves"/>
                <a:cs typeface="TT Hoves"/>
                <a:sym typeface="TT Hoves"/>
              </a:rPr>
              <a:t>IS</a:t>
            </a:r>
            <a:r>
              <a:rPr lang="en-US" sz="1705">
                <a:solidFill>
                  <a:srgbClr val="000000"/>
                </a:solidFill>
                <a:latin typeface="TT Hoves"/>
                <a:ea typeface="TT Hoves"/>
                <a:cs typeface="TT Hoves"/>
                <a:sym typeface="TT Hoves"/>
              </a:rPr>
              <a:t>tart the day by greeting my colleagues, grabbing a fresh coffee, going to my desk, turning on my computer, and connecting to the server.</a:t>
            </a:r>
          </a:p>
        </p:txBody>
      </p:sp>
      <p:sp>
        <p:nvSpPr>
          <p:cNvPr name="TextBox 18" id="18"/>
          <p:cNvSpPr txBox="true"/>
          <p:nvPr/>
        </p:nvSpPr>
        <p:spPr>
          <a:xfrm rot="0">
            <a:off x="1028700" y="5839272"/>
            <a:ext cx="3956792" cy="289014"/>
          </a:xfrm>
          <a:prstGeom prst="rect">
            <a:avLst/>
          </a:prstGeom>
        </p:spPr>
        <p:txBody>
          <a:bodyPr anchor="t" rtlCol="false" tIns="0" lIns="0" bIns="0" rIns="0">
            <a:spAutoFit/>
          </a:bodyPr>
          <a:lstStyle/>
          <a:p>
            <a:pPr algn="l" marL="0" indent="0" lvl="0">
              <a:lnSpc>
                <a:spcPts val="2316"/>
              </a:lnSpc>
            </a:pPr>
            <a:r>
              <a:rPr lang="en-US" b="true" sz="2014">
                <a:solidFill>
                  <a:srgbClr val="000000"/>
                </a:solidFill>
                <a:latin typeface="TT Hoves Bold"/>
                <a:ea typeface="TT Hoves Bold"/>
                <a:cs typeface="TT Hoves Bold"/>
                <a:sym typeface="TT Hoves Bold"/>
              </a:rPr>
              <a:t>Prepare Workspace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004456" y="302716"/>
            <a:ext cx="13451137" cy="1483210"/>
            <a:chOff x="0" y="0"/>
            <a:chExt cx="3542686" cy="390640"/>
          </a:xfrm>
        </p:grpSpPr>
        <p:sp>
          <p:nvSpPr>
            <p:cNvPr name="Freeform 3" id="3"/>
            <p:cNvSpPr/>
            <p:nvPr/>
          </p:nvSpPr>
          <p:spPr>
            <a:xfrm flipH="false" flipV="false" rot="0">
              <a:off x="0" y="0"/>
              <a:ext cx="3542686" cy="390640"/>
            </a:xfrm>
            <a:custGeom>
              <a:avLst/>
              <a:gdLst/>
              <a:ahLst/>
              <a:cxnLst/>
              <a:rect r="r" b="b" t="t" l="l"/>
              <a:pathLst>
                <a:path h="390640" w="3542686">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name="TextBox 4" id="4"/>
            <p:cNvSpPr txBox="true"/>
            <p:nvPr/>
          </p:nvSpPr>
          <p:spPr>
            <a:xfrm>
              <a:off x="0" y="-19050"/>
              <a:ext cx="3542686" cy="409690"/>
            </a:xfrm>
            <a:prstGeom prst="rect">
              <a:avLst/>
            </a:prstGeom>
          </p:spPr>
          <p:txBody>
            <a:bodyPr anchor="ctr" rtlCol="false" tIns="50800" lIns="50800" bIns="50800" rIns="50800"/>
            <a:lstStyle/>
            <a:p>
              <a:pPr algn="ctr" marL="0" indent="0" lvl="0">
                <a:lnSpc>
                  <a:spcPts val="2500"/>
                </a:lnSpc>
              </a:pPr>
            </a:p>
          </p:txBody>
        </p:sp>
      </p:grpSp>
      <p:sp>
        <p:nvSpPr>
          <p:cNvPr name="Freeform 5" id="5"/>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786866"/>
            <a:ext cx="3503898" cy="471434"/>
          </a:xfrm>
          <a:custGeom>
            <a:avLst/>
            <a:gdLst/>
            <a:ahLst/>
            <a:cxnLst/>
            <a:rect r="r" b="b" t="t" l="l"/>
            <a:pathLst>
              <a:path h="471434" w="3503898">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419553" y="4160232"/>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2B8DD"/>
            </a:solidFill>
          </p:spPr>
        </p:sp>
        <p:sp>
          <p:nvSpPr>
            <p:cNvPr name="TextBox 9" id="9"/>
            <p:cNvSpPr txBox="true"/>
            <p:nvPr/>
          </p:nvSpPr>
          <p:spPr>
            <a:xfrm>
              <a:off x="0" y="-19050"/>
              <a:ext cx="812800" cy="831850"/>
            </a:xfrm>
            <a:prstGeom prst="rect">
              <a:avLst/>
            </a:prstGeom>
          </p:spPr>
          <p:txBody>
            <a:bodyPr anchor="ctr" rtlCol="false" tIns="50800" lIns="50800" bIns="50800" rIns="50800"/>
            <a:lstStyle/>
            <a:p>
              <a:pPr algn="ctr">
                <a:lnSpc>
                  <a:spcPts val="2500"/>
                </a:lnSpc>
              </a:pPr>
              <a:r>
                <a:rPr lang="en-US" sz="2000" spc="162">
                  <a:solidFill>
                    <a:srgbClr val="000000"/>
                  </a:solidFill>
                  <a:latin typeface="TT Hoves"/>
                  <a:ea typeface="TT Hoves"/>
                  <a:cs typeface="TT Hoves"/>
                  <a:sym typeface="TT Hoves"/>
                </a:rPr>
                <a:t>Install Windows and configure system security measures on the new intern's computer.</a:t>
              </a:r>
            </a:p>
          </p:txBody>
        </p:sp>
      </p:grpSp>
      <p:grpSp>
        <p:nvGrpSpPr>
          <p:cNvPr name="Group 10" id="10"/>
          <p:cNvGrpSpPr/>
          <p:nvPr/>
        </p:nvGrpSpPr>
        <p:grpSpPr>
          <a:xfrm rot="0">
            <a:off x="7487471" y="4160232"/>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2B8DD"/>
            </a:solidFill>
          </p:spPr>
        </p:sp>
        <p:sp>
          <p:nvSpPr>
            <p:cNvPr name="TextBox 12" id="12"/>
            <p:cNvSpPr txBox="true"/>
            <p:nvPr/>
          </p:nvSpPr>
          <p:spPr>
            <a:xfrm>
              <a:off x="0" y="-19050"/>
              <a:ext cx="812800" cy="831850"/>
            </a:xfrm>
            <a:prstGeom prst="rect">
              <a:avLst/>
            </a:prstGeom>
          </p:spPr>
          <p:txBody>
            <a:bodyPr anchor="ctr" rtlCol="false" tIns="50800" lIns="50800" bIns="50800" rIns="50800"/>
            <a:lstStyle/>
            <a:p>
              <a:pPr algn="ctr">
                <a:lnSpc>
                  <a:spcPts val="2500"/>
                </a:lnSpc>
              </a:pPr>
              <a:r>
                <a:rPr lang="en-US" sz="2000" spc="162">
                  <a:solidFill>
                    <a:srgbClr val="000000"/>
                  </a:solidFill>
                  <a:latin typeface="TT Hoves"/>
                  <a:ea typeface="TT Hoves"/>
                  <a:cs typeface="TT Hoves"/>
                  <a:sym typeface="TT Hoves"/>
                </a:rPr>
                <a:t>Run a test on the company's system to check the server latency.</a:t>
              </a:r>
            </a:p>
          </p:txBody>
        </p:sp>
      </p:grpSp>
      <p:grpSp>
        <p:nvGrpSpPr>
          <p:cNvPr name="Group 13" id="13"/>
          <p:cNvGrpSpPr/>
          <p:nvPr/>
        </p:nvGrpSpPr>
        <p:grpSpPr>
          <a:xfrm rot="0">
            <a:off x="12554771" y="4160232"/>
            <a:ext cx="3086100" cy="30861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2B8DD"/>
            </a:solidFill>
          </p:spPr>
        </p:sp>
        <p:sp>
          <p:nvSpPr>
            <p:cNvPr name="TextBox 15" id="15"/>
            <p:cNvSpPr txBox="true"/>
            <p:nvPr/>
          </p:nvSpPr>
          <p:spPr>
            <a:xfrm>
              <a:off x="0" y="-19050"/>
              <a:ext cx="812800" cy="831850"/>
            </a:xfrm>
            <a:prstGeom prst="rect">
              <a:avLst/>
            </a:prstGeom>
          </p:spPr>
          <p:txBody>
            <a:bodyPr anchor="ctr" rtlCol="false" tIns="50800" lIns="50800" bIns="50800" rIns="50800"/>
            <a:lstStyle/>
            <a:p>
              <a:pPr algn="ctr">
                <a:lnSpc>
                  <a:spcPts val="2500"/>
                </a:lnSpc>
              </a:pPr>
              <a:r>
                <a:rPr lang="en-US" sz="2000" spc="162">
                  <a:solidFill>
                    <a:srgbClr val="000000"/>
                  </a:solidFill>
                  <a:latin typeface="TT Hoves"/>
                  <a:ea typeface="TT Hoves"/>
                  <a:cs typeface="TT Hoves"/>
                  <a:sym typeface="TT Hoves"/>
                </a:rPr>
                <a:t>Meet with the company's Chief Financial Officer (CFO) to discuss cloud service pricing.</a:t>
              </a:r>
            </a:p>
          </p:txBody>
        </p:sp>
      </p:grpSp>
      <p:sp>
        <p:nvSpPr>
          <p:cNvPr name="TextBox 16" id="16"/>
          <p:cNvSpPr txBox="true"/>
          <p:nvPr/>
        </p:nvSpPr>
        <p:spPr>
          <a:xfrm rot="0">
            <a:off x="6535227" y="490554"/>
            <a:ext cx="7721399" cy="1104867"/>
          </a:xfrm>
          <a:prstGeom prst="rect">
            <a:avLst/>
          </a:prstGeom>
        </p:spPr>
        <p:txBody>
          <a:bodyPr anchor="t" rtlCol="false" tIns="0" lIns="0" bIns="0" rIns="0">
            <a:spAutoFit/>
          </a:bodyPr>
          <a:lstStyle/>
          <a:p>
            <a:pPr algn="ctr" marL="0" indent="0" lvl="0">
              <a:lnSpc>
                <a:spcPts val="8618"/>
              </a:lnSpc>
            </a:pPr>
            <a:r>
              <a:rPr lang="en-US" b="true" sz="7494">
                <a:solidFill>
                  <a:srgbClr val="000000"/>
                </a:solidFill>
                <a:latin typeface="TT Hoves Bold"/>
                <a:ea typeface="TT Hoves Bold"/>
                <a:cs typeface="TT Hoves Bold"/>
                <a:sym typeface="TT Hoves Bold"/>
              </a:rPr>
              <a:t>Morning Tasks</a:t>
            </a:r>
          </a:p>
        </p:txBody>
      </p:sp>
      <p:sp>
        <p:nvSpPr>
          <p:cNvPr name="TextBox 17" id="17"/>
          <p:cNvSpPr txBox="true"/>
          <p:nvPr/>
        </p:nvSpPr>
        <p:spPr>
          <a:xfrm rot="0">
            <a:off x="1028700" y="711200"/>
            <a:ext cx="1510928" cy="625484"/>
          </a:xfrm>
          <a:prstGeom prst="rect">
            <a:avLst/>
          </a:prstGeom>
        </p:spPr>
        <p:txBody>
          <a:bodyPr anchor="t" rtlCol="false" tIns="0" lIns="0" bIns="0" rIns="0">
            <a:spAutoFit/>
          </a:bodyPr>
          <a:lstStyle/>
          <a:p>
            <a:pPr algn="l" marL="0" indent="0" lvl="0">
              <a:lnSpc>
                <a:spcPts val="2498"/>
              </a:lnSpc>
            </a:pPr>
            <a:r>
              <a:rPr lang="en-US" sz="1998" spc="161">
                <a:solidFill>
                  <a:srgbClr val="000000"/>
                </a:solidFill>
                <a:latin typeface="TT Hoves"/>
                <a:ea typeface="TT Hoves"/>
                <a:cs typeface="TT Hoves"/>
                <a:sym typeface="TT Hoves"/>
              </a:rPr>
              <a:t>A Day in the Life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80869" y="3085557"/>
            <a:ext cx="13451137" cy="1483210"/>
            <a:chOff x="0" y="0"/>
            <a:chExt cx="3542686" cy="390640"/>
          </a:xfrm>
        </p:grpSpPr>
        <p:sp>
          <p:nvSpPr>
            <p:cNvPr name="Freeform 3" id="3"/>
            <p:cNvSpPr/>
            <p:nvPr/>
          </p:nvSpPr>
          <p:spPr>
            <a:xfrm flipH="false" flipV="false" rot="0">
              <a:off x="0" y="0"/>
              <a:ext cx="3542686" cy="390640"/>
            </a:xfrm>
            <a:custGeom>
              <a:avLst/>
              <a:gdLst/>
              <a:ahLst/>
              <a:cxnLst/>
              <a:rect r="r" b="b" t="t" l="l"/>
              <a:pathLst>
                <a:path h="390640" w="3542686">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name="TextBox 4" id="4"/>
            <p:cNvSpPr txBox="true"/>
            <p:nvPr/>
          </p:nvSpPr>
          <p:spPr>
            <a:xfrm>
              <a:off x="0" y="-19050"/>
              <a:ext cx="3542686" cy="409690"/>
            </a:xfrm>
            <a:prstGeom prst="rect">
              <a:avLst/>
            </a:prstGeom>
          </p:spPr>
          <p:txBody>
            <a:bodyPr anchor="ctr" rtlCol="false" tIns="50800" lIns="50800" bIns="50800" rIns="50800"/>
            <a:lstStyle/>
            <a:p>
              <a:pPr algn="ctr" marL="0" indent="0" lvl="0">
                <a:lnSpc>
                  <a:spcPts val="2500"/>
                </a:lnSpc>
              </a:pPr>
            </a:p>
          </p:txBody>
        </p:sp>
      </p:grpSp>
      <p:sp>
        <p:nvSpPr>
          <p:cNvPr name="TextBox 5" id="5"/>
          <p:cNvSpPr txBox="true"/>
          <p:nvPr/>
        </p:nvSpPr>
        <p:spPr>
          <a:xfrm rot="0">
            <a:off x="5283301" y="3289000"/>
            <a:ext cx="7721399" cy="1104867"/>
          </a:xfrm>
          <a:prstGeom prst="rect">
            <a:avLst/>
          </a:prstGeom>
        </p:spPr>
        <p:txBody>
          <a:bodyPr anchor="t" rtlCol="false" tIns="0" lIns="0" bIns="0" rIns="0">
            <a:spAutoFit/>
          </a:bodyPr>
          <a:lstStyle/>
          <a:p>
            <a:pPr algn="ctr" marL="0" indent="0" lvl="0">
              <a:lnSpc>
                <a:spcPts val="8618"/>
              </a:lnSpc>
            </a:pPr>
            <a:r>
              <a:rPr lang="en-US" b="true" sz="7494">
                <a:solidFill>
                  <a:srgbClr val="000000"/>
                </a:solidFill>
                <a:latin typeface="TT Hoves Bold"/>
                <a:ea typeface="TT Hoves Bold"/>
                <a:cs typeface="TT Hoves Bold"/>
                <a:sym typeface="TT Hoves Bold"/>
              </a:rPr>
              <a:t>Afternoon</a:t>
            </a:r>
          </a:p>
        </p:txBody>
      </p:sp>
      <p:sp>
        <p:nvSpPr>
          <p:cNvPr name="TextBox 6" id="6"/>
          <p:cNvSpPr txBox="true"/>
          <p:nvPr/>
        </p:nvSpPr>
        <p:spPr>
          <a:xfrm rot="0">
            <a:off x="4031375" y="5133975"/>
            <a:ext cx="10225251" cy="1568459"/>
          </a:xfrm>
          <a:prstGeom prst="rect">
            <a:avLst/>
          </a:prstGeom>
        </p:spPr>
        <p:txBody>
          <a:bodyPr anchor="t" rtlCol="false" tIns="0" lIns="0" bIns="0" rIns="0">
            <a:spAutoFit/>
          </a:bodyPr>
          <a:lstStyle/>
          <a:p>
            <a:pPr algn="ctr" marL="0" indent="0" lvl="0">
              <a:lnSpc>
                <a:spcPts val="2498"/>
              </a:lnSpc>
              <a:spcBef>
                <a:spcPct val="0"/>
              </a:spcBef>
            </a:pPr>
            <a:r>
              <a:rPr lang="en-US" sz="1998" spc="161">
                <a:solidFill>
                  <a:srgbClr val="000000"/>
                </a:solidFill>
                <a:latin typeface="TT Hoves"/>
                <a:ea typeface="TT Hoves"/>
                <a:cs typeface="TT Hoves"/>
                <a:sym typeface="TT Hoves"/>
              </a:rPr>
              <a:t>The afternoon brings a change of pace. The Systems Administrator attends the team's weekly alignment meeting to discuss ongoing projects and future implementations. Back at his desk, he continues working on his to-do list when, suddenly, an alert is triggered: the server is experiencing critical intermittent failures.   </a:t>
            </a:r>
          </a:p>
        </p:txBody>
      </p:sp>
      <p:sp>
        <p:nvSpPr>
          <p:cNvPr name="TextBox 7" id="7"/>
          <p:cNvSpPr txBox="true"/>
          <p:nvPr/>
        </p:nvSpPr>
        <p:spPr>
          <a:xfrm rot="0">
            <a:off x="1028700" y="711200"/>
            <a:ext cx="1510928" cy="625484"/>
          </a:xfrm>
          <a:prstGeom prst="rect">
            <a:avLst/>
          </a:prstGeom>
        </p:spPr>
        <p:txBody>
          <a:bodyPr anchor="t" rtlCol="false" tIns="0" lIns="0" bIns="0" rIns="0">
            <a:spAutoFit/>
          </a:bodyPr>
          <a:lstStyle/>
          <a:p>
            <a:pPr algn="l" marL="0" indent="0" lvl="0">
              <a:lnSpc>
                <a:spcPts val="2498"/>
              </a:lnSpc>
            </a:pPr>
            <a:r>
              <a:rPr lang="en-US" sz="1998" spc="161">
                <a:solidFill>
                  <a:srgbClr val="000000"/>
                </a:solidFill>
                <a:latin typeface="TT Hoves"/>
                <a:ea typeface="TT Hoves"/>
                <a:cs typeface="TT Hoves"/>
                <a:sym typeface="TT Hoves"/>
              </a:rPr>
              <a:t>Liceria</a:t>
            </a:r>
          </a:p>
          <a:p>
            <a:pPr algn="l" marL="0" indent="0" lvl="0">
              <a:lnSpc>
                <a:spcPts val="2498"/>
              </a:lnSpc>
            </a:pPr>
            <a:r>
              <a:rPr lang="en-US" sz="1998" spc="161">
                <a:solidFill>
                  <a:srgbClr val="000000"/>
                </a:solidFill>
                <a:latin typeface="TT Hoves"/>
                <a:ea typeface="TT Hoves"/>
                <a:cs typeface="TT Hoves"/>
                <a:sym typeface="TT Hoves"/>
              </a:rPr>
              <a:t>&amp; Co.</a:t>
            </a:r>
          </a:p>
        </p:txBody>
      </p:sp>
      <p:sp>
        <p:nvSpPr>
          <p:cNvPr name="Freeform 8" id="8"/>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8786866"/>
            <a:ext cx="3503898" cy="471434"/>
          </a:xfrm>
          <a:custGeom>
            <a:avLst/>
            <a:gdLst/>
            <a:ahLst/>
            <a:cxnLst/>
            <a:rect r="r" b="b" t="t" l="l"/>
            <a:pathLst>
              <a:path h="471434" w="3503898">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2B8DD"/>
        </a:solidFill>
      </p:bgPr>
    </p:bg>
    <p:spTree>
      <p:nvGrpSpPr>
        <p:cNvPr id="1" name=""/>
        <p:cNvGrpSpPr/>
        <p:nvPr/>
      </p:nvGrpSpPr>
      <p:grpSpPr>
        <a:xfrm>
          <a:off x="0" y="0"/>
          <a:ext cx="0" cy="0"/>
          <a:chOff x="0" y="0"/>
          <a:chExt cx="0" cy="0"/>
        </a:xfrm>
      </p:grpSpPr>
      <p:sp>
        <p:nvSpPr>
          <p:cNvPr name="TextBox 2" id="2"/>
          <p:cNvSpPr txBox="true"/>
          <p:nvPr/>
        </p:nvSpPr>
        <p:spPr>
          <a:xfrm rot="0">
            <a:off x="1298646" y="2164500"/>
            <a:ext cx="7665808" cy="2190717"/>
          </a:xfrm>
          <a:prstGeom prst="rect">
            <a:avLst/>
          </a:prstGeom>
        </p:spPr>
        <p:txBody>
          <a:bodyPr anchor="t" rtlCol="false" tIns="0" lIns="0" bIns="0" rIns="0">
            <a:spAutoFit/>
          </a:bodyPr>
          <a:lstStyle/>
          <a:p>
            <a:pPr algn="l" marL="0" indent="0" lvl="0">
              <a:lnSpc>
                <a:spcPts val="8618"/>
              </a:lnSpc>
            </a:pPr>
            <a:r>
              <a:rPr lang="en-US" b="true" sz="7494">
                <a:solidFill>
                  <a:srgbClr val="000000"/>
                </a:solidFill>
                <a:latin typeface="TT Hoves Bold"/>
                <a:ea typeface="TT Hoves Bold"/>
                <a:cs typeface="TT Hoves Bold"/>
                <a:sym typeface="TT Hoves Bold"/>
              </a:rPr>
              <a:t>Problem Resolution</a:t>
            </a:r>
          </a:p>
        </p:txBody>
      </p:sp>
      <p:sp>
        <p:nvSpPr>
          <p:cNvPr name="TextBox 3" id="3"/>
          <p:cNvSpPr txBox="true"/>
          <p:nvPr/>
        </p:nvSpPr>
        <p:spPr>
          <a:xfrm rot="0">
            <a:off x="1028700" y="720725"/>
            <a:ext cx="1510928" cy="761227"/>
          </a:xfrm>
          <a:prstGeom prst="rect">
            <a:avLst/>
          </a:prstGeom>
        </p:spPr>
        <p:txBody>
          <a:bodyPr anchor="t" rtlCol="false" tIns="0" lIns="0" bIns="0" rIns="0">
            <a:spAutoFit/>
          </a:bodyPr>
          <a:lstStyle/>
          <a:p>
            <a:pPr algn="l" marL="0" indent="0" lvl="0">
              <a:lnSpc>
                <a:spcPts val="2027"/>
              </a:lnSpc>
            </a:pPr>
            <a:r>
              <a:rPr lang="en-US" sz="1621" spc="131">
                <a:solidFill>
                  <a:srgbClr val="000000"/>
                </a:solidFill>
                <a:latin typeface="TT Hoves"/>
                <a:ea typeface="TT Hoves"/>
                <a:cs typeface="TT Hoves"/>
                <a:sym typeface="TT Hoves"/>
              </a:rPr>
              <a:t>A Day in the Life</a:t>
            </a:r>
          </a:p>
          <a:p>
            <a:pPr algn="l" marL="0" indent="0" lvl="0">
              <a:lnSpc>
                <a:spcPts val="2027"/>
              </a:lnSpc>
            </a:pPr>
            <a:r>
              <a:rPr lang="en-US" sz="1621" spc="131">
                <a:solidFill>
                  <a:srgbClr val="000000"/>
                </a:solidFill>
                <a:latin typeface="TT Hoves"/>
                <a:ea typeface="TT Hoves"/>
                <a:cs typeface="TT Hoves"/>
                <a:sym typeface="TT Hoves"/>
              </a:rPr>
              <a:t>of a SysAdmin</a:t>
            </a:r>
          </a:p>
        </p:txBody>
      </p:sp>
      <p:sp>
        <p:nvSpPr>
          <p:cNvPr name="Freeform 4" id="4"/>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398897" y="6666711"/>
            <a:ext cx="3103664" cy="761227"/>
          </a:xfrm>
          <a:prstGeom prst="rect">
            <a:avLst/>
          </a:prstGeom>
        </p:spPr>
        <p:txBody>
          <a:bodyPr anchor="t" rtlCol="false" tIns="0" lIns="0" bIns="0" rIns="0">
            <a:spAutoFit/>
          </a:bodyPr>
          <a:lstStyle/>
          <a:p>
            <a:pPr algn="l" marL="0" indent="0" lvl="0">
              <a:lnSpc>
                <a:spcPts val="2027"/>
              </a:lnSpc>
              <a:spcBef>
                <a:spcPct val="0"/>
              </a:spcBef>
            </a:pPr>
            <a:r>
              <a:rPr lang="en-US" sz="1621">
                <a:solidFill>
                  <a:srgbClr val="000000"/>
                </a:solidFill>
                <a:latin typeface="TT Hoves"/>
                <a:ea typeface="TT Hoves"/>
                <a:cs typeface="TT Hoves"/>
                <a:sym typeface="TT Hoves"/>
              </a:rPr>
              <a:t>Empl</a:t>
            </a:r>
            <a:r>
              <a:rPr lang="en-US" sz="1621">
                <a:solidFill>
                  <a:srgbClr val="000000"/>
                </a:solidFill>
                <a:latin typeface="TT Hoves"/>
                <a:ea typeface="TT Hoves"/>
                <a:cs typeface="TT Hoves"/>
                <a:sym typeface="TT Hoves"/>
              </a:rPr>
              <a:t>oyees begin complaining that part of the company's database has been deleted. </a:t>
            </a:r>
          </a:p>
        </p:txBody>
      </p:sp>
      <p:sp>
        <p:nvSpPr>
          <p:cNvPr name="TextBox 6" id="6"/>
          <p:cNvSpPr txBox="true"/>
          <p:nvPr/>
        </p:nvSpPr>
        <p:spPr>
          <a:xfrm rot="0">
            <a:off x="5956105" y="6666711"/>
            <a:ext cx="3187895" cy="2047102"/>
          </a:xfrm>
          <a:prstGeom prst="rect">
            <a:avLst/>
          </a:prstGeom>
        </p:spPr>
        <p:txBody>
          <a:bodyPr anchor="t" rtlCol="false" tIns="0" lIns="0" bIns="0" rIns="0">
            <a:spAutoFit/>
          </a:bodyPr>
          <a:lstStyle/>
          <a:p>
            <a:pPr algn="l" marL="0" indent="0" lvl="0">
              <a:lnSpc>
                <a:spcPts val="2027"/>
              </a:lnSpc>
              <a:spcBef>
                <a:spcPct val="0"/>
              </a:spcBef>
            </a:pPr>
            <a:r>
              <a:rPr lang="en-US" sz="1621">
                <a:solidFill>
                  <a:srgbClr val="000000"/>
                </a:solidFill>
                <a:latin typeface="TT Hoves"/>
                <a:ea typeface="TT Hoves"/>
                <a:cs typeface="TT Hoves"/>
                <a:sym typeface="TT Hoves"/>
              </a:rPr>
              <a:t>Run diagnostic tools to identify the root cause. Check server logs, network traffic, and recent configuration changes to pinpoint the problem source. He quickly diagnoses the problem. The company's AI deleted part of the database.</a:t>
            </a:r>
          </a:p>
        </p:txBody>
      </p:sp>
      <p:sp>
        <p:nvSpPr>
          <p:cNvPr name="TextBox 7" id="7"/>
          <p:cNvSpPr txBox="true"/>
          <p:nvPr/>
        </p:nvSpPr>
        <p:spPr>
          <a:xfrm rot="0">
            <a:off x="10328383" y="6666711"/>
            <a:ext cx="3156501" cy="1275577"/>
          </a:xfrm>
          <a:prstGeom prst="rect">
            <a:avLst/>
          </a:prstGeom>
        </p:spPr>
        <p:txBody>
          <a:bodyPr anchor="t" rtlCol="false" tIns="0" lIns="0" bIns="0" rIns="0">
            <a:spAutoFit/>
          </a:bodyPr>
          <a:lstStyle/>
          <a:p>
            <a:pPr algn="l" marL="0" indent="0" lvl="0">
              <a:lnSpc>
                <a:spcPts val="2027"/>
              </a:lnSpc>
              <a:spcBef>
                <a:spcPct val="0"/>
              </a:spcBef>
            </a:pPr>
            <a:r>
              <a:rPr lang="en-US" sz="1621">
                <a:solidFill>
                  <a:srgbClr val="000000"/>
                </a:solidFill>
                <a:latin typeface="TT Hoves"/>
                <a:ea typeface="TT Hoves"/>
                <a:cs typeface="TT Hoves"/>
                <a:sym typeface="TT Hoves"/>
              </a:rPr>
              <a:t>T</a:t>
            </a:r>
            <a:r>
              <a:rPr lang="en-US" sz="1621">
                <a:solidFill>
                  <a:srgbClr val="000000"/>
                </a:solidFill>
                <a:latin typeface="TT Hoves"/>
                <a:ea typeface="TT Hoves"/>
                <a:cs typeface="TT Hoves"/>
                <a:sym typeface="TT Hoves"/>
              </a:rPr>
              <a:t>he Systems Administrator then coordinates with the network team and assures them that everything is fine, as he backed up the database the previous day.</a:t>
            </a:r>
          </a:p>
        </p:txBody>
      </p:sp>
      <p:sp>
        <p:nvSpPr>
          <p:cNvPr name="TextBox 8" id="8"/>
          <p:cNvSpPr txBox="true"/>
          <p:nvPr/>
        </p:nvSpPr>
        <p:spPr>
          <a:xfrm rot="0">
            <a:off x="14344010" y="6666711"/>
            <a:ext cx="3161857" cy="1018402"/>
          </a:xfrm>
          <a:prstGeom prst="rect">
            <a:avLst/>
          </a:prstGeom>
        </p:spPr>
        <p:txBody>
          <a:bodyPr anchor="t" rtlCol="false" tIns="0" lIns="0" bIns="0" rIns="0">
            <a:spAutoFit/>
          </a:bodyPr>
          <a:lstStyle/>
          <a:p>
            <a:pPr algn="l" marL="0" indent="0" lvl="0">
              <a:lnSpc>
                <a:spcPts val="2027"/>
              </a:lnSpc>
              <a:spcBef>
                <a:spcPct val="0"/>
              </a:spcBef>
            </a:pPr>
            <a:r>
              <a:rPr lang="en-US" sz="1621">
                <a:solidFill>
                  <a:srgbClr val="000000"/>
                </a:solidFill>
                <a:latin typeface="TT Hoves"/>
                <a:ea typeface="TT Hoves"/>
                <a:cs typeface="TT Hoves"/>
                <a:sym typeface="TT Hoves"/>
              </a:rPr>
              <a:t>H</a:t>
            </a:r>
            <a:r>
              <a:rPr lang="en-US" sz="1621">
                <a:solidFill>
                  <a:srgbClr val="000000"/>
                </a:solidFill>
                <a:latin typeface="TT Hoves"/>
                <a:ea typeface="TT Hoves"/>
                <a:cs typeface="TT Hoves"/>
                <a:sym typeface="TT Hoves"/>
              </a:rPr>
              <a:t>e then documents the incident and updates the monitoring thresholds to detect similar problems earlier in the future.</a:t>
            </a:r>
          </a:p>
        </p:txBody>
      </p:sp>
      <p:grpSp>
        <p:nvGrpSpPr>
          <p:cNvPr name="Group 9" id="9"/>
          <p:cNvGrpSpPr/>
          <p:nvPr/>
        </p:nvGrpSpPr>
        <p:grpSpPr>
          <a:xfrm rot="0">
            <a:off x="-951648" y="5516068"/>
            <a:ext cx="18348348" cy="730280"/>
            <a:chOff x="0" y="0"/>
            <a:chExt cx="4832487" cy="192337"/>
          </a:xfrm>
        </p:grpSpPr>
        <p:sp>
          <p:nvSpPr>
            <p:cNvPr name="Freeform 10" id="10"/>
            <p:cNvSpPr/>
            <p:nvPr/>
          </p:nvSpPr>
          <p:spPr>
            <a:xfrm flipH="false" flipV="false" rot="0">
              <a:off x="0" y="0"/>
              <a:ext cx="4832487" cy="192337"/>
            </a:xfrm>
            <a:custGeom>
              <a:avLst/>
              <a:gdLst/>
              <a:ahLst/>
              <a:cxnLst/>
              <a:rect r="r" b="b" t="t" l="l"/>
              <a:pathLst>
                <a:path h="192337" w="4832487">
                  <a:moveTo>
                    <a:pt x="42194" y="0"/>
                  </a:moveTo>
                  <a:lnTo>
                    <a:pt x="4790293" y="0"/>
                  </a:lnTo>
                  <a:cubicBezTo>
                    <a:pt x="4801483" y="0"/>
                    <a:pt x="4812216" y="4445"/>
                    <a:pt x="4820129" y="12358"/>
                  </a:cubicBezTo>
                  <a:cubicBezTo>
                    <a:pt x="4828041" y="20271"/>
                    <a:pt x="4832487" y="31004"/>
                    <a:pt x="4832487" y="42194"/>
                  </a:cubicBezTo>
                  <a:lnTo>
                    <a:pt x="4832487" y="150143"/>
                  </a:lnTo>
                  <a:cubicBezTo>
                    <a:pt x="4832487" y="161334"/>
                    <a:pt x="4828041" y="172066"/>
                    <a:pt x="4820129" y="179979"/>
                  </a:cubicBezTo>
                  <a:cubicBezTo>
                    <a:pt x="4812216" y="187892"/>
                    <a:pt x="4801483" y="192337"/>
                    <a:pt x="4790293" y="192337"/>
                  </a:cubicBezTo>
                  <a:lnTo>
                    <a:pt x="42194" y="192337"/>
                  </a:lnTo>
                  <a:cubicBezTo>
                    <a:pt x="31004" y="192337"/>
                    <a:pt x="20271" y="187892"/>
                    <a:pt x="12358" y="179979"/>
                  </a:cubicBezTo>
                  <a:cubicBezTo>
                    <a:pt x="4445" y="172066"/>
                    <a:pt x="0" y="161334"/>
                    <a:pt x="0" y="150143"/>
                  </a:cubicBezTo>
                  <a:lnTo>
                    <a:pt x="0" y="42194"/>
                  </a:lnTo>
                  <a:cubicBezTo>
                    <a:pt x="0" y="31004"/>
                    <a:pt x="4445" y="20271"/>
                    <a:pt x="12358" y="12358"/>
                  </a:cubicBezTo>
                  <a:cubicBezTo>
                    <a:pt x="20271" y="4445"/>
                    <a:pt x="31004" y="0"/>
                    <a:pt x="42194" y="0"/>
                  </a:cubicBezTo>
                  <a:close/>
                </a:path>
              </a:pathLst>
            </a:custGeom>
            <a:solidFill>
              <a:srgbClr val="FFFFFF"/>
            </a:solidFill>
          </p:spPr>
        </p:sp>
        <p:sp>
          <p:nvSpPr>
            <p:cNvPr name="TextBox 11" id="11"/>
            <p:cNvSpPr txBox="true"/>
            <p:nvPr/>
          </p:nvSpPr>
          <p:spPr>
            <a:xfrm>
              <a:off x="0" y="-19050"/>
              <a:ext cx="4832487" cy="211387"/>
            </a:xfrm>
            <a:prstGeom prst="rect">
              <a:avLst/>
            </a:prstGeom>
          </p:spPr>
          <p:txBody>
            <a:bodyPr anchor="ctr" rtlCol="false" tIns="50800" lIns="50800" bIns="50800" rIns="50800"/>
            <a:lstStyle/>
            <a:p>
              <a:pPr algn="ctr" marL="0" indent="0" lvl="0">
                <a:lnSpc>
                  <a:spcPts val="2500"/>
                </a:lnSpc>
              </a:pPr>
            </a:p>
          </p:txBody>
        </p:sp>
      </p:grpSp>
      <p:sp>
        <p:nvSpPr>
          <p:cNvPr name="TextBox 12" id="12"/>
          <p:cNvSpPr txBox="true"/>
          <p:nvPr/>
        </p:nvSpPr>
        <p:spPr>
          <a:xfrm rot="0">
            <a:off x="1398897" y="5711346"/>
            <a:ext cx="2199955" cy="339132"/>
          </a:xfrm>
          <a:prstGeom prst="rect">
            <a:avLst/>
          </a:prstGeom>
        </p:spPr>
        <p:txBody>
          <a:bodyPr anchor="t" rtlCol="false" tIns="0" lIns="0" bIns="0" rIns="0">
            <a:spAutoFit/>
          </a:bodyPr>
          <a:lstStyle/>
          <a:p>
            <a:pPr algn="l" marL="0" indent="0" lvl="0">
              <a:lnSpc>
                <a:spcPts val="2767"/>
              </a:lnSpc>
            </a:pPr>
            <a:r>
              <a:rPr lang="en-US" b="true" sz="2406">
                <a:solidFill>
                  <a:srgbClr val="000000"/>
                </a:solidFill>
                <a:latin typeface="TT Hoves Bold"/>
                <a:ea typeface="TT Hoves Bold"/>
                <a:cs typeface="TT Hoves Bold"/>
                <a:sym typeface="TT Hoves Bold"/>
              </a:rPr>
              <a:t>Alert Detected</a:t>
            </a:r>
          </a:p>
        </p:txBody>
      </p:sp>
      <p:sp>
        <p:nvSpPr>
          <p:cNvPr name="TextBox 13" id="13"/>
          <p:cNvSpPr txBox="true"/>
          <p:nvPr/>
        </p:nvSpPr>
        <p:spPr>
          <a:xfrm rot="0">
            <a:off x="5956105" y="5711346"/>
            <a:ext cx="1724420" cy="339132"/>
          </a:xfrm>
          <a:prstGeom prst="rect">
            <a:avLst/>
          </a:prstGeom>
        </p:spPr>
        <p:txBody>
          <a:bodyPr anchor="t" rtlCol="false" tIns="0" lIns="0" bIns="0" rIns="0">
            <a:spAutoFit/>
          </a:bodyPr>
          <a:lstStyle/>
          <a:p>
            <a:pPr algn="l" marL="0" indent="0" lvl="0">
              <a:lnSpc>
                <a:spcPts val="2767"/>
              </a:lnSpc>
            </a:pPr>
            <a:r>
              <a:rPr lang="en-US" b="true" sz="2406">
                <a:solidFill>
                  <a:srgbClr val="000000"/>
                </a:solidFill>
                <a:latin typeface="TT Hoves Bold"/>
                <a:ea typeface="TT Hoves Bold"/>
                <a:cs typeface="TT Hoves Bold"/>
                <a:sym typeface="TT Hoves Bold"/>
              </a:rPr>
              <a:t>Diagnose</a:t>
            </a:r>
          </a:p>
        </p:txBody>
      </p:sp>
      <p:sp>
        <p:nvSpPr>
          <p:cNvPr name="TextBox 14" id="14"/>
          <p:cNvSpPr txBox="true"/>
          <p:nvPr/>
        </p:nvSpPr>
        <p:spPr>
          <a:xfrm rot="0">
            <a:off x="10328383" y="5711346"/>
            <a:ext cx="2926467" cy="339132"/>
          </a:xfrm>
          <a:prstGeom prst="rect">
            <a:avLst/>
          </a:prstGeom>
        </p:spPr>
        <p:txBody>
          <a:bodyPr anchor="t" rtlCol="false" tIns="0" lIns="0" bIns="0" rIns="0">
            <a:spAutoFit/>
          </a:bodyPr>
          <a:lstStyle/>
          <a:p>
            <a:pPr algn="l" marL="0" indent="0" lvl="0">
              <a:lnSpc>
                <a:spcPts val="2767"/>
              </a:lnSpc>
            </a:pPr>
            <a:r>
              <a:rPr lang="en-US" b="true" sz="2406">
                <a:solidFill>
                  <a:srgbClr val="000000"/>
                </a:solidFill>
                <a:latin typeface="TT Hoves Bold"/>
                <a:ea typeface="TT Hoves Bold"/>
                <a:cs typeface="TT Hoves Bold"/>
                <a:sym typeface="TT Hoves Bold"/>
              </a:rPr>
              <a:t>Implement Fix</a:t>
            </a:r>
          </a:p>
        </p:txBody>
      </p:sp>
      <p:sp>
        <p:nvSpPr>
          <p:cNvPr name="TextBox 15" id="15"/>
          <p:cNvSpPr txBox="true"/>
          <p:nvPr/>
        </p:nvSpPr>
        <p:spPr>
          <a:xfrm rot="0">
            <a:off x="14344010" y="5711346"/>
            <a:ext cx="2926467" cy="339132"/>
          </a:xfrm>
          <a:prstGeom prst="rect">
            <a:avLst/>
          </a:prstGeom>
        </p:spPr>
        <p:txBody>
          <a:bodyPr anchor="t" rtlCol="false" tIns="0" lIns="0" bIns="0" rIns="0">
            <a:spAutoFit/>
          </a:bodyPr>
          <a:lstStyle/>
          <a:p>
            <a:pPr algn="l" marL="0" indent="0" lvl="0">
              <a:lnSpc>
                <a:spcPts val="2767"/>
              </a:lnSpc>
            </a:pPr>
            <a:r>
              <a:rPr lang="en-US" b="true" sz="2406">
                <a:solidFill>
                  <a:srgbClr val="000000"/>
                </a:solidFill>
                <a:latin typeface="TT Hoves Bold"/>
                <a:ea typeface="TT Hoves Bold"/>
                <a:cs typeface="TT Hoves Bold"/>
                <a:sym typeface="TT Hoves Bold"/>
              </a:rPr>
              <a:t>Verify &amp; Document</a:t>
            </a:r>
          </a:p>
        </p:txBody>
      </p:sp>
      <p:sp>
        <p:nvSpPr>
          <p:cNvPr name="Freeform 16" id="16"/>
          <p:cNvSpPr/>
          <p:nvPr/>
        </p:nvSpPr>
        <p:spPr>
          <a:xfrm flipH="false" flipV="false" rot="0">
            <a:off x="13341779" y="3704370"/>
            <a:ext cx="3503898" cy="471434"/>
          </a:xfrm>
          <a:custGeom>
            <a:avLst/>
            <a:gdLst/>
            <a:ahLst/>
            <a:cxnLst/>
            <a:rect r="r" b="b" t="t" l="l"/>
            <a:pathLst>
              <a:path h="471434" w="3503898">
                <a:moveTo>
                  <a:pt x="0" y="0"/>
                </a:moveTo>
                <a:lnTo>
                  <a:pt x="3503899" y="0"/>
                </a:lnTo>
                <a:lnTo>
                  <a:pt x="3503899" y="471433"/>
                </a:lnTo>
                <a:lnTo>
                  <a:pt x="0" y="4714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66012" y="8803790"/>
            <a:ext cx="13451137" cy="1483210"/>
            <a:chOff x="0" y="0"/>
            <a:chExt cx="3542686" cy="390640"/>
          </a:xfrm>
        </p:grpSpPr>
        <p:sp>
          <p:nvSpPr>
            <p:cNvPr name="Freeform 4" id="4"/>
            <p:cNvSpPr/>
            <p:nvPr/>
          </p:nvSpPr>
          <p:spPr>
            <a:xfrm flipH="false" flipV="false" rot="0">
              <a:off x="0" y="0"/>
              <a:ext cx="3542686" cy="390640"/>
            </a:xfrm>
            <a:custGeom>
              <a:avLst/>
              <a:gdLst/>
              <a:ahLst/>
              <a:cxnLst/>
              <a:rect r="r" b="b" t="t" l="l"/>
              <a:pathLst>
                <a:path h="390640" w="3542686">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name="TextBox 5" id="5"/>
            <p:cNvSpPr txBox="true"/>
            <p:nvPr/>
          </p:nvSpPr>
          <p:spPr>
            <a:xfrm>
              <a:off x="0" y="-19050"/>
              <a:ext cx="3542686" cy="409690"/>
            </a:xfrm>
            <a:prstGeom prst="rect">
              <a:avLst/>
            </a:prstGeom>
          </p:spPr>
          <p:txBody>
            <a:bodyPr anchor="ctr" rtlCol="false" tIns="50800" lIns="50800" bIns="50800" rIns="50800"/>
            <a:lstStyle/>
            <a:p>
              <a:pPr algn="ctr" marL="0" indent="0" lvl="0">
                <a:lnSpc>
                  <a:spcPts val="2500"/>
                </a:lnSpc>
              </a:pPr>
            </a:p>
          </p:txBody>
        </p:sp>
      </p:grpSp>
      <p:grpSp>
        <p:nvGrpSpPr>
          <p:cNvPr name="Group 6" id="6"/>
          <p:cNvGrpSpPr/>
          <p:nvPr/>
        </p:nvGrpSpPr>
        <p:grpSpPr>
          <a:xfrm rot="0">
            <a:off x="13006463" y="3019842"/>
            <a:ext cx="1833265" cy="1833265"/>
            <a:chOff x="0" y="0"/>
            <a:chExt cx="560044" cy="560044"/>
          </a:xfrm>
        </p:grpSpPr>
        <p:sp>
          <p:nvSpPr>
            <p:cNvPr name="Freeform 7" id="7"/>
            <p:cNvSpPr/>
            <p:nvPr/>
          </p:nvSpPr>
          <p:spPr>
            <a:xfrm flipH="false" flipV="false" rot="0">
              <a:off x="0" y="0"/>
              <a:ext cx="560044" cy="560044"/>
            </a:xfrm>
            <a:custGeom>
              <a:avLst/>
              <a:gdLst/>
              <a:ahLst/>
              <a:cxnLst/>
              <a:rect r="r" b="b" t="t" l="l"/>
              <a:pathLst>
                <a:path h="560044" w="560044">
                  <a:moveTo>
                    <a:pt x="0" y="0"/>
                  </a:moveTo>
                  <a:lnTo>
                    <a:pt x="560044" y="0"/>
                  </a:lnTo>
                  <a:lnTo>
                    <a:pt x="560044" y="560044"/>
                  </a:lnTo>
                  <a:lnTo>
                    <a:pt x="0" y="560044"/>
                  </a:lnTo>
                  <a:close/>
                </a:path>
              </a:pathLst>
            </a:custGeom>
            <a:solidFill>
              <a:srgbClr val="92B8DD"/>
            </a:solidFill>
          </p:spPr>
        </p:sp>
        <p:sp>
          <p:nvSpPr>
            <p:cNvPr name="TextBox 8" id="8"/>
            <p:cNvSpPr txBox="true"/>
            <p:nvPr/>
          </p:nvSpPr>
          <p:spPr>
            <a:xfrm>
              <a:off x="0" y="-19050"/>
              <a:ext cx="560044" cy="579094"/>
            </a:xfrm>
            <a:prstGeom prst="rect">
              <a:avLst/>
            </a:prstGeom>
          </p:spPr>
          <p:txBody>
            <a:bodyPr anchor="ctr" rtlCol="false" tIns="50800" lIns="50800" bIns="50800" rIns="50800"/>
            <a:lstStyle/>
            <a:p>
              <a:pPr algn="ctr" marL="0" indent="0" lvl="0">
                <a:lnSpc>
                  <a:spcPts val="2500"/>
                </a:lnSpc>
              </a:pPr>
            </a:p>
          </p:txBody>
        </p:sp>
      </p:grpSp>
      <p:grpSp>
        <p:nvGrpSpPr>
          <p:cNvPr name="Group 9" id="9"/>
          <p:cNvGrpSpPr/>
          <p:nvPr/>
        </p:nvGrpSpPr>
        <p:grpSpPr>
          <a:xfrm rot="0">
            <a:off x="7821594" y="3019842"/>
            <a:ext cx="1833265" cy="1833265"/>
            <a:chOff x="0" y="0"/>
            <a:chExt cx="560044" cy="560044"/>
          </a:xfrm>
        </p:grpSpPr>
        <p:sp>
          <p:nvSpPr>
            <p:cNvPr name="Freeform 10" id="10"/>
            <p:cNvSpPr/>
            <p:nvPr/>
          </p:nvSpPr>
          <p:spPr>
            <a:xfrm flipH="false" flipV="false" rot="0">
              <a:off x="0" y="0"/>
              <a:ext cx="560044" cy="560044"/>
            </a:xfrm>
            <a:custGeom>
              <a:avLst/>
              <a:gdLst/>
              <a:ahLst/>
              <a:cxnLst/>
              <a:rect r="r" b="b" t="t" l="l"/>
              <a:pathLst>
                <a:path h="560044" w="560044">
                  <a:moveTo>
                    <a:pt x="0" y="0"/>
                  </a:moveTo>
                  <a:lnTo>
                    <a:pt x="560044" y="0"/>
                  </a:lnTo>
                  <a:lnTo>
                    <a:pt x="560044" y="560044"/>
                  </a:lnTo>
                  <a:lnTo>
                    <a:pt x="0" y="560044"/>
                  </a:lnTo>
                  <a:close/>
                </a:path>
              </a:pathLst>
            </a:custGeom>
            <a:solidFill>
              <a:srgbClr val="92B8DD"/>
            </a:solidFill>
          </p:spPr>
        </p:sp>
        <p:sp>
          <p:nvSpPr>
            <p:cNvPr name="TextBox 11" id="11"/>
            <p:cNvSpPr txBox="true"/>
            <p:nvPr/>
          </p:nvSpPr>
          <p:spPr>
            <a:xfrm>
              <a:off x="0" y="-19050"/>
              <a:ext cx="560044" cy="579094"/>
            </a:xfrm>
            <a:prstGeom prst="rect">
              <a:avLst/>
            </a:prstGeom>
          </p:spPr>
          <p:txBody>
            <a:bodyPr anchor="ctr" rtlCol="false" tIns="50800" lIns="50800" bIns="50800" rIns="50800"/>
            <a:lstStyle/>
            <a:p>
              <a:pPr algn="ctr" marL="0" indent="0" lvl="0">
                <a:lnSpc>
                  <a:spcPts val="2500"/>
                </a:lnSpc>
              </a:pPr>
            </a:p>
          </p:txBody>
        </p:sp>
      </p:grpSp>
      <p:sp>
        <p:nvSpPr>
          <p:cNvPr name="Freeform 12" id="12"/>
          <p:cNvSpPr/>
          <p:nvPr/>
        </p:nvSpPr>
        <p:spPr>
          <a:xfrm flipH="false" flipV="false" rot="0">
            <a:off x="13440975" y="3273253"/>
            <a:ext cx="867803" cy="1166233"/>
          </a:xfrm>
          <a:custGeom>
            <a:avLst/>
            <a:gdLst/>
            <a:ahLst/>
            <a:cxnLst/>
            <a:rect r="r" b="b" t="t" l="l"/>
            <a:pathLst>
              <a:path h="1166233" w="867803">
                <a:moveTo>
                  <a:pt x="0" y="0"/>
                </a:moveTo>
                <a:lnTo>
                  <a:pt x="867803" y="0"/>
                </a:lnTo>
                <a:lnTo>
                  <a:pt x="867803" y="1166233"/>
                </a:lnTo>
                <a:lnTo>
                  <a:pt x="0" y="1166233"/>
                </a:lnTo>
                <a:lnTo>
                  <a:pt x="0" y="0"/>
                </a:lnTo>
                <a:close/>
              </a:path>
            </a:pathLst>
          </a:custGeom>
          <a:blipFill>
            <a:blip r:embed="rId4"/>
            <a:stretch>
              <a:fillRect l="0" t="0" r="0" b="0"/>
            </a:stretch>
          </a:blipFill>
        </p:spPr>
      </p:sp>
      <p:sp>
        <p:nvSpPr>
          <p:cNvPr name="Freeform 13" id="13"/>
          <p:cNvSpPr/>
          <p:nvPr/>
        </p:nvSpPr>
        <p:spPr>
          <a:xfrm flipH="false" flipV="false" rot="0">
            <a:off x="8266012" y="3516231"/>
            <a:ext cx="893130" cy="704541"/>
          </a:xfrm>
          <a:custGeom>
            <a:avLst/>
            <a:gdLst/>
            <a:ahLst/>
            <a:cxnLst/>
            <a:rect r="r" b="b" t="t" l="l"/>
            <a:pathLst>
              <a:path h="704541" w="893130">
                <a:moveTo>
                  <a:pt x="0" y="0"/>
                </a:moveTo>
                <a:lnTo>
                  <a:pt x="893131" y="0"/>
                </a:lnTo>
                <a:lnTo>
                  <a:pt x="893131" y="704541"/>
                </a:lnTo>
                <a:lnTo>
                  <a:pt x="0" y="704541"/>
                </a:lnTo>
                <a:lnTo>
                  <a:pt x="0" y="0"/>
                </a:lnTo>
                <a:close/>
              </a:path>
            </a:pathLst>
          </a:custGeom>
          <a:blipFill>
            <a:blip r:embed="rId5"/>
            <a:stretch>
              <a:fillRect l="0" t="0" r="0" b="0"/>
            </a:stretch>
          </a:blipFill>
        </p:spPr>
      </p:sp>
      <p:sp>
        <p:nvSpPr>
          <p:cNvPr name="Freeform 14" id="14"/>
          <p:cNvSpPr/>
          <p:nvPr/>
        </p:nvSpPr>
        <p:spPr>
          <a:xfrm flipH="false" flipV="false" rot="0">
            <a:off x="13755402" y="9022583"/>
            <a:ext cx="3503898" cy="471434"/>
          </a:xfrm>
          <a:custGeom>
            <a:avLst/>
            <a:gdLst/>
            <a:ahLst/>
            <a:cxnLst/>
            <a:rect r="r" b="b" t="t" l="l"/>
            <a:pathLst>
              <a:path h="471434" w="3503898">
                <a:moveTo>
                  <a:pt x="0" y="0"/>
                </a:moveTo>
                <a:lnTo>
                  <a:pt x="3503898" y="0"/>
                </a:lnTo>
                <a:lnTo>
                  <a:pt x="3503898" y="471434"/>
                </a:lnTo>
                <a:lnTo>
                  <a:pt x="0" y="47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440755" y="2167719"/>
            <a:ext cx="5690339" cy="1095375"/>
          </a:xfrm>
          <a:prstGeom prst="rect">
            <a:avLst/>
          </a:prstGeom>
        </p:spPr>
        <p:txBody>
          <a:bodyPr anchor="t" rtlCol="false" tIns="0" lIns="0" bIns="0" rIns="0">
            <a:spAutoFit/>
          </a:bodyPr>
          <a:lstStyle/>
          <a:p>
            <a:pPr algn="l" marL="0" indent="0" lvl="0">
              <a:lnSpc>
                <a:spcPts val="8625"/>
              </a:lnSpc>
            </a:pPr>
            <a:r>
              <a:rPr lang="en-US" b="true" sz="7500">
                <a:solidFill>
                  <a:srgbClr val="000000"/>
                </a:solidFill>
                <a:latin typeface="TT Hoves Bold"/>
                <a:ea typeface="TT Hoves Bold"/>
                <a:cs typeface="TT Hoves Bold"/>
                <a:sym typeface="TT Hoves Bold"/>
              </a:rPr>
              <a:t>End of Day</a:t>
            </a:r>
          </a:p>
        </p:txBody>
      </p:sp>
      <p:sp>
        <p:nvSpPr>
          <p:cNvPr name="TextBox 16" id="16"/>
          <p:cNvSpPr txBox="true"/>
          <p:nvPr/>
        </p:nvSpPr>
        <p:spPr>
          <a:xfrm rot="0">
            <a:off x="1028700" y="711200"/>
            <a:ext cx="1510928" cy="625484"/>
          </a:xfrm>
          <a:prstGeom prst="rect">
            <a:avLst/>
          </a:prstGeom>
        </p:spPr>
        <p:txBody>
          <a:bodyPr anchor="t" rtlCol="false" tIns="0" lIns="0" bIns="0" rIns="0">
            <a:spAutoFit/>
          </a:bodyPr>
          <a:lstStyle/>
          <a:p>
            <a:pPr algn="l" marL="0" indent="0" lvl="0">
              <a:lnSpc>
                <a:spcPts val="2498"/>
              </a:lnSpc>
            </a:pPr>
            <a:r>
              <a:rPr lang="en-US" sz="1998" spc="161">
                <a:solidFill>
                  <a:srgbClr val="000000"/>
                </a:solidFill>
                <a:latin typeface="TT Hoves"/>
                <a:ea typeface="TT Hoves"/>
                <a:cs typeface="TT Hoves"/>
                <a:sym typeface="TT Hoves"/>
              </a:rPr>
              <a:t>Lucas</a:t>
            </a:r>
          </a:p>
          <a:p>
            <a:pPr algn="l" marL="0" indent="0" lvl="0">
              <a:lnSpc>
                <a:spcPts val="2498"/>
              </a:lnSpc>
            </a:pPr>
            <a:r>
              <a:rPr lang="en-US" sz="1998" spc="161">
                <a:solidFill>
                  <a:srgbClr val="000000"/>
                </a:solidFill>
                <a:latin typeface="TT Hoves"/>
                <a:ea typeface="TT Hoves"/>
                <a:cs typeface="TT Hoves"/>
                <a:sym typeface="TT Hoves"/>
              </a:rPr>
              <a:t>Hartmann</a:t>
            </a:r>
          </a:p>
        </p:txBody>
      </p:sp>
      <p:sp>
        <p:nvSpPr>
          <p:cNvPr name="TextBox 17" id="17"/>
          <p:cNvSpPr txBox="true"/>
          <p:nvPr/>
        </p:nvSpPr>
        <p:spPr>
          <a:xfrm rot="0">
            <a:off x="7821594" y="5385934"/>
            <a:ext cx="3956792" cy="368289"/>
          </a:xfrm>
          <a:prstGeom prst="rect">
            <a:avLst/>
          </a:prstGeom>
        </p:spPr>
        <p:txBody>
          <a:bodyPr anchor="t" rtlCol="false" tIns="0" lIns="0" bIns="0" rIns="0">
            <a:spAutoFit/>
          </a:bodyPr>
          <a:lstStyle/>
          <a:p>
            <a:pPr algn="l" marL="0" indent="0" lvl="0">
              <a:lnSpc>
                <a:spcPts val="2872"/>
              </a:lnSpc>
            </a:pPr>
            <a:r>
              <a:rPr lang="en-US" b="true" sz="2498">
                <a:solidFill>
                  <a:srgbClr val="000000"/>
                </a:solidFill>
                <a:latin typeface="TT Hoves Bold"/>
                <a:ea typeface="TT Hoves Bold"/>
                <a:cs typeface="TT Hoves Bold"/>
                <a:sym typeface="TT Hoves Bold"/>
              </a:rPr>
              <a:t>Team Meeting</a:t>
            </a:r>
          </a:p>
        </p:txBody>
      </p:sp>
      <p:sp>
        <p:nvSpPr>
          <p:cNvPr name="TextBox 18" id="18"/>
          <p:cNvSpPr txBox="true"/>
          <p:nvPr/>
        </p:nvSpPr>
        <p:spPr>
          <a:xfrm rot="0">
            <a:off x="13006463" y="5385934"/>
            <a:ext cx="3956792" cy="368289"/>
          </a:xfrm>
          <a:prstGeom prst="rect">
            <a:avLst/>
          </a:prstGeom>
        </p:spPr>
        <p:txBody>
          <a:bodyPr anchor="t" rtlCol="false" tIns="0" lIns="0" bIns="0" rIns="0">
            <a:spAutoFit/>
          </a:bodyPr>
          <a:lstStyle/>
          <a:p>
            <a:pPr algn="l" marL="0" indent="0" lvl="0">
              <a:lnSpc>
                <a:spcPts val="2872"/>
              </a:lnSpc>
            </a:pPr>
            <a:r>
              <a:rPr lang="en-US" b="true" sz="2498">
                <a:solidFill>
                  <a:srgbClr val="000000"/>
                </a:solidFill>
                <a:latin typeface="TT Hoves Bold"/>
                <a:ea typeface="TT Hoves Bold"/>
                <a:cs typeface="TT Hoves Bold"/>
                <a:sym typeface="TT Hoves Bold"/>
              </a:rPr>
              <a:t>Wrapping Up</a:t>
            </a:r>
          </a:p>
        </p:txBody>
      </p:sp>
      <p:sp>
        <p:nvSpPr>
          <p:cNvPr name="TextBox 19" id="19"/>
          <p:cNvSpPr txBox="true"/>
          <p:nvPr/>
        </p:nvSpPr>
        <p:spPr>
          <a:xfrm rot="0">
            <a:off x="7821594" y="5996872"/>
            <a:ext cx="4318710" cy="1882784"/>
          </a:xfrm>
          <a:prstGeom prst="rect">
            <a:avLst/>
          </a:prstGeom>
        </p:spPr>
        <p:txBody>
          <a:bodyPr anchor="t" rtlCol="false" tIns="0" lIns="0" bIns="0" rIns="0">
            <a:spAutoFit/>
          </a:bodyPr>
          <a:lstStyle/>
          <a:p>
            <a:pPr algn="l" marL="0" indent="0" lvl="0">
              <a:lnSpc>
                <a:spcPts val="2498"/>
              </a:lnSpc>
              <a:spcBef>
                <a:spcPct val="0"/>
              </a:spcBef>
            </a:pPr>
            <a:r>
              <a:rPr lang="en-US" sz="1998">
                <a:solidFill>
                  <a:srgbClr val="000000"/>
                </a:solidFill>
                <a:latin typeface="TT Hoves"/>
                <a:ea typeface="TT Hoves"/>
                <a:cs typeface="TT Hoves"/>
                <a:sym typeface="TT Hoves"/>
              </a:rPr>
              <a:t>The day concludes with a final team sync meeting to review progress, discuss blockers, and align on priorities for tomorrow. This ensures everyone stays informed and coordinated.</a:t>
            </a:r>
          </a:p>
        </p:txBody>
      </p:sp>
      <p:sp>
        <p:nvSpPr>
          <p:cNvPr name="TextBox 20" id="20"/>
          <p:cNvSpPr txBox="true"/>
          <p:nvPr/>
        </p:nvSpPr>
        <p:spPr>
          <a:xfrm rot="0">
            <a:off x="13006463" y="5992359"/>
            <a:ext cx="4252837" cy="1882784"/>
          </a:xfrm>
          <a:prstGeom prst="rect">
            <a:avLst/>
          </a:prstGeom>
        </p:spPr>
        <p:txBody>
          <a:bodyPr anchor="t" rtlCol="false" tIns="0" lIns="0" bIns="0" rIns="0">
            <a:spAutoFit/>
          </a:bodyPr>
          <a:lstStyle/>
          <a:p>
            <a:pPr algn="l" marL="0" indent="0" lvl="0">
              <a:lnSpc>
                <a:spcPts val="2498"/>
              </a:lnSpc>
              <a:spcBef>
                <a:spcPct val="0"/>
              </a:spcBef>
            </a:pPr>
            <a:r>
              <a:rPr lang="en-US" sz="1998">
                <a:solidFill>
                  <a:srgbClr val="000000"/>
                </a:solidFill>
                <a:latin typeface="TT Hoves"/>
                <a:ea typeface="TT Hoves"/>
                <a:cs typeface="TT Hoves"/>
                <a:sym typeface="TT Hoves"/>
              </a:rPr>
              <a:t>After the meeting, it's time to say do a new backup of the database and say goodbye to colleagues, shut down workstations, and head home. A quick check ensures no critical alerts are pending before leaving.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2B8DD"/>
        </a:solidFill>
      </p:bgPr>
    </p:bg>
    <p:spTree>
      <p:nvGrpSpPr>
        <p:cNvPr id="1" name=""/>
        <p:cNvGrpSpPr/>
        <p:nvPr/>
      </p:nvGrpSpPr>
      <p:grpSpPr>
        <a:xfrm>
          <a:off x="0" y="0"/>
          <a:ext cx="0" cy="0"/>
          <a:chOff x="0" y="0"/>
          <a:chExt cx="0" cy="0"/>
        </a:xfrm>
      </p:grpSpPr>
      <p:grpSp>
        <p:nvGrpSpPr>
          <p:cNvPr name="Group 2" id="2"/>
          <p:cNvGrpSpPr/>
          <p:nvPr/>
        </p:nvGrpSpPr>
        <p:grpSpPr>
          <a:xfrm rot="0">
            <a:off x="0" y="-153702"/>
            <a:ext cx="16072434" cy="8520557"/>
            <a:chOff x="0" y="0"/>
            <a:chExt cx="4233069" cy="2244097"/>
          </a:xfrm>
        </p:grpSpPr>
        <p:sp>
          <p:nvSpPr>
            <p:cNvPr name="Freeform 3" id="3"/>
            <p:cNvSpPr/>
            <p:nvPr/>
          </p:nvSpPr>
          <p:spPr>
            <a:xfrm flipH="false" flipV="false" rot="0">
              <a:off x="0" y="0"/>
              <a:ext cx="4233069" cy="2244097"/>
            </a:xfrm>
            <a:custGeom>
              <a:avLst/>
              <a:gdLst/>
              <a:ahLst/>
              <a:cxnLst/>
              <a:rect r="r" b="b" t="t" l="l"/>
              <a:pathLst>
                <a:path h="2244097" w="4233069">
                  <a:moveTo>
                    <a:pt x="0" y="0"/>
                  </a:moveTo>
                  <a:lnTo>
                    <a:pt x="4233069" y="0"/>
                  </a:lnTo>
                  <a:lnTo>
                    <a:pt x="4233069" y="2244097"/>
                  </a:lnTo>
                  <a:lnTo>
                    <a:pt x="0" y="2244097"/>
                  </a:lnTo>
                  <a:close/>
                </a:path>
              </a:pathLst>
            </a:custGeom>
            <a:solidFill>
              <a:srgbClr val="FFFFFF"/>
            </a:solidFill>
          </p:spPr>
        </p:sp>
        <p:sp>
          <p:nvSpPr>
            <p:cNvPr name="TextBox 4" id="4"/>
            <p:cNvSpPr txBox="true"/>
            <p:nvPr/>
          </p:nvSpPr>
          <p:spPr>
            <a:xfrm>
              <a:off x="0" y="-38100"/>
              <a:ext cx="4233069" cy="228219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6653114" y="640862"/>
            <a:ext cx="852752" cy="806917"/>
          </a:xfrm>
          <a:custGeom>
            <a:avLst/>
            <a:gdLst/>
            <a:ahLst/>
            <a:cxnLst/>
            <a:rect r="r" b="b" t="t" l="l"/>
            <a:pathLst>
              <a:path h="806917" w="852752">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406931" y="9097010"/>
            <a:ext cx="2852369" cy="403098"/>
          </a:xfrm>
          <a:prstGeom prst="rect">
            <a:avLst/>
          </a:prstGeom>
        </p:spPr>
        <p:txBody>
          <a:bodyPr anchor="t" rtlCol="false" tIns="0" lIns="0" bIns="0" rIns="0">
            <a:spAutoFit/>
          </a:bodyPr>
          <a:lstStyle/>
          <a:p>
            <a:pPr algn="r" marL="0" indent="0" lvl="0">
              <a:lnSpc>
                <a:spcPts val="1716"/>
              </a:lnSpc>
            </a:pPr>
            <a:r>
              <a:rPr lang="en-US" sz="1200" spc="97">
                <a:solidFill>
                  <a:srgbClr val="000000"/>
                </a:solidFill>
                <a:latin typeface="TT Hoves"/>
                <a:ea typeface="TT Hoves"/>
                <a:cs typeface="TT Hoves"/>
                <a:sym typeface="TT Hoves"/>
              </a:rPr>
              <a:t>Keeping infrastructure running smoothly</a:t>
            </a:r>
          </a:p>
        </p:txBody>
      </p:sp>
      <p:sp>
        <p:nvSpPr>
          <p:cNvPr name="AutoShape 7" id="7"/>
          <p:cNvSpPr/>
          <p:nvPr/>
        </p:nvSpPr>
        <p:spPr>
          <a:xfrm>
            <a:off x="-350272" y="9277350"/>
            <a:ext cx="14757203" cy="0"/>
          </a:xfrm>
          <a:prstGeom prst="line">
            <a:avLst/>
          </a:prstGeom>
          <a:ln cap="flat" w="9525">
            <a:solidFill>
              <a:srgbClr val="000000"/>
            </a:solidFill>
            <a:prstDash val="solid"/>
            <a:headEnd type="none" len="sm" w="sm"/>
            <a:tailEnd type="none" len="sm" w="sm"/>
          </a:ln>
        </p:spPr>
      </p:sp>
      <p:sp>
        <p:nvSpPr>
          <p:cNvPr name="AutoShape 8" id="8"/>
          <p:cNvSpPr/>
          <p:nvPr/>
        </p:nvSpPr>
        <p:spPr>
          <a:xfrm flipH="true">
            <a:off x="3522469" y="7115310"/>
            <a:ext cx="211976" cy="367153"/>
          </a:xfrm>
          <a:prstGeom prst="line">
            <a:avLst/>
          </a:prstGeom>
          <a:ln cap="flat" w="9525">
            <a:solidFill>
              <a:srgbClr val="000000"/>
            </a:solidFill>
            <a:prstDash val="solid"/>
            <a:headEnd type="none" len="sm" w="sm"/>
            <a:tailEnd type="none" len="sm" w="sm"/>
          </a:ln>
        </p:spPr>
      </p:sp>
      <p:sp>
        <p:nvSpPr>
          <p:cNvPr name="Freeform 9" id="9"/>
          <p:cNvSpPr/>
          <p:nvPr/>
        </p:nvSpPr>
        <p:spPr>
          <a:xfrm flipH="false" flipV="false" rot="5400000">
            <a:off x="15677421" y="2307892"/>
            <a:ext cx="3228076" cy="3060818"/>
          </a:xfrm>
          <a:custGeom>
            <a:avLst/>
            <a:gdLst/>
            <a:ahLst/>
            <a:cxnLst/>
            <a:rect r="r" b="b" t="t" l="l"/>
            <a:pathLst>
              <a:path h="3060818" w="3228076">
                <a:moveTo>
                  <a:pt x="0" y="0"/>
                </a:moveTo>
                <a:lnTo>
                  <a:pt x="3228076" y="0"/>
                </a:lnTo>
                <a:lnTo>
                  <a:pt x="3228076" y="3060818"/>
                </a:lnTo>
                <a:lnTo>
                  <a:pt x="0" y="3060818"/>
                </a:lnTo>
                <a:lnTo>
                  <a:pt x="0" y="0"/>
                </a:lnTo>
                <a:close/>
              </a:path>
            </a:pathLst>
          </a:custGeom>
          <a:blipFill>
            <a:blip r:embed="rId4"/>
            <a:stretch>
              <a:fillRect l="0" t="0" r="0" b="0"/>
            </a:stretch>
          </a:blipFill>
        </p:spPr>
      </p:sp>
      <p:sp>
        <p:nvSpPr>
          <p:cNvPr name="TextBox 10" id="10"/>
          <p:cNvSpPr txBox="true"/>
          <p:nvPr/>
        </p:nvSpPr>
        <p:spPr>
          <a:xfrm rot="0">
            <a:off x="1028700" y="740791"/>
            <a:ext cx="1510928" cy="373380"/>
          </a:xfrm>
          <a:prstGeom prst="rect">
            <a:avLst/>
          </a:prstGeom>
        </p:spPr>
        <p:txBody>
          <a:bodyPr anchor="t" rtlCol="false" tIns="0" lIns="0" bIns="0" rIns="0">
            <a:spAutoFit/>
          </a:bodyPr>
          <a:lstStyle/>
          <a:p>
            <a:pPr algn="l" marL="0" indent="0" lvl="0">
              <a:lnSpc>
                <a:spcPts val="1500"/>
              </a:lnSpc>
            </a:pPr>
            <a:r>
              <a:rPr lang="en-US" sz="1200" spc="97">
                <a:solidFill>
                  <a:srgbClr val="000000"/>
                </a:solidFill>
                <a:latin typeface="TT Hoves"/>
                <a:ea typeface="TT Hoves"/>
                <a:cs typeface="TT Hoves"/>
                <a:sym typeface="TT Hoves"/>
              </a:rPr>
              <a:t>Lucas</a:t>
            </a:r>
          </a:p>
          <a:p>
            <a:pPr algn="l" marL="0" indent="0" lvl="0">
              <a:lnSpc>
                <a:spcPts val="1500"/>
              </a:lnSpc>
            </a:pPr>
            <a:r>
              <a:rPr lang="en-US" sz="1200" spc="97">
                <a:solidFill>
                  <a:srgbClr val="000000"/>
                </a:solidFill>
                <a:latin typeface="TT Hoves"/>
                <a:ea typeface="TT Hoves"/>
                <a:cs typeface="TT Hoves"/>
                <a:sym typeface="TT Hoves"/>
              </a:rPr>
              <a:t>Hartmann</a:t>
            </a:r>
          </a:p>
        </p:txBody>
      </p:sp>
      <p:sp>
        <p:nvSpPr>
          <p:cNvPr name="TextBox 11" id="11"/>
          <p:cNvSpPr txBox="true"/>
          <p:nvPr/>
        </p:nvSpPr>
        <p:spPr>
          <a:xfrm rot="0">
            <a:off x="1028700" y="3516907"/>
            <a:ext cx="7804538" cy="1560746"/>
          </a:xfrm>
          <a:prstGeom prst="rect">
            <a:avLst/>
          </a:prstGeom>
        </p:spPr>
        <p:txBody>
          <a:bodyPr anchor="t" rtlCol="false" tIns="0" lIns="0" bIns="0" rIns="0">
            <a:spAutoFit/>
          </a:bodyPr>
          <a:lstStyle/>
          <a:p>
            <a:pPr algn="l" marL="0" indent="0" lvl="0">
              <a:lnSpc>
                <a:spcPts val="12141"/>
              </a:lnSpc>
            </a:pPr>
            <a:r>
              <a:rPr lang="en-US" b="true" sz="10558">
                <a:solidFill>
                  <a:srgbClr val="000000"/>
                </a:solidFill>
                <a:latin typeface="TT Hoves Bold"/>
                <a:ea typeface="TT Hoves Bold"/>
                <a:cs typeface="TT Hoves Bold"/>
                <a:sym typeface="TT Hoves Bold"/>
              </a:rPr>
              <a:t>Thank You </a:t>
            </a:r>
          </a:p>
        </p:txBody>
      </p:sp>
      <p:sp>
        <p:nvSpPr>
          <p:cNvPr name="TextBox 12" id="12"/>
          <p:cNvSpPr txBox="true"/>
          <p:nvPr/>
        </p:nvSpPr>
        <p:spPr>
          <a:xfrm rot="0">
            <a:off x="1028700" y="7128071"/>
            <a:ext cx="2230214" cy="193548"/>
          </a:xfrm>
          <a:prstGeom prst="rect">
            <a:avLst/>
          </a:prstGeom>
        </p:spPr>
        <p:txBody>
          <a:bodyPr anchor="t" rtlCol="false" tIns="0" lIns="0" bIns="0" rIns="0">
            <a:spAutoFit/>
          </a:bodyPr>
          <a:lstStyle/>
          <a:p>
            <a:pPr algn="l" marL="0" indent="0" lvl="0">
              <a:lnSpc>
                <a:spcPts val="1716"/>
              </a:lnSpc>
            </a:pPr>
            <a:r>
              <a:rPr lang="en-US" sz="1200" spc="55">
                <a:solidFill>
                  <a:srgbClr val="000000"/>
                </a:solidFill>
                <a:latin typeface="TT Hoves"/>
                <a:ea typeface="TT Hoves"/>
                <a:cs typeface="TT Hoves"/>
                <a:sym typeface="TT Hoves"/>
              </a:rPr>
              <a:t>Lucas Hartmann</a:t>
            </a:r>
          </a:p>
        </p:txBody>
      </p:sp>
      <p:sp>
        <p:nvSpPr>
          <p:cNvPr name="TextBox 13" id="13"/>
          <p:cNvSpPr txBox="true"/>
          <p:nvPr/>
        </p:nvSpPr>
        <p:spPr>
          <a:xfrm rot="0">
            <a:off x="4264978" y="7128071"/>
            <a:ext cx="3577563" cy="193548"/>
          </a:xfrm>
          <a:prstGeom prst="rect">
            <a:avLst/>
          </a:prstGeom>
        </p:spPr>
        <p:txBody>
          <a:bodyPr anchor="t" rtlCol="false" tIns="0" lIns="0" bIns="0" rIns="0">
            <a:spAutoFit/>
          </a:bodyPr>
          <a:lstStyle/>
          <a:p>
            <a:pPr algn="l" marL="0" indent="0" lvl="0">
              <a:lnSpc>
                <a:spcPts val="1716"/>
              </a:lnSpc>
            </a:pPr>
            <a:r>
              <a:rPr lang="en-US" sz="1200" spc="55">
                <a:solidFill>
                  <a:srgbClr val="000000"/>
                </a:solidFill>
                <a:latin typeface="TT Hoves"/>
                <a:ea typeface="TT Hoves"/>
                <a:cs typeface="TT Hoves"/>
                <a:sym typeface="TT Hoves"/>
              </a:rPr>
              <a:t>lucas.hartmann@email.com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DAHENZORNsY</dc:identifier>
  <dcterms:modified xsi:type="dcterms:W3CDTF">2011-08-01T06:04:30Z</dcterms:modified>
  <cp:revision>1</cp:revision>
  <dc:title>The day begins with arriving at the office and greeting colleagues. After grabbing a fresh cup of coffee, it's time to settle in and check emails and Slack messages. This morning routine helps identify the day's priorities and any urgent issues that need</dc:title>
</cp:coreProperties>
</file>