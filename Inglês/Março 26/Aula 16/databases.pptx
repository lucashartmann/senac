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Handy Casual" charset="1" panose="00000500000000000000"/>
      <p:regular r:id="rId10"/>
    </p:embeddedFont>
    <p:embeddedFont>
      <p:font typeface="Gloria Hallelujah" charset="1" panose="020000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28.png" Type="http://schemas.openxmlformats.org/officeDocument/2006/relationships/image"/><Relationship Id="rId12" Target="../media/image29.svg" Type="http://schemas.openxmlformats.org/officeDocument/2006/relationships/image"/><Relationship Id="rId13" Target="../media/image30.png" Type="http://schemas.openxmlformats.org/officeDocument/2006/relationships/image"/><Relationship Id="rId14" Target="../media/image31.svg" Type="http://schemas.openxmlformats.org/officeDocument/2006/relationships/image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45.png" Type="http://schemas.openxmlformats.org/officeDocument/2006/relationships/image"/><Relationship Id="rId13" Target="../media/image46.svg" Type="http://schemas.openxmlformats.org/officeDocument/2006/relationships/image"/><Relationship Id="rId14" Target="../media/image47.png" Type="http://schemas.openxmlformats.org/officeDocument/2006/relationships/image"/><Relationship Id="rId15" Target="../media/image48.svg" Type="http://schemas.openxmlformats.org/officeDocument/2006/relationships/image"/><Relationship Id="rId16" Target="../media/image49.png" Type="http://schemas.openxmlformats.org/officeDocument/2006/relationships/image"/><Relationship Id="rId17" Target="../media/image50.svg" Type="http://schemas.openxmlformats.org/officeDocument/2006/relationships/image"/><Relationship Id="rId2" Target="../media/image1.pn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597291" y="108481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8" y="0"/>
                </a:lnTo>
                <a:lnTo>
                  <a:pt x="29776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13716570" y="108481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1597291" y="3086100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8" y="0"/>
                </a:lnTo>
                <a:lnTo>
                  <a:pt x="29776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13716570" y="3086100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5400000">
            <a:off x="1597291" y="6063719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8" y="0"/>
                </a:lnTo>
                <a:lnTo>
                  <a:pt x="29776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5400000">
            <a:off x="13716570" y="6063719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true" flipV="false" rot="0">
            <a:off x="5077724" y="2479763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2" y="0"/>
                </a:moveTo>
                <a:lnTo>
                  <a:pt x="0" y="0"/>
                </a:lnTo>
                <a:lnTo>
                  <a:pt x="0" y="394703"/>
                </a:lnTo>
                <a:lnTo>
                  <a:pt x="1434502" y="394703"/>
                </a:lnTo>
                <a:lnTo>
                  <a:pt x="1434502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0800000">
            <a:off x="11839536" y="7639081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3" y="0"/>
                </a:moveTo>
                <a:lnTo>
                  <a:pt x="0" y="0"/>
                </a:lnTo>
                <a:lnTo>
                  <a:pt x="0" y="394703"/>
                </a:lnTo>
                <a:lnTo>
                  <a:pt x="1434503" y="394703"/>
                </a:lnTo>
                <a:lnTo>
                  <a:pt x="1434503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5077724" y="7639081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2" y="394703"/>
                </a:moveTo>
                <a:lnTo>
                  <a:pt x="0" y="394703"/>
                </a:lnTo>
                <a:lnTo>
                  <a:pt x="0" y="0"/>
                </a:lnTo>
                <a:lnTo>
                  <a:pt x="1434502" y="0"/>
                </a:lnTo>
                <a:lnTo>
                  <a:pt x="1434502" y="394703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-10800000">
            <a:off x="11839536" y="2479763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3" y="394703"/>
                </a:moveTo>
                <a:lnTo>
                  <a:pt x="0" y="394703"/>
                </a:lnTo>
                <a:lnTo>
                  <a:pt x="0" y="0"/>
                </a:lnTo>
                <a:lnTo>
                  <a:pt x="1434503" y="0"/>
                </a:lnTo>
                <a:lnTo>
                  <a:pt x="1434503" y="394703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697682">
            <a:off x="5077724" y="4893243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2" y="394703"/>
                </a:moveTo>
                <a:lnTo>
                  <a:pt x="0" y="394703"/>
                </a:lnTo>
                <a:lnTo>
                  <a:pt x="0" y="0"/>
                </a:lnTo>
                <a:lnTo>
                  <a:pt x="1434502" y="0"/>
                </a:lnTo>
                <a:lnTo>
                  <a:pt x="1434502" y="394703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true" rot="-10102317">
            <a:off x="11839536" y="4893243"/>
            <a:ext cx="1434503" cy="394703"/>
          </a:xfrm>
          <a:custGeom>
            <a:avLst/>
            <a:gdLst/>
            <a:ahLst/>
            <a:cxnLst/>
            <a:rect r="r" b="b" t="t" l="l"/>
            <a:pathLst>
              <a:path h="394703" w="1434503">
                <a:moveTo>
                  <a:pt x="1434503" y="394703"/>
                </a:moveTo>
                <a:lnTo>
                  <a:pt x="0" y="394703"/>
                </a:lnTo>
                <a:lnTo>
                  <a:pt x="0" y="0"/>
                </a:lnTo>
                <a:lnTo>
                  <a:pt x="1434503" y="0"/>
                </a:lnTo>
                <a:lnTo>
                  <a:pt x="1434503" y="394703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458158" y="1028700"/>
            <a:ext cx="5371684" cy="8229600"/>
          </a:xfrm>
          <a:custGeom>
            <a:avLst/>
            <a:gdLst/>
            <a:ahLst/>
            <a:cxnLst/>
            <a:rect r="r" b="b" t="t" l="l"/>
            <a:pathLst>
              <a:path h="8229600" w="5371684">
                <a:moveTo>
                  <a:pt x="0" y="0"/>
                </a:moveTo>
                <a:lnTo>
                  <a:pt x="5371684" y="0"/>
                </a:lnTo>
                <a:lnTo>
                  <a:pt x="53716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2787714">
            <a:off x="7270836" y="2699368"/>
            <a:ext cx="713549" cy="649978"/>
          </a:xfrm>
          <a:custGeom>
            <a:avLst/>
            <a:gdLst/>
            <a:ahLst/>
            <a:cxnLst/>
            <a:rect r="r" b="b" t="t" l="l"/>
            <a:pathLst>
              <a:path h="649978" w="713549">
                <a:moveTo>
                  <a:pt x="0" y="0"/>
                </a:moveTo>
                <a:lnTo>
                  <a:pt x="713549" y="0"/>
                </a:lnTo>
                <a:lnTo>
                  <a:pt x="713549" y="649978"/>
                </a:lnTo>
                <a:lnTo>
                  <a:pt x="0" y="64997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7917325">
            <a:off x="10300405" y="2699368"/>
            <a:ext cx="713549" cy="649978"/>
          </a:xfrm>
          <a:custGeom>
            <a:avLst/>
            <a:gdLst/>
            <a:ahLst/>
            <a:cxnLst/>
            <a:rect r="r" b="b" t="t" l="l"/>
            <a:pathLst>
              <a:path h="649978" w="713549">
                <a:moveTo>
                  <a:pt x="0" y="0"/>
                </a:moveTo>
                <a:lnTo>
                  <a:pt x="713549" y="0"/>
                </a:lnTo>
                <a:lnTo>
                  <a:pt x="713549" y="649978"/>
                </a:lnTo>
                <a:lnTo>
                  <a:pt x="0" y="64997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843235" y="4096914"/>
            <a:ext cx="4403570" cy="1983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12"/>
              </a:lnSpc>
            </a:pPr>
            <a:r>
              <a:rPr lang="en-US" sz="784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DATABASE ORGANIZATION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37985" y="6677713"/>
            <a:ext cx="4208819" cy="57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64"/>
              </a:lnSpc>
            </a:pPr>
            <a:r>
              <a:rPr lang="en-US" sz="3481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Key Components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27611" y="2709737"/>
            <a:ext cx="3029569" cy="581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07"/>
              </a:lnSpc>
            </a:pPr>
            <a:r>
              <a:rPr lang="en-US" sz="351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OVERVIEW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43307" y="1806777"/>
            <a:ext cx="3285585" cy="73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83"/>
              </a:lnSpc>
              <a:spcBef>
                <a:spcPct val="0"/>
              </a:spcBef>
            </a:pPr>
            <a:r>
              <a:rPr lang="en-US" sz="5652" strike="noStrike" u="none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TABLES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62587" y="1806777"/>
            <a:ext cx="3285585" cy="73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83"/>
              </a:lnSpc>
              <a:spcBef>
                <a:spcPct val="0"/>
              </a:spcBef>
            </a:pPr>
            <a:r>
              <a:rPr lang="en-US" sz="565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RECORDS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62587" y="4837102"/>
            <a:ext cx="3285585" cy="73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83"/>
              </a:lnSpc>
              <a:spcBef>
                <a:spcPct val="0"/>
              </a:spcBef>
            </a:pPr>
            <a:r>
              <a:rPr lang="en-US" sz="565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FIELDS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43307" y="4837102"/>
            <a:ext cx="3285585" cy="73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83"/>
              </a:lnSpc>
            </a:pPr>
            <a:r>
              <a:rPr lang="en-US" sz="565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KEYS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43307" y="7814721"/>
            <a:ext cx="3285585" cy="73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83"/>
              </a:lnSpc>
            </a:pPr>
            <a:r>
              <a:rPr lang="en-US" sz="5652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INDEXES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70374" y="7839709"/>
            <a:ext cx="3285585" cy="67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88"/>
              </a:lnSpc>
            </a:pPr>
            <a:r>
              <a:rPr lang="en-US" sz="5246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RELATIONSHIPS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2590" y="3466241"/>
            <a:ext cx="3215103" cy="4702943"/>
          </a:xfrm>
          <a:custGeom>
            <a:avLst/>
            <a:gdLst/>
            <a:ahLst/>
            <a:cxnLst/>
            <a:rect r="r" b="b" t="t" l="l"/>
            <a:pathLst>
              <a:path h="4702943" w="3215103">
                <a:moveTo>
                  <a:pt x="0" y="0"/>
                </a:moveTo>
                <a:lnTo>
                  <a:pt x="3215102" y="0"/>
                </a:lnTo>
                <a:lnTo>
                  <a:pt x="3215102" y="4702943"/>
                </a:lnTo>
                <a:lnTo>
                  <a:pt x="0" y="47029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true" rot="-586675">
            <a:off x="6363812" y="8127417"/>
            <a:ext cx="2031620" cy="543214"/>
          </a:xfrm>
          <a:custGeom>
            <a:avLst/>
            <a:gdLst/>
            <a:ahLst/>
            <a:cxnLst/>
            <a:rect r="r" b="b" t="t" l="l"/>
            <a:pathLst>
              <a:path h="543214" w="2031620">
                <a:moveTo>
                  <a:pt x="0" y="543214"/>
                </a:moveTo>
                <a:lnTo>
                  <a:pt x="2031620" y="543214"/>
                </a:lnTo>
                <a:lnTo>
                  <a:pt x="2031620" y="0"/>
                </a:lnTo>
                <a:lnTo>
                  <a:pt x="0" y="0"/>
                </a:lnTo>
                <a:lnTo>
                  <a:pt x="0" y="54321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64519" y="3466241"/>
            <a:ext cx="3215103" cy="4702943"/>
          </a:xfrm>
          <a:custGeom>
            <a:avLst/>
            <a:gdLst/>
            <a:ahLst/>
            <a:cxnLst/>
            <a:rect r="r" b="b" t="t" l="l"/>
            <a:pathLst>
              <a:path h="4702943" w="3215103">
                <a:moveTo>
                  <a:pt x="0" y="0"/>
                </a:moveTo>
                <a:lnTo>
                  <a:pt x="3215103" y="0"/>
                </a:lnTo>
                <a:lnTo>
                  <a:pt x="3215103" y="4702943"/>
                </a:lnTo>
                <a:lnTo>
                  <a:pt x="0" y="47029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792590" y="8613950"/>
            <a:ext cx="3215103" cy="64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21"/>
              </a:lnSpc>
              <a:spcBef>
                <a:spcPct val="0"/>
              </a:spcBef>
            </a:pPr>
            <a:r>
              <a:rPr lang="en-US" sz="4016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64519" y="8613895"/>
            <a:ext cx="3215103" cy="64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10"/>
              </a:lnSpc>
              <a:spcBef>
                <a:spcPct val="0"/>
              </a:spcBef>
            </a:pPr>
            <a:r>
              <a:rPr lang="en-US" sz="400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36449" y="8613895"/>
            <a:ext cx="3215103" cy="64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10"/>
              </a:lnSpc>
              <a:spcBef>
                <a:spcPct val="0"/>
              </a:spcBef>
            </a:pPr>
            <a:r>
              <a:rPr lang="en-US" sz="400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08378" y="8613895"/>
            <a:ext cx="3215103" cy="64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10"/>
              </a:lnSpc>
              <a:spcBef>
                <a:spcPct val="0"/>
              </a:spcBef>
            </a:pPr>
            <a:r>
              <a:rPr lang="en-US" sz="400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04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536449" y="3466241"/>
            <a:ext cx="3215103" cy="4702943"/>
          </a:xfrm>
          <a:custGeom>
            <a:avLst/>
            <a:gdLst/>
            <a:ahLst/>
            <a:cxnLst/>
            <a:rect r="r" b="b" t="t" l="l"/>
            <a:pathLst>
              <a:path h="4702943" w="3215103">
                <a:moveTo>
                  <a:pt x="0" y="0"/>
                </a:moveTo>
                <a:lnTo>
                  <a:pt x="3215102" y="0"/>
                </a:lnTo>
                <a:lnTo>
                  <a:pt x="3215102" y="4702943"/>
                </a:lnTo>
                <a:lnTo>
                  <a:pt x="0" y="47029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0908378" y="3466241"/>
            <a:ext cx="3215103" cy="4702943"/>
          </a:xfrm>
          <a:custGeom>
            <a:avLst/>
            <a:gdLst/>
            <a:ahLst/>
            <a:cxnLst/>
            <a:rect r="r" b="b" t="t" l="l"/>
            <a:pathLst>
              <a:path h="4702943" w="3215103">
                <a:moveTo>
                  <a:pt x="0" y="0"/>
                </a:moveTo>
                <a:lnTo>
                  <a:pt x="3215103" y="0"/>
                </a:lnTo>
                <a:lnTo>
                  <a:pt x="3215103" y="4702943"/>
                </a:lnTo>
                <a:lnTo>
                  <a:pt x="0" y="470294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4280308" y="3466241"/>
            <a:ext cx="3215103" cy="4702943"/>
          </a:xfrm>
          <a:custGeom>
            <a:avLst/>
            <a:gdLst/>
            <a:ahLst/>
            <a:cxnLst/>
            <a:rect r="r" b="b" t="t" l="l"/>
            <a:pathLst>
              <a:path h="4702943" w="3215103">
                <a:moveTo>
                  <a:pt x="0" y="0"/>
                </a:moveTo>
                <a:lnTo>
                  <a:pt x="3215102" y="0"/>
                </a:lnTo>
                <a:lnTo>
                  <a:pt x="3215102" y="4702943"/>
                </a:lnTo>
                <a:lnTo>
                  <a:pt x="0" y="470294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true" rot="-586675">
            <a:off x="3146937" y="8127417"/>
            <a:ext cx="2031620" cy="543214"/>
          </a:xfrm>
          <a:custGeom>
            <a:avLst/>
            <a:gdLst/>
            <a:ahLst/>
            <a:cxnLst/>
            <a:rect r="r" b="b" t="t" l="l"/>
            <a:pathLst>
              <a:path h="543214" w="2031620">
                <a:moveTo>
                  <a:pt x="0" y="543214"/>
                </a:moveTo>
                <a:lnTo>
                  <a:pt x="2031619" y="543214"/>
                </a:lnTo>
                <a:lnTo>
                  <a:pt x="2031619" y="0"/>
                </a:lnTo>
                <a:lnTo>
                  <a:pt x="0" y="0"/>
                </a:lnTo>
                <a:lnTo>
                  <a:pt x="0" y="54321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586675">
            <a:off x="9735742" y="8127417"/>
            <a:ext cx="2031620" cy="543214"/>
          </a:xfrm>
          <a:custGeom>
            <a:avLst/>
            <a:gdLst/>
            <a:ahLst/>
            <a:cxnLst/>
            <a:rect r="r" b="b" t="t" l="l"/>
            <a:pathLst>
              <a:path h="543214" w="2031620">
                <a:moveTo>
                  <a:pt x="0" y="543214"/>
                </a:moveTo>
                <a:lnTo>
                  <a:pt x="2031619" y="543214"/>
                </a:lnTo>
                <a:lnTo>
                  <a:pt x="2031619" y="0"/>
                </a:lnTo>
                <a:lnTo>
                  <a:pt x="0" y="0"/>
                </a:lnTo>
                <a:lnTo>
                  <a:pt x="0" y="54321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586675">
            <a:off x="13107671" y="8127417"/>
            <a:ext cx="2031620" cy="543214"/>
          </a:xfrm>
          <a:custGeom>
            <a:avLst/>
            <a:gdLst/>
            <a:ahLst/>
            <a:cxnLst/>
            <a:rect r="r" b="b" t="t" l="l"/>
            <a:pathLst>
              <a:path h="543214" w="2031620">
                <a:moveTo>
                  <a:pt x="0" y="543214"/>
                </a:moveTo>
                <a:lnTo>
                  <a:pt x="2031620" y="543214"/>
                </a:lnTo>
                <a:lnTo>
                  <a:pt x="2031620" y="0"/>
                </a:lnTo>
                <a:lnTo>
                  <a:pt x="0" y="0"/>
                </a:lnTo>
                <a:lnTo>
                  <a:pt x="0" y="54321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92590" y="2588416"/>
            <a:ext cx="3215103" cy="64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21"/>
              </a:lnSpc>
              <a:spcBef>
                <a:spcPct val="0"/>
              </a:spcBef>
            </a:pPr>
            <a:r>
              <a:rPr lang="en-US" sz="4016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Raw Data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64519" y="2588361"/>
            <a:ext cx="3215103" cy="64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10"/>
              </a:lnSpc>
              <a:spcBef>
                <a:spcPct val="0"/>
              </a:spcBef>
            </a:pPr>
            <a:r>
              <a:rPr lang="en-US" sz="4008" strike="noStrike" u="none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Tables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36449" y="2588361"/>
            <a:ext cx="3215103" cy="64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10"/>
              </a:lnSpc>
              <a:spcBef>
                <a:spcPct val="0"/>
              </a:spcBef>
            </a:pPr>
            <a:r>
              <a:rPr lang="en-US" sz="400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Records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80308" y="2588361"/>
            <a:ext cx="3215103" cy="64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10"/>
              </a:lnSpc>
              <a:spcBef>
                <a:spcPct val="0"/>
              </a:spcBef>
            </a:pPr>
            <a:r>
              <a:rPr lang="en-US" sz="4008" strike="noStrike" u="none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Indexed DB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80308" y="8613895"/>
            <a:ext cx="3215103" cy="64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10"/>
              </a:lnSpc>
              <a:spcBef>
                <a:spcPct val="0"/>
              </a:spcBef>
            </a:pPr>
            <a:r>
              <a:rPr lang="en-US" sz="4008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05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08378" y="2588361"/>
            <a:ext cx="3215103" cy="64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10"/>
              </a:lnSpc>
              <a:spcBef>
                <a:spcPct val="0"/>
              </a:spcBef>
            </a:pPr>
            <a:r>
              <a:rPr lang="en-US" sz="4008" strike="noStrike" u="none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Fields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02760" y="968538"/>
            <a:ext cx="13149444" cy="943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79"/>
              </a:lnSpc>
              <a:spcBef>
                <a:spcPct val="0"/>
              </a:spcBef>
            </a:pPr>
            <a:r>
              <a:rPr lang="en-US" sz="719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DATA ORGANIZATION FLOW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8852" y="4095203"/>
            <a:ext cx="2782578" cy="306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8"/>
              </a:lnSpc>
              <a:spcBef>
                <a:spcPct val="0"/>
              </a:spcBef>
            </a:pPr>
            <a:r>
              <a:rPr lang="en-US" sz="1956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Unstructured information enters the database system. This includes text, numbers, dates, and other data types collected from various sources before processing.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80782" y="4095203"/>
            <a:ext cx="2782578" cy="2381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8"/>
              </a:lnSpc>
              <a:spcBef>
                <a:spcPct val="0"/>
              </a:spcBef>
            </a:pPr>
            <a:r>
              <a:rPr lang="en-US" sz="1956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Data is organized into tables - structured grids with rows and columns. Each table represents a specific entity like customers, products, or orders.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52711" y="4095203"/>
            <a:ext cx="2782578" cy="2381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8"/>
              </a:lnSpc>
              <a:spcBef>
                <a:spcPct val="0"/>
              </a:spcBef>
            </a:pPr>
            <a:r>
              <a:rPr lang="en-US" sz="1956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Each row in a table is a record representing one complete entry. A customer record contains all information about a single customer.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24641" y="4095203"/>
            <a:ext cx="2782578" cy="2723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8"/>
              </a:lnSpc>
              <a:spcBef>
                <a:spcPct val="0"/>
              </a:spcBef>
            </a:pPr>
            <a:r>
              <a:rPr lang="en-US" sz="1956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Fields are the columns that define what data each record contains. Examples include name, email, date, and ID fields with specific data types.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496570" y="4095203"/>
            <a:ext cx="2782578" cy="2723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8"/>
              </a:lnSpc>
              <a:spcBef>
                <a:spcPct val="0"/>
              </a:spcBef>
            </a:pPr>
            <a:r>
              <a:rPr lang="en-US" sz="1956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Indexes are created on frequently searched fields for faster retrieval. The organized database enables efficient queries and data management.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4288" y="270483"/>
            <a:ext cx="7339348" cy="3202447"/>
          </a:xfrm>
          <a:custGeom>
            <a:avLst/>
            <a:gdLst/>
            <a:ahLst/>
            <a:cxnLst/>
            <a:rect r="r" b="b" t="t" l="l"/>
            <a:pathLst>
              <a:path h="3202447" w="7339348">
                <a:moveTo>
                  <a:pt x="0" y="0"/>
                </a:moveTo>
                <a:lnTo>
                  <a:pt x="7339348" y="0"/>
                </a:lnTo>
                <a:lnTo>
                  <a:pt x="7339348" y="3202447"/>
                </a:lnTo>
                <a:lnTo>
                  <a:pt x="0" y="3202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5" r="0" b="-70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6946502"/>
            <a:ext cx="11301259" cy="2980707"/>
          </a:xfrm>
          <a:custGeom>
            <a:avLst/>
            <a:gdLst/>
            <a:ahLst/>
            <a:cxnLst/>
            <a:rect r="r" b="b" t="t" l="l"/>
            <a:pathLst>
              <a:path h="2980707" w="11301259">
                <a:moveTo>
                  <a:pt x="0" y="0"/>
                </a:moveTo>
                <a:lnTo>
                  <a:pt x="11301258" y="0"/>
                </a:lnTo>
                <a:lnTo>
                  <a:pt x="11301258" y="2980707"/>
                </a:lnTo>
                <a:lnTo>
                  <a:pt x="0" y="2980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77194" y="1596123"/>
            <a:ext cx="9278771" cy="4061733"/>
          </a:xfrm>
          <a:custGeom>
            <a:avLst/>
            <a:gdLst/>
            <a:ahLst/>
            <a:cxnLst/>
            <a:rect r="r" b="b" t="t" l="l"/>
            <a:pathLst>
              <a:path h="4061733" w="9278771">
                <a:moveTo>
                  <a:pt x="0" y="0"/>
                </a:moveTo>
                <a:lnTo>
                  <a:pt x="9278771" y="0"/>
                </a:lnTo>
                <a:lnTo>
                  <a:pt x="9278771" y="4061733"/>
                </a:lnTo>
                <a:lnTo>
                  <a:pt x="0" y="40617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28" r="0" b="-82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1978" y="3158961"/>
            <a:ext cx="7021657" cy="3333698"/>
          </a:xfrm>
          <a:custGeom>
            <a:avLst/>
            <a:gdLst/>
            <a:ahLst/>
            <a:cxnLst/>
            <a:rect r="r" b="b" t="t" l="l"/>
            <a:pathLst>
              <a:path h="3333698" w="7021657">
                <a:moveTo>
                  <a:pt x="0" y="0"/>
                </a:moveTo>
                <a:lnTo>
                  <a:pt x="7021658" y="0"/>
                </a:lnTo>
                <a:lnTo>
                  <a:pt x="7021658" y="3333697"/>
                </a:lnTo>
                <a:lnTo>
                  <a:pt x="0" y="33336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8004" y="4554205"/>
            <a:ext cx="3224443" cy="4704095"/>
          </a:xfrm>
          <a:custGeom>
            <a:avLst/>
            <a:gdLst/>
            <a:ahLst/>
            <a:cxnLst/>
            <a:rect r="r" b="b" t="t" l="l"/>
            <a:pathLst>
              <a:path h="4704095" w="3224443">
                <a:moveTo>
                  <a:pt x="0" y="0"/>
                </a:moveTo>
                <a:lnTo>
                  <a:pt x="3224443" y="0"/>
                </a:lnTo>
                <a:lnTo>
                  <a:pt x="3224443" y="4704095"/>
                </a:lnTo>
                <a:lnTo>
                  <a:pt x="0" y="47040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02760" y="968538"/>
            <a:ext cx="13149444" cy="943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79"/>
              </a:lnSpc>
              <a:spcBef>
                <a:spcPct val="0"/>
              </a:spcBef>
            </a:pPr>
            <a:r>
              <a:rPr lang="en-US" sz="7194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BENEFITS OF DATABASE ORGANIZATION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10842" y="2588585"/>
            <a:ext cx="2691697" cy="2006732"/>
          </a:xfrm>
          <a:custGeom>
            <a:avLst/>
            <a:gdLst/>
            <a:ahLst/>
            <a:cxnLst/>
            <a:rect r="r" b="b" t="t" l="l"/>
            <a:pathLst>
              <a:path h="2006732" w="2691697">
                <a:moveTo>
                  <a:pt x="0" y="0"/>
                </a:moveTo>
                <a:lnTo>
                  <a:pt x="2691696" y="0"/>
                </a:lnTo>
                <a:lnTo>
                  <a:pt x="2691696" y="2006733"/>
                </a:lnTo>
                <a:lnTo>
                  <a:pt x="0" y="20067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98187" y="2522650"/>
            <a:ext cx="1483245" cy="1885582"/>
          </a:xfrm>
          <a:custGeom>
            <a:avLst/>
            <a:gdLst/>
            <a:ahLst/>
            <a:cxnLst/>
            <a:rect r="r" b="b" t="t" l="l"/>
            <a:pathLst>
              <a:path h="1885582" w="1483245">
                <a:moveTo>
                  <a:pt x="0" y="0"/>
                </a:moveTo>
                <a:lnTo>
                  <a:pt x="1483245" y="0"/>
                </a:lnTo>
                <a:lnTo>
                  <a:pt x="1483245" y="1885583"/>
                </a:lnTo>
                <a:lnTo>
                  <a:pt x="0" y="18855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231202" y="-135303"/>
            <a:ext cx="2275078" cy="8069613"/>
          </a:xfrm>
          <a:custGeom>
            <a:avLst/>
            <a:gdLst/>
            <a:ahLst/>
            <a:cxnLst/>
            <a:rect r="r" b="b" t="t" l="l"/>
            <a:pathLst>
              <a:path h="8069613" w="2275078">
                <a:moveTo>
                  <a:pt x="0" y="0"/>
                </a:moveTo>
                <a:lnTo>
                  <a:pt x="2275078" y="0"/>
                </a:lnTo>
                <a:lnTo>
                  <a:pt x="2275078" y="8069614"/>
                </a:lnTo>
                <a:lnTo>
                  <a:pt x="0" y="8069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87677" y="2263127"/>
            <a:ext cx="2185866" cy="1808804"/>
          </a:xfrm>
          <a:custGeom>
            <a:avLst/>
            <a:gdLst/>
            <a:ahLst/>
            <a:cxnLst/>
            <a:rect r="r" b="b" t="t" l="l"/>
            <a:pathLst>
              <a:path h="1808804" w="2185866">
                <a:moveTo>
                  <a:pt x="0" y="0"/>
                </a:moveTo>
                <a:lnTo>
                  <a:pt x="2185866" y="0"/>
                </a:lnTo>
                <a:lnTo>
                  <a:pt x="2185866" y="1808804"/>
                </a:lnTo>
                <a:lnTo>
                  <a:pt x="0" y="180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25671" y="2488103"/>
            <a:ext cx="1829746" cy="1712366"/>
          </a:xfrm>
          <a:custGeom>
            <a:avLst/>
            <a:gdLst/>
            <a:ahLst/>
            <a:cxnLst/>
            <a:rect r="r" b="b" t="t" l="l"/>
            <a:pathLst>
              <a:path h="1712366" w="1829746">
                <a:moveTo>
                  <a:pt x="0" y="0"/>
                </a:moveTo>
                <a:lnTo>
                  <a:pt x="1829745" y="0"/>
                </a:lnTo>
                <a:lnTo>
                  <a:pt x="1829745" y="1712366"/>
                </a:lnTo>
                <a:lnTo>
                  <a:pt x="0" y="17123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30976" y="4621623"/>
            <a:ext cx="2558500" cy="514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18"/>
              </a:lnSpc>
              <a:spcBef>
                <a:spcPct val="0"/>
              </a:spcBef>
            </a:pPr>
            <a:r>
              <a:rPr lang="en-US" sz="301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Fast Queries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2124" y="5527040"/>
            <a:ext cx="2558500" cy="2937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Well-organized databases with proper indexing enable lightning-fast data retrieval. Queries execute efficiently, reducing wait times and improving application performance significantly.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214891" y="4554205"/>
            <a:ext cx="3224443" cy="4704095"/>
          </a:xfrm>
          <a:custGeom>
            <a:avLst/>
            <a:gdLst/>
            <a:ahLst/>
            <a:cxnLst/>
            <a:rect r="r" b="b" t="t" l="l"/>
            <a:pathLst>
              <a:path h="4704095" w="3224443">
                <a:moveTo>
                  <a:pt x="0" y="0"/>
                </a:moveTo>
                <a:lnTo>
                  <a:pt x="3224443" y="0"/>
                </a:lnTo>
                <a:lnTo>
                  <a:pt x="3224443" y="4704095"/>
                </a:lnTo>
                <a:lnTo>
                  <a:pt x="0" y="47040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547863" y="5527040"/>
            <a:ext cx="2558500" cy="2937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Structured organization ensures data accuracy and consistency. Constraints, relationships, and validation rules maintain reliable information across all database operations.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531778" y="4554205"/>
            <a:ext cx="3224443" cy="4704095"/>
          </a:xfrm>
          <a:custGeom>
            <a:avLst/>
            <a:gdLst/>
            <a:ahLst/>
            <a:cxnLst/>
            <a:rect r="r" b="b" t="t" l="l"/>
            <a:pathLst>
              <a:path h="4704095" w="3224443">
                <a:moveTo>
                  <a:pt x="0" y="0"/>
                </a:moveTo>
                <a:lnTo>
                  <a:pt x="3224444" y="0"/>
                </a:lnTo>
                <a:lnTo>
                  <a:pt x="3224444" y="4704095"/>
                </a:lnTo>
                <a:lnTo>
                  <a:pt x="0" y="47040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867959" y="5527040"/>
            <a:ext cx="2558500" cy="264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Properly organized databases grow seamlessly with your needs. Good structure allows for easy expansion, handling increased data volumes without performance degradation.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848666" y="4554205"/>
            <a:ext cx="3224443" cy="4704095"/>
          </a:xfrm>
          <a:custGeom>
            <a:avLst/>
            <a:gdLst/>
            <a:ahLst/>
            <a:cxnLst/>
            <a:rect r="r" b="b" t="t" l="l"/>
            <a:pathLst>
              <a:path h="4704095" w="3224443">
                <a:moveTo>
                  <a:pt x="0" y="0"/>
                </a:moveTo>
                <a:lnTo>
                  <a:pt x="3224443" y="0"/>
                </a:lnTo>
                <a:lnTo>
                  <a:pt x="3224443" y="4704095"/>
                </a:lnTo>
                <a:lnTo>
                  <a:pt x="0" y="470409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261047" y="5527040"/>
            <a:ext cx="2558500" cy="264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Clear organization simplifies updates, backups, and troubleshooting. Database administrators can quickly locate issues and implement changes with minimal disruption.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165553" y="4554205"/>
            <a:ext cx="3224443" cy="4704095"/>
          </a:xfrm>
          <a:custGeom>
            <a:avLst/>
            <a:gdLst/>
            <a:ahLst/>
            <a:cxnLst/>
            <a:rect r="r" b="b" t="t" l="l"/>
            <a:pathLst>
              <a:path h="4704095" w="3224443">
                <a:moveTo>
                  <a:pt x="0" y="0"/>
                </a:moveTo>
                <a:lnTo>
                  <a:pt x="3224443" y="0"/>
                </a:lnTo>
                <a:lnTo>
                  <a:pt x="3224443" y="4704095"/>
                </a:lnTo>
                <a:lnTo>
                  <a:pt x="0" y="470409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338313" y="4621623"/>
            <a:ext cx="2977600" cy="514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18"/>
              </a:lnSpc>
              <a:spcBef>
                <a:spcPct val="0"/>
              </a:spcBef>
            </a:pPr>
            <a:r>
              <a:rPr lang="en-US" sz="301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Data Integrity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82234" y="4621623"/>
            <a:ext cx="2723531" cy="514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18"/>
              </a:lnSpc>
              <a:spcBef>
                <a:spcPct val="0"/>
              </a:spcBef>
            </a:pPr>
            <a:r>
              <a:rPr lang="en-US" sz="301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Scalability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02228" y="4621623"/>
            <a:ext cx="2717318" cy="514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18"/>
              </a:lnSpc>
              <a:spcBef>
                <a:spcPct val="0"/>
              </a:spcBef>
            </a:pPr>
            <a:r>
              <a:rPr lang="en-US" sz="301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Easy Maintenance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01734" y="4621623"/>
            <a:ext cx="2558500" cy="514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18"/>
              </a:lnSpc>
              <a:spcBef>
                <a:spcPct val="0"/>
              </a:spcBef>
            </a:pPr>
            <a:r>
              <a:rPr lang="en-US" sz="3013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Reduced Redundancy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593991" y="5527040"/>
            <a:ext cx="2558500" cy="2347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3"/>
              </a:lnSpc>
              <a:spcBef>
                <a:spcPct val="0"/>
              </a:spcBef>
            </a:pPr>
            <a:r>
              <a:rPr lang="en-US" sz="1709">
                <a:solidFill>
                  <a:srgbClr val="000000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Normalization eliminates duplicate data storage. This saves space, prevents inconsistencies, and ensures that updates only need to be made in one location.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DAHENvGmFg4</dc:identifier>
  <dcterms:modified xsi:type="dcterms:W3CDTF">2011-08-01T06:04:30Z</dcterms:modified>
  <cp:revision>1</cp:revision>
</cp:coreProperties>
</file>