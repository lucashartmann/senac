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Handy Casual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svg"/><Relationship Id="rId2" Type="http://schemas.openxmlformats.org/officeDocument/2006/relationships/image" Target="../media/image1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png"/><Relationship Id="rId15" Type="http://schemas.openxmlformats.org/officeDocument/2006/relationships/image" Target="../media/image46.svg"/><Relationship Id="rId10" Type="http://schemas.openxmlformats.org/officeDocument/2006/relationships/image" Target="../media/image41.png"/><Relationship Id="rId4" Type="http://schemas.openxmlformats.org/officeDocument/2006/relationships/image" Target="../media/image35.sv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597291" y="108481"/>
            <a:ext cx="2977619" cy="4114800"/>
          </a:xfrm>
          <a:custGeom>
            <a:avLst/>
            <a:gdLst/>
            <a:ahLst/>
            <a:cxnLst/>
            <a:rect l="l" t="t" r="r" b="b"/>
            <a:pathLst>
              <a:path w="2977619" h="4114800">
                <a:moveTo>
                  <a:pt x="0" y="0"/>
                </a:moveTo>
                <a:lnTo>
                  <a:pt x="2977618" y="0"/>
                </a:lnTo>
                <a:lnTo>
                  <a:pt x="29776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5400000">
            <a:off x="13716570" y="108481"/>
            <a:ext cx="2977619" cy="4114800"/>
          </a:xfrm>
          <a:custGeom>
            <a:avLst/>
            <a:gdLst/>
            <a:ahLst/>
            <a:cxnLst/>
            <a:rect l="l" t="t" r="r" b="b"/>
            <a:pathLst>
              <a:path w="2977619" h="4114800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5400000">
            <a:off x="1597291" y="3086100"/>
            <a:ext cx="2977619" cy="4114800"/>
          </a:xfrm>
          <a:custGeom>
            <a:avLst/>
            <a:gdLst/>
            <a:ahLst/>
            <a:cxnLst/>
            <a:rect l="l" t="t" r="r" b="b"/>
            <a:pathLst>
              <a:path w="2977619" h="4114800">
                <a:moveTo>
                  <a:pt x="0" y="0"/>
                </a:moveTo>
                <a:lnTo>
                  <a:pt x="2977618" y="0"/>
                </a:lnTo>
                <a:lnTo>
                  <a:pt x="29776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5400000">
            <a:off x="13716570" y="3086100"/>
            <a:ext cx="2977619" cy="4114800"/>
          </a:xfrm>
          <a:custGeom>
            <a:avLst/>
            <a:gdLst/>
            <a:ahLst/>
            <a:cxnLst/>
            <a:rect l="l" t="t" r="r" b="b"/>
            <a:pathLst>
              <a:path w="2977619" h="4114800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1597291" y="6063719"/>
            <a:ext cx="2977619" cy="4114800"/>
          </a:xfrm>
          <a:custGeom>
            <a:avLst/>
            <a:gdLst/>
            <a:ahLst/>
            <a:cxnLst/>
            <a:rect l="l" t="t" r="r" b="b"/>
            <a:pathLst>
              <a:path w="2977619" h="4114800">
                <a:moveTo>
                  <a:pt x="0" y="0"/>
                </a:moveTo>
                <a:lnTo>
                  <a:pt x="2977618" y="0"/>
                </a:lnTo>
                <a:lnTo>
                  <a:pt x="29776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rot="5400000">
            <a:off x="13716570" y="6063719"/>
            <a:ext cx="2977619" cy="4114800"/>
          </a:xfrm>
          <a:custGeom>
            <a:avLst/>
            <a:gdLst/>
            <a:ahLst/>
            <a:cxnLst/>
            <a:rect l="l" t="t" r="r" b="b"/>
            <a:pathLst>
              <a:path w="2977619" h="4114800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flipH="1">
            <a:off x="5077724" y="2479763"/>
            <a:ext cx="1434503" cy="394703"/>
          </a:xfrm>
          <a:custGeom>
            <a:avLst/>
            <a:gdLst/>
            <a:ahLst/>
            <a:cxnLst/>
            <a:rect l="l" t="t" r="r" b="b"/>
            <a:pathLst>
              <a:path w="1434503" h="394703">
                <a:moveTo>
                  <a:pt x="1434502" y="0"/>
                </a:moveTo>
                <a:lnTo>
                  <a:pt x="0" y="0"/>
                </a:lnTo>
                <a:lnTo>
                  <a:pt x="0" y="394703"/>
                </a:lnTo>
                <a:lnTo>
                  <a:pt x="1434502" y="394703"/>
                </a:lnTo>
                <a:lnTo>
                  <a:pt x="1434502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 flipH="1">
            <a:off x="11839536" y="7639081"/>
            <a:ext cx="1434503" cy="394703"/>
          </a:xfrm>
          <a:custGeom>
            <a:avLst/>
            <a:gdLst/>
            <a:ahLst/>
            <a:cxnLst/>
            <a:rect l="l" t="t" r="r" b="b"/>
            <a:pathLst>
              <a:path w="1434503" h="394703">
                <a:moveTo>
                  <a:pt x="1434503" y="0"/>
                </a:moveTo>
                <a:lnTo>
                  <a:pt x="0" y="0"/>
                </a:lnTo>
                <a:lnTo>
                  <a:pt x="0" y="394703"/>
                </a:lnTo>
                <a:lnTo>
                  <a:pt x="1434503" y="394703"/>
                </a:lnTo>
                <a:lnTo>
                  <a:pt x="1434503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5077724" y="7639081"/>
            <a:ext cx="1434503" cy="394703"/>
          </a:xfrm>
          <a:custGeom>
            <a:avLst/>
            <a:gdLst/>
            <a:ahLst/>
            <a:cxnLst/>
            <a:rect l="l" t="t" r="r" b="b"/>
            <a:pathLst>
              <a:path w="1434503" h="394703">
                <a:moveTo>
                  <a:pt x="1434502" y="394703"/>
                </a:moveTo>
                <a:lnTo>
                  <a:pt x="0" y="394703"/>
                </a:lnTo>
                <a:lnTo>
                  <a:pt x="0" y="0"/>
                </a:lnTo>
                <a:lnTo>
                  <a:pt x="1434502" y="0"/>
                </a:lnTo>
                <a:lnTo>
                  <a:pt x="1434502" y="394703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0800000" flipH="1" flipV="1">
            <a:off x="11839536" y="2479763"/>
            <a:ext cx="1434503" cy="394703"/>
          </a:xfrm>
          <a:custGeom>
            <a:avLst/>
            <a:gdLst/>
            <a:ahLst/>
            <a:cxnLst/>
            <a:rect l="l" t="t" r="r" b="b"/>
            <a:pathLst>
              <a:path w="1434503" h="394703">
                <a:moveTo>
                  <a:pt x="1434503" y="394703"/>
                </a:moveTo>
                <a:lnTo>
                  <a:pt x="0" y="394703"/>
                </a:lnTo>
                <a:lnTo>
                  <a:pt x="0" y="0"/>
                </a:lnTo>
                <a:lnTo>
                  <a:pt x="1434503" y="0"/>
                </a:lnTo>
                <a:lnTo>
                  <a:pt x="1434503" y="394703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697682" flipH="1" flipV="1">
            <a:off x="5077724" y="4893243"/>
            <a:ext cx="1434503" cy="394703"/>
          </a:xfrm>
          <a:custGeom>
            <a:avLst/>
            <a:gdLst/>
            <a:ahLst/>
            <a:cxnLst/>
            <a:rect l="l" t="t" r="r" b="b"/>
            <a:pathLst>
              <a:path w="1434503" h="394703">
                <a:moveTo>
                  <a:pt x="1434502" y="394703"/>
                </a:moveTo>
                <a:lnTo>
                  <a:pt x="0" y="394703"/>
                </a:lnTo>
                <a:lnTo>
                  <a:pt x="0" y="0"/>
                </a:lnTo>
                <a:lnTo>
                  <a:pt x="1434502" y="0"/>
                </a:lnTo>
                <a:lnTo>
                  <a:pt x="1434502" y="394703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102317" flipH="1" flipV="1">
            <a:off x="11839536" y="4893243"/>
            <a:ext cx="1434503" cy="394703"/>
          </a:xfrm>
          <a:custGeom>
            <a:avLst/>
            <a:gdLst/>
            <a:ahLst/>
            <a:cxnLst/>
            <a:rect l="l" t="t" r="r" b="b"/>
            <a:pathLst>
              <a:path w="1434503" h="394703">
                <a:moveTo>
                  <a:pt x="1434503" y="394703"/>
                </a:moveTo>
                <a:lnTo>
                  <a:pt x="0" y="394703"/>
                </a:lnTo>
                <a:lnTo>
                  <a:pt x="0" y="0"/>
                </a:lnTo>
                <a:lnTo>
                  <a:pt x="1434503" y="0"/>
                </a:lnTo>
                <a:lnTo>
                  <a:pt x="1434503" y="394703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458158" y="1028700"/>
            <a:ext cx="5371684" cy="8229600"/>
          </a:xfrm>
          <a:custGeom>
            <a:avLst/>
            <a:gdLst/>
            <a:ahLst/>
            <a:cxnLst/>
            <a:rect l="l" t="t" r="r" b="b"/>
            <a:pathLst>
              <a:path w="5371684" h="8229600">
                <a:moveTo>
                  <a:pt x="0" y="0"/>
                </a:moveTo>
                <a:lnTo>
                  <a:pt x="5371684" y="0"/>
                </a:lnTo>
                <a:lnTo>
                  <a:pt x="53716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2787714">
            <a:off x="7270836" y="2699368"/>
            <a:ext cx="713549" cy="649978"/>
          </a:xfrm>
          <a:custGeom>
            <a:avLst/>
            <a:gdLst/>
            <a:ahLst/>
            <a:cxnLst/>
            <a:rect l="l" t="t" r="r" b="b"/>
            <a:pathLst>
              <a:path w="713549" h="649978">
                <a:moveTo>
                  <a:pt x="0" y="0"/>
                </a:moveTo>
                <a:lnTo>
                  <a:pt x="713549" y="0"/>
                </a:lnTo>
                <a:lnTo>
                  <a:pt x="713549" y="649978"/>
                </a:lnTo>
                <a:lnTo>
                  <a:pt x="0" y="64997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7917325">
            <a:off x="10300405" y="2699368"/>
            <a:ext cx="713549" cy="649978"/>
          </a:xfrm>
          <a:custGeom>
            <a:avLst/>
            <a:gdLst/>
            <a:ahLst/>
            <a:cxnLst/>
            <a:rect l="l" t="t" r="r" b="b"/>
            <a:pathLst>
              <a:path w="713549" h="649978">
                <a:moveTo>
                  <a:pt x="0" y="0"/>
                </a:moveTo>
                <a:lnTo>
                  <a:pt x="713549" y="0"/>
                </a:lnTo>
                <a:lnTo>
                  <a:pt x="713549" y="649978"/>
                </a:lnTo>
                <a:lnTo>
                  <a:pt x="0" y="64997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843235" y="4096914"/>
            <a:ext cx="4403570" cy="183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12"/>
              </a:lnSpc>
            </a:pPr>
            <a:r>
              <a:rPr lang="en-US" sz="4400" dirty="0">
                <a:solidFill>
                  <a:srgbClr val="000000"/>
                </a:solidFill>
                <a:latin typeface="Arial" panose="020B0604020202020204" pitchFamily="34" charset="0"/>
                <a:ea typeface="Handy Casual"/>
                <a:cs typeface="Arial" panose="020B0604020202020204" pitchFamily="34" charset="0"/>
                <a:sym typeface="Handy Casual"/>
              </a:rPr>
              <a:t>DATABASE ORGANIZATION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37985" y="6677713"/>
            <a:ext cx="4208819" cy="572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64"/>
              </a:lnSpc>
            </a:pPr>
            <a:r>
              <a:rPr lang="en-US" sz="3481" dirty="0">
                <a:solidFill>
                  <a:srgbClr val="000000"/>
                </a:solidFill>
                <a:latin typeface="Arial" panose="020B0604020202020204" pitchFamily="34" charset="0"/>
                <a:ea typeface="Gloria Hallelujah"/>
                <a:cs typeface="Arial" panose="020B0604020202020204" pitchFamily="34" charset="0"/>
                <a:sym typeface="Gloria Hallelujah"/>
              </a:rPr>
              <a:t>Key Components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27611" y="2709737"/>
            <a:ext cx="3029569" cy="554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07"/>
              </a:lnSpc>
            </a:pPr>
            <a:r>
              <a:rPr lang="en-US" sz="3512" dirty="0">
                <a:solidFill>
                  <a:srgbClr val="000000"/>
                </a:solidFill>
                <a:latin typeface="Arial" panose="020B0604020202020204" pitchFamily="34" charset="0"/>
                <a:ea typeface="Handy Casual"/>
                <a:cs typeface="Arial" panose="020B0604020202020204" pitchFamily="34" charset="0"/>
                <a:sym typeface="Handy Casual"/>
              </a:rPr>
              <a:t>OVERVIEW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43307" y="1806777"/>
            <a:ext cx="3285585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83"/>
              </a:lnSpc>
              <a:spcBef>
                <a:spcPct val="0"/>
              </a:spcBef>
            </a:pPr>
            <a:r>
              <a:rPr lang="en-US" sz="5652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Handy Casual"/>
                <a:cs typeface="Arial" panose="020B0604020202020204" pitchFamily="34" charset="0"/>
                <a:sym typeface="Handy Casual"/>
              </a:rPr>
              <a:t>TABLES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562587" y="1806777"/>
            <a:ext cx="3285585" cy="657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83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Arial" panose="020B0604020202020204" pitchFamily="34" charset="0"/>
                <a:ea typeface="Handy Casual"/>
                <a:cs typeface="Arial" panose="020B0604020202020204" pitchFamily="34" charset="0"/>
                <a:sym typeface="Handy Casual"/>
              </a:rPr>
              <a:t>RECORDS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62587" y="4837102"/>
            <a:ext cx="3285585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83"/>
              </a:lnSpc>
              <a:spcBef>
                <a:spcPct val="0"/>
              </a:spcBef>
            </a:pPr>
            <a:r>
              <a:rPr lang="en-US" sz="5652" dirty="0">
                <a:solidFill>
                  <a:srgbClr val="000000"/>
                </a:solidFill>
                <a:latin typeface="Arial" panose="020B0604020202020204" pitchFamily="34" charset="0"/>
                <a:ea typeface="Handy Casual"/>
                <a:cs typeface="Arial" panose="020B0604020202020204" pitchFamily="34" charset="0"/>
                <a:sym typeface="Handy Casual"/>
              </a:rPr>
              <a:t>FIELDS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43307" y="4837102"/>
            <a:ext cx="3285585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83"/>
              </a:lnSpc>
            </a:pPr>
            <a:r>
              <a:rPr lang="en-US" sz="5652" dirty="0">
                <a:solidFill>
                  <a:srgbClr val="000000"/>
                </a:solidFill>
                <a:latin typeface="Arial" panose="020B0604020202020204" pitchFamily="34" charset="0"/>
                <a:ea typeface="Handy Casual"/>
                <a:cs typeface="Arial" panose="020B0604020202020204" pitchFamily="34" charset="0"/>
                <a:sym typeface="Handy Casual"/>
              </a:rPr>
              <a:t>KEYS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43307" y="7814721"/>
            <a:ext cx="3285585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83"/>
              </a:lnSpc>
            </a:pPr>
            <a:r>
              <a:rPr lang="en-US" sz="5652" dirty="0">
                <a:solidFill>
                  <a:srgbClr val="000000"/>
                </a:solidFill>
                <a:latin typeface="Arial" panose="020B0604020202020204" pitchFamily="34" charset="0"/>
                <a:ea typeface="Handy Casual"/>
                <a:cs typeface="Arial" panose="020B0604020202020204" pitchFamily="34" charset="0"/>
                <a:sym typeface="Handy Casual"/>
              </a:rPr>
              <a:t>INDEXES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570374" y="7839709"/>
            <a:ext cx="3285585" cy="583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88"/>
              </a:lnSpc>
            </a:pP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ea typeface="Handy Casual"/>
                <a:cs typeface="Arial" panose="020B0604020202020204" pitchFamily="34" charset="0"/>
                <a:sym typeface="Handy Casual"/>
              </a:rPr>
              <a:t>RELATIONSHIPS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2739203" y="3508163"/>
            <a:ext cx="3215103" cy="4702943"/>
          </a:xfrm>
          <a:custGeom>
            <a:avLst/>
            <a:gdLst/>
            <a:ahLst/>
            <a:cxnLst/>
            <a:rect l="l" t="t" r="r" b="b"/>
            <a:pathLst>
              <a:path w="3215103" h="4702943">
                <a:moveTo>
                  <a:pt x="0" y="0"/>
                </a:moveTo>
                <a:lnTo>
                  <a:pt x="3215102" y="0"/>
                </a:lnTo>
                <a:lnTo>
                  <a:pt x="3215102" y="4702943"/>
                </a:lnTo>
                <a:lnTo>
                  <a:pt x="0" y="4702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586675" flipV="1">
            <a:off x="8310425" y="8169339"/>
            <a:ext cx="2031620" cy="543214"/>
          </a:xfrm>
          <a:custGeom>
            <a:avLst/>
            <a:gdLst/>
            <a:ahLst/>
            <a:cxnLst/>
            <a:rect l="l" t="t" r="r" b="b"/>
            <a:pathLst>
              <a:path w="2031620" h="543214">
                <a:moveTo>
                  <a:pt x="0" y="543214"/>
                </a:moveTo>
                <a:lnTo>
                  <a:pt x="2031620" y="543214"/>
                </a:lnTo>
                <a:lnTo>
                  <a:pt x="2031620" y="0"/>
                </a:lnTo>
                <a:lnTo>
                  <a:pt x="0" y="0"/>
                </a:lnTo>
                <a:lnTo>
                  <a:pt x="0" y="5432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11132" y="3508163"/>
            <a:ext cx="3215103" cy="4702943"/>
          </a:xfrm>
          <a:custGeom>
            <a:avLst/>
            <a:gdLst/>
            <a:ahLst/>
            <a:cxnLst/>
            <a:rect l="l" t="t" r="r" b="b"/>
            <a:pathLst>
              <a:path w="3215103" h="4702943">
                <a:moveTo>
                  <a:pt x="0" y="0"/>
                </a:moveTo>
                <a:lnTo>
                  <a:pt x="3215103" y="0"/>
                </a:lnTo>
                <a:lnTo>
                  <a:pt x="3215103" y="4702943"/>
                </a:lnTo>
                <a:lnTo>
                  <a:pt x="0" y="47029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2739203" y="8655872"/>
            <a:ext cx="3215103" cy="64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21"/>
              </a:lnSpc>
              <a:spcBef>
                <a:spcPct val="0"/>
              </a:spcBef>
            </a:pPr>
            <a:r>
              <a:rPr lang="en-US" sz="401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11132" y="8655817"/>
            <a:ext cx="3215103" cy="64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10"/>
              </a:lnSpc>
              <a:spcBef>
                <a:spcPct val="0"/>
              </a:spcBef>
            </a:pPr>
            <a:r>
              <a:rPr lang="en-US" sz="400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83062" y="8655817"/>
            <a:ext cx="3215103" cy="64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10"/>
              </a:lnSpc>
              <a:spcBef>
                <a:spcPct val="0"/>
              </a:spcBef>
            </a:pPr>
            <a:r>
              <a:rPr lang="en-US" sz="400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54991" y="8655817"/>
            <a:ext cx="3215103" cy="64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10"/>
              </a:lnSpc>
              <a:spcBef>
                <a:spcPct val="0"/>
              </a:spcBef>
            </a:pPr>
            <a:r>
              <a:rPr lang="en-US" sz="400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04</a:t>
            </a:r>
          </a:p>
        </p:txBody>
      </p:sp>
      <p:sp>
        <p:nvSpPr>
          <p:cNvPr id="10" name="Freeform 10"/>
          <p:cNvSpPr/>
          <p:nvPr/>
        </p:nvSpPr>
        <p:spPr>
          <a:xfrm>
            <a:off x="9483062" y="3508163"/>
            <a:ext cx="3215103" cy="4702943"/>
          </a:xfrm>
          <a:custGeom>
            <a:avLst/>
            <a:gdLst/>
            <a:ahLst/>
            <a:cxnLst/>
            <a:rect l="l" t="t" r="r" b="b"/>
            <a:pathLst>
              <a:path w="3215103" h="4702943">
                <a:moveTo>
                  <a:pt x="0" y="0"/>
                </a:moveTo>
                <a:lnTo>
                  <a:pt x="3215102" y="0"/>
                </a:lnTo>
                <a:lnTo>
                  <a:pt x="3215102" y="4702943"/>
                </a:lnTo>
                <a:lnTo>
                  <a:pt x="0" y="47029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2854991" y="3508163"/>
            <a:ext cx="3215103" cy="4702943"/>
          </a:xfrm>
          <a:custGeom>
            <a:avLst/>
            <a:gdLst/>
            <a:ahLst/>
            <a:cxnLst/>
            <a:rect l="l" t="t" r="r" b="b"/>
            <a:pathLst>
              <a:path w="3215103" h="4702943">
                <a:moveTo>
                  <a:pt x="0" y="0"/>
                </a:moveTo>
                <a:lnTo>
                  <a:pt x="3215103" y="0"/>
                </a:lnTo>
                <a:lnTo>
                  <a:pt x="3215103" y="4702943"/>
                </a:lnTo>
                <a:lnTo>
                  <a:pt x="0" y="47029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 rot="-586675" flipV="1">
            <a:off x="5093550" y="8169339"/>
            <a:ext cx="2031620" cy="543214"/>
          </a:xfrm>
          <a:custGeom>
            <a:avLst/>
            <a:gdLst/>
            <a:ahLst/>
            <a:cxnLst/>
            <a:rect l="l" t="t" r="r" b="b"/>
            <a:pathLst>
              <a:path w="2031620" h="543214">
                <a:moveTo>
                  <a:pt x="0" y="543214"/>
                </a:moveTo>
                <a:lnTo>
                  <a:pt x="2031619" y="543214"/>
                </a:lnTo>
                <a:lnTo>
                  <a:pt x="2031619" y="0"/>
                </a:lnTo>
                <a:lnTo>
                  <a:pt x="0" y="0"/>
                </a:lnTo>
                <a:lnTo>
                  <a:pt x="0" y="5432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586675" flipV="1">
            <a:off x="11682355" y="8169339"/>
            <a:ext cx="2031620" cy="543214"/>
          </a:xfrm>
          <a:custGeom>
            <a:avLst/>
            <a:gdLst/>
            <a:ahLst/>
            <a:cxnLst/>
            <a:rect l="l" t="t" r="r" b="b"/>
            <a:pathLst>
              <a:path w="2031620" h="543214">
                <a:moveTo>
                  <a:pt x="0" y="543214"/>
                </a:moveTo>
                <a:lnTo>
                  <a:pt x="2031619" y="543214"/>
                </a:lnTo>
                <a:lnTo>
                  <a:pt x="2031619" y="0"/>
                </a:lnTo>
                <a:lnTo>
                  <a:pt x="0" y="0"/>
                </a:lnTo>
                <a:lnTo>
                  <a:pt x="0" y="5432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739203" y="2630338"/>
            <a:ext cx="3215103" cy="64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21"/>
              </a:lnSpc>
              <a:spcBef>
                <a:spcPct val="0"/>
              </a:spcBef>
            </a:pPr>
            <a:r>
              <a:rPr lang="en-US" sz="401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Raw Data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11132" y="2630283"/>
            <a:ext cx="3215103" cy="64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10"/>
              </a:lnSpc>
              <a:spcBef>
                <a:spcPct val="0"/>
              </a:spcBef>
            </a:pPr>
            <a:r>
              <a:rPr lang="en-US" sz="4008" u="none" strike="noStrike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Tables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83062" y="2630283"/>
            <a:ext cx="3215103" cy="64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10"/>
              </a:lnSpc>
              <a:spcBef>
                <a:spcPct val="0"/>
              </a:spcBef>
            </a:pPr>
            <a:r>
              <a:rPr lang="en-US" sz="400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Records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854991" y="2630283"/>
            <a:ext cx="3215103" cy="64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10"/>
              </a:lnSpc>
              <a:spcBef>
                <a:spcPct val="0"/>
              </a:spcBef>
            </a:pPr>
            <a:r>
              <a:rPr lang="en-US" sz="4008" u="none" strike="noStrike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Fields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02760" y="968538"/>
            <a:ext cx="13149444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79"/>
              </a:lnSpc>
              <a:spcBef>
                <a:spcPct val="0"/>
              </a:spcBef>
            </a:pPr>
            <a:r>
              <a:rPr lang="en-US" sz="7194" dirty="0">
                <a:solidFill>
                  <a:srgbClr val="000000"/>
                </a:solidFill>
                <a:latin typeface="Arial" panose="020B0604020202020204" pitchFamily="34" charset="0"/>
                <a:ea typeface="Handy Casual"/>
                <a:cs typeface="Arial" panose="020B0604020202020204" pitchFamily="34" charset="0"/>
                <a:sym typeface="Handy Casual"/>
              </a:rPr>
              <a:t>DATA ORGANIZATION FLOW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955465" y="4137125"/>
            <a:ext cx="2782578" cy="2740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38"/>
              </a:lnSpc>
              <a:spcBef>
                <a:spcPct val="0"/>
              </a:spcBef>
            </a:pPr>
            <a:r>
              <a:rPr lang="en-US" sz="1956" dirty="0">
                <a:solidFill>
                  <a:srgbClr val="000000"/>
                </a:solidFill>
                <a:latin typeface="Arial" panose="020B0604020202020204" pitchFamily="34" charset="0"/>
                <a:ea typeface="Gloria Hallelujah"/>
                <a:cs typeface="Arial" panose="020B0604020202020204" pitchFamily="34" charset="0"/>
                <a:sym typeface="Gloria Hallelujah"/>
              </a:rPr>
              <a:t>Unstructured information enters the database system. This includes text, numbers, dates, and other data types collected from various sources before processing.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27395" y="4137125"/>
            <a:ext cx="2782578" cy="238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38"/>
              </a:lnSpc>
              <a:spcBef>
                <a:spcPct val="0"/>
              </a:spcBef>
            </a:pPr>
            <a:r>
              <a:rPr lang="en-US" sz="1956" dirty="0">
                <a:solidFill>
                  <a:srgbClr val="000000"/>
                </a:solidFill>
                <a:latin typeface="Arial" panose="020B0604020202020204" pitchFamily="34" charset="0"/>
                <a:ea typeface="Gloria Hallelujah"/>
                <a:cs typeface="Arial" panose="020B0604020202020204" pitchFamily="34" charset="0"/>
                <a:sym typeface="Gloria Hallelujah"/>
              </a:rPr>
              <a:t>Data is organized into tables - structured grids with rows and columns. Each table represents a specific entity like customers, products, or orders.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699324" y="4137125"/>
            <a:ext cx="2782578" cy="2047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38"/>
              </a:lnSpc>
              <a:spcBef>
                <a:spcPct val="0"/>
              </a:spcBef>
            </a:pPr>
            <a:r>
              <a:rPr lang="en-US" sz="1956" dirty="0">
                <a:solidFill>
                  <a:srgbClr val="000000"/>
                </a:solidFill>
                <a:latin typeface="Arial" panose="020B0604020202020204" pitchFamily="34" charset="0"/>
                <a:ea typeface="Gloria Hallelujah"/>
                <a:cs typeface="Arial" panose="020B0604020202020204" pitchFamily="34" charset="0"/>
                <a:sym typeface="Gloria Hallelujah"/>
              </a:rPr>
              <a:t>Each row in a table is a record representing one complete entry. A customer record contains all information about a single customer.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071254" y="4137125"/>
            <a:ext cx="2782578" cy="2047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38"/>
              </a:lnSpc>
              <a:spcBef>
                <a:spcPct val="0"/>
              </a:spcBef>
            </a:pPr>
            <a:r>
              <a:rPr lang="en-US" sz="1956" dirty="0">
                <a:solidFill>
                  <a:srgbClr val="000000"/>
                </a:solidFill>
                <a:latin typeface="Arial" panose="020B0604020202020204" pitchFamily="34" charset="0"/>
                <a:ea typeface="Gloria Hallelujah"/>
                <a:cs typeface="Arial" panose="020B0604020202020204" pitchFamily="34" charset="0"/>
                <a:sym typeface="Gloria Hallelujah"/>
              </a:rPr>
              <a:t>Fields are the columns that define what data each record contains. Examples include name, email, date, and ID fields with specific data types.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4288" y="270483"/>
            <a:ext cx="7339348" cy="3202447"/>
          </a:xfrm>
          <a:custGeom>
            <a:avLst/>
            <a:gdLst/>
            <a:ahLst/>
            <a:cxnLst/>
            <a:rect l="l" t="t" r="r" b="b"/>
            <a:pathLst>
              <a:path w="7339348" h="3202447">
                <a:moveTo>
                  <a:pt x="0" y="0"/>
                </a:moveTo>
                <a:lnTo>
                  <a:pt x="7339348" y="0"/>
                </a:lnTo>
                <a:lnTo>
                  <a:pt x="7339348" y="3202447"/>
                </a:lnTo>
                <a:lnTo>
                  <a:pt x="0" y="3202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05" b="-70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93371" y="6946502"/>
            <a:ext cx="11301259" cy="2980707"/>
          </a:xfrm>
          <a:custGeom>
            <a:avLst/>
            <a:gdLst/>
            <a:ahLst/>
            <a:cxnLst/>
            <a:rect l="l" t="t" r="r" b="b"/>
            <a:pathLst>
              <a:path w="11301259" h="2980707">
                <a:moveTo>
                  <a:pt x="0" y="0"/>
                </a:moveTo>
                <a:lnTo>
                  <a:pt x="11301258" y="0"/>
                </a:lnTo>
                <a:lnTo>
                  <a:pt x="11301258" y="2980707"/>
                </a:lnTo>
                <a:lnTo>
                  <a:pt x="0" y="2980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177194" y="1596123"/>
            <a:ext cx="9278771" cy="4061733"/>
          </a:xfrm>
          <a:custGeom>
            <a:avLst/>
            <a:gdLst/>
            <a:ahLst/>
            <a:cxnLst/>
            <a:rect l="l" t="t" r="r" b="b"/>
            <a:pathLst>
              <a:path w="9278771" h="4061733">
                <a:moveTo>
                  <a:pt x="0" y="0"/>
                </a:moveTo>
                <a:lnTo>
                  <a:pt x="9278771" y="0"/>
                </a:lnTo>
                <a:lnTo>
                  <a:pt x="9278771" y="4061733"/>
                </a:lnTo>
                <a:lnTo>
                  <a:pt x="0" y="40617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28" b="-828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61978" y="3158961"/>
            <a:ext cx="7021657" cy="3333698"/>
          </a:xfrm>
          <a:custGeom>
            <a:avLst/>
            <a:gdLst/>
            <a:ahLst/>
            <a:cxnLst/>
            <a:rect l="l" t="t" r="r" b="b"/>
            <a:pathLst>
              <a:path w="7021657" h="3333698">
                <a:moveTo>
                  <a:pt x="0" y="0"/>
                </a:moveTo>
                <a:lnTo>
                  <a:pt x="7021658" y="0"/>
                </a:lnTo>
                <a:lnTo>
                  <a:pt x="7021658" y="3333697"/>
                </a:lnTo>
                <a:lnTo>
                  <a:pt x="0" y="33336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98004" y="4554205"/>
            <a:ext cx="3224443" cy="4704095"/>
          </a:xfrm>
          <a:custGeom>
            <a:avLst/>
            <a:gdLst/>
            <a:ahLst/>
            <a:cxnLst/>
            <a:rect l="l" t="t" r="r" b="b"/>
            <a:pathLst>
              <a:path w="3224443" h="4704095">
                <a:moveTo>
                  <a:pt x="0" y="0"/>
                </a:moveTo>
                <a:lnTo>
                  <a:pt x="3224443" y="0"/>
                </a:lnTo>
                <a:lnTo>
                  <a:pt x="3224443" y="4704095"/>
                </a:lnTo>
                <a:lnTo>
                  <a:pt x="0" y="47040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467909" y="404659"/>
            <a:ext cx="13149444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79"/>
              </a:lnSpc>
              <a:spcBef>
                <a:spcPct val="0"/>
              </a:spcBef>
            </a:pPr>
            <a:r>
              <a:rPr lang="en-US" sz="7194" dirty="0">
                <a:solidFill>
                  <a:srgbClr val="000000"/>
                </a:solidFill>
                <a:latin typeface="Arial" panose="020B0604020202020204" pitchFamily="34" charset="0"/>
                <a:ea typeface="Handy Casual"/>
                <a:cs typeface="Arial" panose="020B0604020202020204" pitchFamily="34" charset="0"/>
                <a:sym typeface="Handy Casual"/>
              </a:rPr>
              <a:t>BENEFITS OF DATABASE ORGANIZATION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1310842" y="2588585"/>
            <a:ext cx="2691697" cy="2006732"/>
          </a:xfrm>
          <a:custGeom>
            <a:avLst/>
            <a:gdLst/>
            <a:ahLst/>
            <a:cxnLst/>
            <a:rect l="l" t="t" r="r" b="b"/>
            <a:pathLst>
              <a:path w="2691697" h="2006732">
                <a:moveTo>
                  <a:pt x="0" y="0"/>
                </a:moveTo>
                <a:lnTo>
                  <a:pt x="2691696" y="0"/>
                </a:lnTo>
                <a:lnTo>
                  <a:pt x="2691696" y="2006733"/>
                </a:lnTo>
                <a:lnTo>
                  <a:pt x="0" y="20067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298187" y="2522650"/>
            <a:ext cx="1483245" cy="1885582"/>
          </a:xfrm>
          <a:custGeom>
            <a:avLst/>
            <a:gdLst/>
            <a:ahLst/>
            <a:cxnLst/>
            <a:rect l="l" t="t" r="r" b="b"/>
            <a:pathLst>
              <a:path w="1483245" h="1885582">
                <a:moveTo>
                  <a:pt x="0" y="0"/>
                </a:moveTo>
                <a:lnTo>
                  <a:pt x="1483245" y="0"/>
                </a:lnTo>
                <a:lnTo>
                  <a:pt x="1483245" y="1885583"/>
                </a:lnTo>
                <a:lnTo>
                  <a:pt x="0" y="18855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334194" y="2032905"/>
            <a:ext cx="2185866" cy="5671183"/>
          </a:xfrm>
          <a:custGeom>
            <a:avLst/>
            <a:gdLst/>
            <a:ahLst/>
            <a:cxnLst/>
            <a:rect l="l" t="t" r="r" b="b"/>
            <a:pathLst>
              <a:path w="2275078" h="8069613">
                <a:moveTo>
                  <a:pt x="0" y="0"/>
                </a:moveTo>
                <a:lnTo>
                  <a:pt x="2275078" y="0"/>
                </a:lnTo>
                <a:lnTo>
                  <a:pt x="2275078" y="8069614"/>
                </a:lnTo>
                <a:lnTo>
                  <a:pt x="0" y="8069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887677" y="2263127"/>
            <a:ext cx="2185866" cy="1808804"/>
          </a:xfrm>
          <a:custGeom>
            <a:avLst/>
            <a:gdLst/>
            <a:ahLst/>
            <a:cxnLst/>
            <a:rect l="l" t="t" r="r" b="b"/>
            <a:pathLst>
              <a:path w="2185866" h="1808804">
                <a:moveTo>
                  <a:pt x="0" y="0"/>
                </a:moveTo>
                <a:lnTo>
                  <a:pt x="2185866" y="0"/>
                </a:lnTo>
                <a:lnTo>
                  <a:pt x="2185866" y="1808804"/>
                </a:lnTo>
                <a:lnTo>
                  <a:pt x="0" y="180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725671" y="2488103"/>
            <a:ext cx="1829746" cy="1712366"/>
          </a:xfrm>
          <a:custGeom>
            <a:avLst/>
            <a:gdLst/>
            <a:ahLst/>
            <a:cxnLst/>
            <a:rect l="l" t="t" r="r" b="b"/>
            <a:pathLst>
              <a:path w="1829746" h="1712366">
                <a:moveTo>
                  <a:pt x="0" y="0"/>
                </a:moveTo>
                <a:lnTo>
                  <a:pt x="1829745" y="0"/>
                </a:lnTo>
                <a:lnTo>
                  <a:pt x="1829745" y="1712366"/>
                </a:lnTo>
                <a:lnTo>
                  <a:pt x="0" y="17123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30976" y="4621623"/>
            <a:ext cx="2558500" cy="49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18"/>
              </a:lnSpc>
              <a:spcBef>
                <a:spcPct val="0"/>
              </a:spcBef>
            </a:pPr>
            <a:r>
              <a:rPr lang="en-US" sz="3013" dirty="0">
                <a:solidFill>
                  <a:srgbClr val="000000"/>
                </a:solidFill>
                <a:latin typeface="Arial" panose="020B0604020202020204" pitchFamily="34" charset="0"/>
                <a:ea typeface="Handy Casual"/>
                <a:cs typeface="Arial" panose="020B0604020202020204" pitchFamily="34" charset="0"/>
                <a:sym typeface="Handy Casual"/>
              </a:rPr>
              <a:t>Fast Queries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2124" y="5527040"/>
            <a:ext cx="2558500" cy="2435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rgbClr val="000000"/>
                </a:solidFill>
                <a:latin typeface="Arial" panose="020B0604020202020204" pitchFamily="34" charset="0"/>
                <a:ea typeface="Gloria Hallelujah"/>
                <a:cs typeface="Arial" panose="020B0604020202020204" pitchFamily="34" charset="0"/>
                <a:sym typeface="Gloria Hallelujah"/>
              </a:rPr>
              <a:t>Well-organized databases with proper indexing enable lightning-fast data retrieval. Queries execute efficiently, reducing wait times and improving application performance significantly.</a:t>
            </a:r>
          </a:p>
        </p:txBody>
      </p:sp>
      <p:sp>
        <p:nvSpPr>
          <p:cNvPr id="12" name="Freeform 12"/>
          <p:cNvSpPr/>
          <p:nvPr/>
        </p:nvSpPr>
        <p:spPr>
          <a:xfrm>
            <a:off x="4214891" y="4554205"/>
            <a:ext cx="3224443" cy="4704095"/>
          </a:xfrm>
          <a:custGeom>
            <a:avLst/>
            <a:gdLst/>
            <a:ahLst/>
            <a:cxnLst/>
            <a:rect l="l" t="t" r="r" b="b"/>
            <a:pathLst>
              <a:path w="3224443" h="4704095">
                <a:moveTo>
                  <a:pt x="0" y="0"/>
                </a:moveTo>
                <a:lnTo>
                  <a:pt x="3224443" y="0"/>
                </a:lnTo>
                <a:lnTo>
                  <a:pt x="3224443" y="4704095"/>
                </a:lnTo>
                <a:lnTo>
                  <a:pt x="0" y="47040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547863" y="5527040"/>
            <a:ext cx="2558500" cy="2435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rgbClr val="000000"/>
                </a:solidFill>
                <a:latin typeface="Arial" panose="020B0604020202020204" pitchFamily="34" charset="0"/>
                <a:ea typeface="Gloria Hallelujah"/>
                <a:cs typeface="Arial" panose="020B0604020202020204" pitchFamily="34" charset="0"/>
                <a:sym typeface="Gloria Hallelujah"/>
              </a:rPr>
              <a:t>Structured organization ensures data accuracy and consistency. Constraints, relationships, and validation rules maintain reliable information across all database operations.</a:t>
            </a:r>
          </a:p>
        </p:txBody>
      </p:sp>
      <p:sp>
        <p:nvSpPr>
          <p:cNvPr id="14" name="Freeform 14"/>
          <p:cNvSpPr/>
          <p:nvPr/>
        </p:nvSpPr>
        <p:spPr>
          <a:xfrm>
            <a:off x="7531778" y="4554205"/>
            <a:ext cx="3224443" cy="4704095"/>
          </a:xfrm>
          <a:custGeom>
            <a:avLst/>
            <a:gdLst/>
            <a:ahLst/>
            <a:cxnLst/>
            <a:rect l="l" t="t" r="r" b="b"/>
            <a:pathLst>
              <a:path w="3224443" h="4704095">
                <a:moveTo>
                  <a:pt x="0" y="0"/>
                </a:moveTo>
                <a:lnTo>
                  <a:pt x="3224444" y="0"/>
                </a:lnTo>
                <a:lnTo>
                  <a:pt x="3224444" y="4704095"/>
                </a:lnTo>
                <a:lnTo>
                  <a:pt x="0" y="47040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867959" y="5527040"/>
            <a:ext cx="2558500" cy="2435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rgbClr val="000000"/>
                </a:solidFill>
                <a:latin typeface="Arial" panose="020B0604020202020204" pitchFamily="34" charset="0"/>
                <a:ea typeface="Gloria Hallelujah"/>
                <a:cs typeface="Arial" panose="020B0604020202020204" pitchFamily="34" charset="0"/>
                <a:sym typeface="Gloria Hallelujah"/>
              </a:rPr>
              <a:t>Properly organized databases grow seamlessly with your needs. Good structure allows for easy expansion, handling increased data volumes without performance degradation.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848666" y="4554205"/>
            <a:ext cx="3224443" cy="4704095"/>
          </a:xfrm>
          <a:custGeom>
            <a:avLst/>
            <a:gdLst/>
            <a:ahLst/>
            <a:cxnLst/>
            <a:rect l="l" t="t" r="r" b="b"/>
            <a:pathLst>
              <a:path w="3224443" h="4704095">
                <a:moveTo>
                  <a:pt x="0" y="0"/>
                </a:moveTo>
                <a:lnTo>
                  <a:pt x="3224443" y="0"/>
                </a:lnTo>
                <a:lnTo>
                  <a:pt x="3224443" y="4704095"/>
                </a:lnTo>
                <a:lnTo>
                  <a:pt x="0" y="470409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1261047" y="5527040"/>
            <a:ext cx="2558500" cy="2435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rgbClr val="000000"/>
                </a:solidFill>
                <a:latin typeface="Arial" panose="020B0604020202020204" pitchFamily="34" charset="0"/>
                <a:ea typeface="Gloria Hallelujah"/>
                <a:cs typeface="Arial" panose="020B0604020202020204" pitchFamily="34" charset="0"/>
                <a:sym typeface="Gloria Hallelujah"/>
              </a:rPr>
              <a:t>Clear organization simplifies updates, backups, and troubleshooting. Database administrators can quickly locate issues and implement changes with minimal disruption.</a:t>
            </a:r>
          </a:p>
        </p:txBody>
      </p:sp>
      <p:sp>
        <p:nvSpPr>
          <p:cNvPr id="18" name="Freeform 18"/>
          <p:cNvSpPr/>
          <p:nvPr/>
        </p:nvSpPr>
        <p:spPr>
          <a:xfrm>
            <a:off x="14165553" y="4554205"/>
            <a:ext cx="3224443" cy="4704095"/>
          </a:xfrm>
          <a:custGeom>
            <a:avLst/>
            <a:gdLst/>
            <a:ahLst/>
            <a:cxnLst/>
            <a:rect l="l" t="t" r="r" b="b"/>
            <a:pathLst>
              <a:path w="3224443" h="4704095">
                <a:moveTo>
                  <a:pt x="0" y="0"/>
                </a:moveTo>
                <a:lnTo>
                  <a:pt x="3224443" y="0"/>
                </a:lnTo>
                <a:lnTo>
                  <a:pt x="3224443" y="4704095"/>
                </a:lnTo>
                <a:lnTo>
                  <a:pt x="0" y="470409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338313" y="4621623"/>
            <a:ext cx="2977600" cy="49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18"/>
              </a:lnSpc>
              <a:spcBef>
                <a:spcPct val="0"/>
              </a:spcBef>
            </a:pPr>
            <a:r>
              <a:rPr lang="en-US" sz="3013" dirty="0">
                <a:solidFill>
                  <a:srgbClr val="000000"/>
                </a:solidFill>
                <a:latin typeface="Arial" panose="020B0604020202020204" pitchFamily="34" charset="0"/>
                <a:ea typeface="Handy Casual"/>
                <a:cs typeface="Arial" panose="020B0604020202020204" pitchFamily="34" charset="0"/>
                <a:sym typeface="Handy Casual"/>
              </a:rPr>
              <a:t>Data Integrity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82234" y="4621623"/>
            <a:ext cx="2723531" cy="49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18"/>
              </a:lnSpc>
              <a:spcBef>
                <a:spcPct val="0"/>
              </a:spcBef>
            </a:pPr>
            <a:r>
              <a:rPr lang="en-US" sz="3013" dirty="0">
                <a:solidFill>
                  <a:srgbClr val="000000"/>
                </a:solidFill>
                <a:latin typeface="Arial" panose="020B0604020202020204" pitchFamily="34" charset="0"/>
                <a:ea typeface="Handy Casual"/>
                <a:cs typeface="Arial" panose="020B0604020202020204" pitchFamily="34" charset="0"/>
                <a:sym typeface="Handy Casual"/>
              </a:rPr>
              <a:t>Scalability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12072" y="4651570"/>
            <a:ext cx="3474899" cy="491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18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Handy Casual"/>
                <a:cs typeface="Arial" panose="020B0604020202020204" pitchFamily="34" charset="0"/>
                <a:sym typeface="Handy Casual"/>
              </a:rPr>
              <a:t>Easy Maintenance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226060" y="4608626"/>
            <a:ext cx="3256380" cy="47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18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Handy Casual"/>
                <a:cs typeface="Arial" panose="020B0604020202020204" pitchFamily="34" charset="0"/>
                <a:sym typeface="Handy Casual"/>
              </a:rPr>
              <a:t>Reduced Redundancy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593991" y="5527040"/>
            <a:ext cx="2558500" cy="2127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rgbClr val="000000"/>
                </a:solidFill>
                <a:latin typeface="Arial" panose="020B0604020202020204" pitchFamily="34" charset="0"/>
                <a:ea typeface="Gloria Hallelujah"/>
                <a:cs typeface="Arial" panose="020B0604020202020204" pitchFamily="34" charset="0"/>
                <a:sym typeface="Gloria Hallelujah"/>
              </a:rPr>
              <a:t>Normalization eliminates duplicate data storage. This saves space, prevents inconsistencies, and ensures that updates only need to be made in one location.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260</Words>
  <Application>Microsoft Office PowerPoint</Application>
  <PresentationFormat>Personalizar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Handy Casual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LUCAS AUGUSTO HARTMANN</cp:lastModifiedBy>
  <cp:revision>3</cp:revision>
  <dcterms:created xsi:type="dcterms:W3CDTF">2006-08-16T00:00:00Z</dcterms:created>
  <dcterms:modified xsi:type="dcterms:W3CDTF">2026-03-18T14:15:14Z</dcterms:modified>
  <dc:identifier>DAHENvGmFg4</dc:identifier>
</cp:coreProperties>
</file>