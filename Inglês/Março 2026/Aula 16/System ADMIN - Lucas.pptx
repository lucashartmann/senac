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Calibri" panose="020F0502020204030204" pitchFamily="34" charset="0"/>
      <p:regular r:id="rId9"/>
      <p:bold r:id="rId10"/>
      <p:italic r:id="rId11"/>
      <p:boldItalic r:id="rId12"/>
    </p:embeddedFont>
    <p:embeddedFont>
      <p:font typeface="TT Hoves" panose="020B0604020202020204" charset="0"/>
      <p:regular r:id="rId13"/>
    </p:embeddedFont>
    <p:embeddedFont>
      <p:font typeface="TT Hoves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2" d="100"/>
          <a:sy n="72" d="100"/>
        </p:scale>
        <p:origin x="65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92B8DD"/>
        </a:solidFill>
        <a:effectLst/>
      </p:bgPr>
    </p:bg>
    <p:spTree>
      <p:nvGrpSpPr>
        <p:cNvPr id="1" name=""/>
        <p:cNvGrpSpPr/>
        <p:nvPr/>
      </p:nvGrpSpPr>
      <p:grpSpPr>
        <a:xfrm>
          <a:off x="0" y="0"/>
          <a:ext cx="0" cy="0"/>
          <a:chOff x="0" y="0"/>
          <a:chExt cx="0" cy="0"/>
        </a:xfrm>
      </p:grpSpPr>
      <p:grpSp>
        <p:nvGrpSpPr>
          <p:cNvPr id="2" name="Group 2"/>
          <p:cNvGrpSpPr/>
          <p:nvPr/>
        </p:nvGrpSpPr>
        <p:grpSpPr>
          <a:xfrm>
            <a:off x="2111600" y="-153702"/>
            <a:ext cx="16363038" cy="8520557"/>
            <a:chOff x="0" y="0"/>
            <a:chExt cx="4309607" cy="2244097"/>
          </a:xfrm>
        </p:grpSpPr>
        <p:sp>
          <p:nvSpPr>
            <p:cNvPr id="3" name="Freeform 3"/>
            <p:cNvSpPr/>
            <p:nvPr/>
          </p:nvSpPr>
          <p:spPr>
            <a:xfrm>
              <a:off x="0" y="0"/>
              <a:ext cx="4309607" cy="2244097"/>
            </a:xfrm>
            <a:custGeom>
              <a:avLst/>
              <a:gdLst/>
              <a:ahLst/>
              <a:cxnLst/>
              <a:rect l="l" t="t" r="r" b="b"/>
              <a:pathLst>
                <a:path w="4309607" h="2244097">
                  <a:moveTo>
                    <a:pt x="0" y="0"/>
                  </a:moveTo>
                  <a:lnTo>
                    <a:pt x="4309607" y="0"/>
                  </a:lnTo>
                  <a:lnTo>
                    <a:pt x="4309607" y="2244097"/>
                  </a:lnTo>
                  <a:lnTo>
                    <a:pt x="0" y="2244097"/>
                  </a:lnTo>
                  <a:close/>
                </a:path>
              </a:pathLst>
            </a:custGeom>
            <a:solidFill>
              <a:srgbClr val="FFFFFF"/>
            </a:solidFill>
          </p:spPr>
        </p:sp>
        <p:sp>
          <p:nvSpPr>
            <p:cNvPr id="4" name="TextBox 4"/>
            <p:cNvSpPr txBox="1"/>
            <p:nvPr/>
          </p:nvSpPr>
          <p:spPr>
            <a:xfrm>
              <a:off x="0" y="-38100"/>
              <a:ext cx="4309607" cy="228219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653114" y="640862"/>
            <a:ext cx="852752" cy="806917"/>
          </a:xfrm>
          <a:custGeom>
            <a:avLst/>
            <a:gdLst/>
            <a:ahLst/>
            <a:cxnLst/>
            <a:rect l="l" t="t" r="r" b="b"/>
            <a:pathLst>
              <a:path w="852752" h="806917">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AutoShape 6"/>
          <p:cNvSpPr/>
          <p:nvPr/>
        </p:nvSpPr>
        <p:spPr>
          <a:xfrm>
            <a:off x="-350272" y="9277350"/>
            <a:ext cx="14757203" cy="0"/>
          </a:xfrm>
          <a:prstGeom prst="line">
            <a:avLst/>
          </a:prstGeom>
          <a:ln w="9525" cap="flat">
            <a:solidFill>
              <a:srgbClr val="000000"/>
            </a:solidFill>
            <a:prstDash val="solid"/>
            <a:headEnd type="none" w="sm" len="sm"/>
            <a:tailEnd type="none" w="sm" len="sm"/>
          </a:ln>
        </p:spPr>
      </p:sp>
      <p:sp>
        <p:nvSpPr>
          <p:cNvPr id="7" name="Freeform 7"/>
          <p:cNvSpPr/>
          <p:nvPr/>
        </p:nvSpPr>
        <p:spPr>
          <a:xfrm rot="5400000">
            <a:off x="-723249" y="2257023"/>
            <a:ext cx="3503898" cy="471434"/>
          </a:xfrm>
          <a:custGeom>
            <a:avLst/>
            <a:gdLst/>
            <a:ahLst/>
            <a:cxnLst/>
            <a:rect l="l" t="t" r="r" b="b"/>
            <a:pathLst>
              <a:path w="3503898" h="471434">
                <a:moveTo>
                  <a:pt x="0" y="0"/>
                </a:moveTo>
                <a:lnTo>
                  <a:pt x="3503898" y="0"/>
                </a:lnTo>
                <a:lnTo>
                  <a:pt x="3503898" y="471434"/>
                </a:lnTo>
                <a:lnTo>
                  <a:pt x="0" y="47143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2890274" y="740791"/>
            <a:ext cx="1510928" cy="466683"/>
          </a:xfrm>
          <a:prstGeom prst="rect">
            <a:avLst/>
          </a:prstGeom>
        </p:spPr>
        <p:txBody>
          <a:bodyPr lIns="0" tIns="0" rIns="0" bIns="0" rtlCol="0" anchor="t">
            <a:spAutoFit/>
          </a:bodyPr>
          <a:lstStyle/>
          <a:p>
            <a:pPr marL="0" lvl="0" indent="0" algn="l">
              <a:lnSpc>
                <a:spcPts val="1883"/>
              </a:lnSpc>
            </a:pPr>
            <a:r>
              <a:rPr lang="en-US" sz="1506" spc="122">
                <a:solidFill>
                  <a:srgbClr val="000000"/>
                </a:solidFill>
                <a:latin typeface="TT Hoves"/>
                <a:ea typeface="TT Hoves"/>
                <a:cs typeface="TT Hoves"/>
                <a:sym typeface="TT Hoves"/>
              </a:rPr>
              <a:t>Lucas</a:t>
            </a:r>
          </a:p>
          <a:p>
            <a:pPr marL="0" lvl="0" indent="0" algn="l">
              <a:lnSpc>
                <a:spcPts val="1883"/>
              </a:lnSpc>
            </a:pPr>
            <a:r>
              <a:rPr lang="en-US" sz="1506" spc="122">
                <a:solidFill>
                  <a:srgbClr val="000000"/>
                </a:solidFill>
                <a:latin typeface="TT Hoves"/>
                <a:ea typeface="TT Hoves"/>
                <a:cs typeface="TT Hoves"/>
                <a:sym typeface="TT Hoves"/>
              </a:rPr>
              <a:t>Hartmann</a:t>
            </a:r>
          </a:p>
        </p:txBody>
      </p:sp>
      <p:sp>
        <p:nvSpPr>
          <p:cNvPr id="9" name="TextBox 9"/>
          <p:cNvSpPr txBox="1"/>
          <p:nvPr/>
        </p:nvSpPr>
        <p:spPr>
          <a:xfrm>
            <a:off x="2890274" y="3536757"/>
            <a:ext cx="9255329" cy="3228444"/>
          </a:xfrm>
          <a:prstGeom prst="rect">
            <a:avLst/>
          </a:prstGeom>
        </p:spPr>
        <p:txBody>
          <a:bodyPr lIns="0" tIns="0" rIns="0" bIns="0" rtlCol="0" anchor="t">
            <a:spAutoFit/>
          </a:bodyPr>
          <a:lstStyle/>
          <a:p>
            <a:pPr marL="0" lvl="0" indent="0" algn="l">
              <a:lnSpc>
                <a:spcPts val="8490"/>
              </a:lnSpc>
            </a:pPr>
            <a:r>
              <a:rPr lang="en-US" sz="7383" b="1">
                <a:solidFill>
                  <a:srgbClr val="000000"/>
                </a:solidFill>
                <a:latin typeface="TT Hoves Bold"/>
                <a:ea typeface="TT Hoves Bold"/>
                <a:cs typeface="TT Hoves Bold"/>
                <a:sym typeface="TT Hoves Bold"/>
              </a:rPr>
              <a:t>A Day in the Life of a System Administrator</a:t>
            </a:r>
          </a:p>
        </p:txBody>
      </p:sp>
      <p:sp>
        <p:nvSpPr>
          <p:cNvPr id="10" name="TextBox 10"/>
          <p:cNvSpPr txBox="1"/>
          <p:nvPr/>
        </p:nvSpPr>
        <p:spPr>
          <a:xfrm>
            <a:off x="2890274" y="7147921"/>
            <a:ext cx="7804538" cy="251268"/>
          </a:xfrm>
          <a:prstGeom prst="rect">
            <a:avLst/>
          </a:prstGeom>
        </p:spPr>
        <p:txBody>
          <a:bodyPr lIns="0" tIns="0" rIns="0" bIns="0" rtlCol="0" anchor="t">
            <a:spAutoFit/>
          </a:bodyPr>
          <a:lstStyle/>
          <a:p>
            <a:pPr marL="0" lvl="0" indent="0" algn="l">
              <a:lnSpc>
                <a:spcPts val="2154"/>
              </a:lnSpc>
            </a:pPr>
            <a:r>
              <a:rPr lang="en-US" sz="1506" spc="69">
                <a:solidFill>
                  <a:srgbClr val="000000"/>
                </a:solidFill>
                <a:latin typeface="TT Hoves"/>
                <a:ea typeface="TT Hoves"/>
                <a:cs typeface="TT Hoves"/>
                <a:sym typeface="TT Hoves"/>
              </a:rPr>
              <a:t>Exploring the Daily Responsibilities and Challenges of IT Infrastructure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2B8DD"/>
        </a:solidFill>
        <a:effectLst/>
      </p:bgPr>
    </p:bg>
    <p:spTree>
      <p:nvGrpSpPr>
        <p:cNvPr id="1" name=""/>
        <p:cNvGrpSpPr/>
        <p:nvPr/>
      </p:nvGrpSpPr>
      <p:grpSpPr>
        <a:xfrm>
          <a:off x="0" y="0"/>
          <a:ext cx="0" cy="0"/>
          <a:chOff x="0" y="0"/>
          <a:chExt cx="0" cy="0"/>
        </a:xfrm>
      </p:grpSpPr>
      <p:sp>
        <p:nvSpPr>
          <p:cNvPr id="2" name="Freeform 2"/>
          <p:cNvSpPr/>
          <p:nvPr/>
        </p:nvSpPr>
        <p:spPr>
          <a:xfrm>
            <a:off x="16653114" y="640862"/>
            <a:ext cx="852752" cy="806917"/>
          </a:xfrm>
          <a:custGeom>
            <a:avLst/>
            <a:gdLst/>
            <a:ahLst/>
            <a:cxnLst/>
            <a:rect l="l" t="t" r="r" b="b"/>
            <a:pathLst>
              <a:path w="852752" h="806917">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346689" y="4051379"/>
            <a:ext cx="16999803" cy="6717644"/>
            <a:chOff x="0" y="0"/>
            <a:chExt cx="4477314" cy="1769256"/>
          </a:xfrm>
        </p:grpSpPr>
        <p:sp>
          <p:nvSpPr>
            <p:cNvPr id="4" name="Freeform 4"/>
            <p:cNvSpPr/>
            <p:nvPr/>
          </p:nvSpPr>
          <p:spPr>
            <a:xfrm>
              <a:off x="0" y="0"/>
              <a:ext cx="4477314" cy="1769256"/>
            </a:xfrm>
            <a:custGeom>
              <a:avLst/>
              <a:gdLst/>
              <a:ahLst/>
              <a:cxnLst/>
              <a:rect l="l" t="t" r="r" b="b"/>
              <a:pathLst>
                <a:path w="4477314" h="1769256">
                  <a:moveTo>
                    <a:pt x="0" y="0"/>
                  </a:moveTo>
                  <a:lnTo>
                    <a:pt x="4477314" y="0"/>
                  </a:lnTo>
                  <a:lnTo>
                    <a:pt x="4477314" y="1769256"/>
                  </a:lnTo>
                  <a:lnTo>
                    <a:pt x="0" y="1769256"/>
                  </a:lnTo>
                  <a:close/>
                </a:path>
              </a:pathLst>
            </a:custGeom>
            <a:solidFill>
              <a:srgbClr val="FFFFFF"/>
            </a:solidFill>
          </p:spPr>
        </p:sp>
        <p:sp>
          <p:nvSpPr>
            <p:cNvPr id="5" name="TextBox 5"/>
            <p:cNvSpPr txBox="1"/>
            <p:nvPr/>
          </p:nvSpPr>
          <p:spPr>
            <a:xfrm>
              <a:off x="0" y="-38100"/>
              <a:ext cx="4477314" cy="180735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1028700" y="711200"/>
            <a:ext cx="1510928" cy="532095"/>
          </a:xfrm>
          <a:prstGeom prst="rect">
            <a:avLst/>
          </a:prstGeom>
        </p:spPr>
        <p:txBody>
          <a:bodyPr lIns="0" tIns="0" rIns="0" bIns="0" rtlCol="0" anchor="t">
            <a:spAutoFit/>
          </a:bodyPr>
          <a:lstStyle/>
          <a:p>
            <a:pPr marL="0" lvl="0" indent="0" algn="l">
              <a:lnSpc>
                <a:spcPts val="2131"/>
              </a:lnSpc>
            </a:pPr>
            <a:r>
              <a:rPr lang="en-US" sz="1705" spc="138">
                <a:solidFill>
                  <a:srgbClr val="000000"/>
                </a:solidFill>
                <a:latin typeface="TT Hoves"/>
                <a:ea typeface="TT Hoves"/>
                <a:cs typeface="TT Hoves"/>
                <a:sym typeface="TT Hoves"/>
              </a:rPr>
              <a:t>Lucas</a:t>
            </a:r>
          </a:p>
          <a:p>
            <a:pPr marL="0" lvl="0" indent="0" algn="l">
              <a:lnSpc>
                <a:spcPts val="2131"/>
              </a:lnSpc>
            </a:pPr>
            <a:r>
              <a:rPr lang="en-US" sz="1705" spc="138">
                <a:solidFill>
                  <a:srgbClr val="000000"/>
                </a:solidFill>
                <a:latin typeface="TT Hoves"/>
                <a:ea typeface="TT Hoves"/>
                <a:cs typeface="TT Hoves"/>
                <a:sym typeface="TT Hoves"/>
              </a:rPr>
              <a:t>Hartmann</a:t>
            </a:r>
          </a:p>
        </p:txBody>
      </p:sp>
      <p:sp>
        <p:nvSpPr>
          <p:cNvPr id="7" name="TextBox 7"/>
          <p:cNvSpPr txBox="1"/>
          <p:nvPr/>
        </p:nvSpPr>
        <p:spPr>
          <a:xfrm>
            <a:off x="1451734" y="2213087"/>
            <a:ext cx="7929994" cy="1104867"/>
          </a:xfrm>
          <a:prstGeom prst="rect">
            <a:avLst/>
          </a:prstGeom>
        </p:spPr>
        <p:txBody>
          <a:bodyPr lIns="0" tIns="0" rIns="0" bIns="0" rtlCol="0" anchor="t">
            <a:spAutoFit/>
          </a:bodyPr>
          <a:lstStyle/>
          <a:p>
            <a:pPr marL="0" lvl="0" indent="0" algn="l">
              <a:lnSpc>
                <a:spcPts val="8618"/>
              </a:lnSpc>
            </a:pPr>
            <a:r>
              <a:rPr lang="en-US" sz="7494" b="1">
                <a:solidFill>
                  <a:srgbClr val="000000"/>
                </a:solidFill>
                <a:latin typeface="TT Hoves Bold"/>
                <a:ea typeface="TT Hoves Bold"/>
                <a:cs typeface="TT Hoves Bold"/>
                <a:sym typeface="TT Hoves Bold"/>
              </a:rPr>
              <a:t>Morning Routine</a:t>
            </a:r>
          </a:p>
        </p:txBody>
      </p:sp>
      <p:sp>
        <p:nvSpPr>
          <p:cNvPr id="8" name="TextBox 8"/>
          <p:cNvSpPr txBox="1"/>
          <p:nvPr/>
        </p:nvSpPr>
        <p:spPr>
          <a:xfrm>
            <a:off x="6114883" y="6500982"/>
            <a:ext cx="3320710" cy="1598895"/>
          </a:xfrm>
          <a:prstGeom prst="rect">
            <a:avLst/>
          </a:prstGeom>
        </p:spPr>
        <p:txBody>
          <a:bodyPr lIns="0" tIns="0" rIns="0" bIns="0" rtlCol="0" anchor="t">
            <a:spAutoFit/>
          </a:bodyPr>
          <a:lstStyle/>
          <a:p>
            <a:pPr marL="0" lvl="0" indent="0" algn="l">
              <a:lnSpc>
                <a:spcPts val="2131"/>
              </a:lnSpc>
              <a:spcBef>
                <a:spcPct val="0"/>
              </a:spcBef>
            </a:pPr>
            <a:r>
              <a:rPr lang="en-US" sz="1705">
                <a:solidFill>
                  <a:srgbClr val="000000"/>
                </a:solidFill>
                <a:latin typeface="TT Hoves"/>
                <a:ea typeface="TT Hoves"/>
                <a:cs typeface="TT Hoves"/>
                <a:sym typeface="TT Hoves"/>
              </a:rPr>
              <a:t>Start the day by reviewing overnight emails and support tickets. Check for any urgent issues that came in after hours and flag critical items for immediate attention.</a:t>
            </a:r>
          </a:p>
        </p:txBody>
      </p:sp>
      <p:sp>
        <p:nvSpPr>
          <p:cNvPr id="9" name="TextBox 9"/>
          <p:cNvSpPr txBox="1"/>
          <p:nvPr/>
        </p:nvSpPr>
        <p:spPr>
          <a:xfrm>
            <a:off x="12186778" y="6500982"/>
            <a:ext cx="3451392" cy="1332195"/>
          </a:xfrm>
          <a:prstGeom prst="rect">
            <a:avLst/>
          </a:prstGeom>
        </p:spPr>
        <p:txBody>
          <a:bodyPr lIns="0" tIns="0" rIns="0" bIns="0" rtlCol="0" anchor="t">
            <a:spAutoFit/>
          </a:bodyPr>
          <a:lstStyle/>
          <a:p>
            <a:pPr marL="0" lvl="0" indent="0" algn="l">
              <a:lnSpc>
                <a:spcPts val="2131"/>
              </a:lnSpc>
              <a:spcBef>
                <a:spcPct val="0"/>
              </a:spcBef>
            </a:pPr>
            <a:r>
              <a:rPr lang="en-US" sz="1705">
                <a:solidFill>
                  <a:srgbClr val="000000"/>
                </a:solidFill>
                <a:latin typeface="TT Hoves"/>
                <a:ea typeface="TT Hoves"/>
                <a:cs typeface="TT Hoves"/>
                <a:sym typeface="TT Hoves"/>
              </a:rPr>
              <a:t>Prioritize the day's tasks based on urgency and impact. Create a to-do list, schedule maintenance windows, and coordinate with team members on collaborative projects.</a:t>
            </a:r>
          </a:p>
        </p:txBody>
      </p:sp>
      <p:sp>
        <p:nvSpPr>
          <p:cNvPr id="10" name="TextBox 10"/>
          <p:cNvSpPr txBox="1"/>
          <p:nvPr/>
        </p:nvSpPr>
        <p:spPr>
          <a:xfrm>
            <a:off x="6114883" y="5839272"/>
            <a:ext cx="3956792" cy="289014"/>
          </a:xfrm>
          <a:prstGeom prst="rect">
            <a:avLst/>
          </a:prstGeom>
        </p:spPr>
        <p:txBody>
          <a:bodyPr lIns="0" tIns="0" rIns="0" bIns="0" rtlCol="0" anchor="t">
            <a:spAutoFit/>
          </a:bodyPr>
          <a:lstStyle/>
          <a:p>
            <a:pPr marL="0" lvl="0" indent="0" algn="l">
              <a:lnSpc>
                <a:spcPts val="2316"/>
              </a:lnSpc>
            </a:pPr>
            <a:r>
              <a:rPr lang="en-US" sz="2014" b="1">
                <a:solidFill>
                  <a:srgbClr val="000000"/>
                </a:solidFill>
                <a:latin typeface="TT Hoves Bold"/>
                <a:ea typeface="TT Hoves Bold"/>
                <a:cs typeface="TT Hoves Bold"/>
                <a:sym typeface="TT Hoves Bold"/>
              </a:rPr>
              <a:t>Review Emails &amp; Tickets</a:t>
            </a:r>
          </a:p>
        </p:txBody>
      </p:sp>
      <p:sp>
        <p:nvSpPr>
          <p:cNvPr id="11" name="TextBox 11"/>
          <p:cNvSpPr txBox="1"/>
          <p:nvPr/>
        </p:nvSpPr>
        <p:spPr>
          <a:xfrm>
            <a:off x="12186778" y="5839272"/>
            <a:ext cx="2324213" cy="289014"/>
          </a:xfrm>
          <a:prstGeom prst="rect">
            <a:avLst/>
          </a:prstGeom>
        </p:spPr>
        <p:txBody>
          <a:bodyPr lIns="0" tIns="0" rIns="0" bIns="0" rtlCol="0" anchor="t">
            <a:spAutoFit/>
          </a:bodyPr>
          <a:lstStyle/>
          <a:p>
            <a:pPr marL="0" lvl="0" indent="0" algn="l">
              <a:lnSpc>
                <a:spcPts val="2316"/>
              </a:lnSpc>
            </a:pPr>
            <a:r>
              <a:rPr lang="en-US" sz="2014" b="1">
                <a:solidFill>
                  <a:srgbClr val="000000"/>
                </a:solidFill>
                <a:latin typeface="TT Hoves Bold"/>
                <a:ea typeface="TT Hoves Bold"/>
                <a:cs typeface="TT Hoves Bold"/>
                <a:sym typeface="TT Hoves Bold"/>
              </a:rPr>
              <a:t>Plan &amp; Prioritize</a:t>
            </a:r>
          </a:p>
        </p:txBody>
      </p:sp>
      <p:sp>
        <p:nvSpPr>
          <p:cNvPr id="12" name="AutoShape 12"/>
          <p:cNvSpPr/>
          <p:nvPr/>
        </p:nvSpPr>
        <p:spPr>
          <a:xfrm>
            <a:off x="2340781" y="4858524"/>
            <a:ext cx="10708067" cy="0"/>
          </a:xfrm>
          <a:prstGeom prst="line">
            <a:avLst/>
          </a:prstGeom>
          <a:ln w="38100" cap="flat">
            <a:solidFill>
              <a:srgbClr val="000000"/>
            </a:solidFill>
            <a:prstDash val="solid"/>
            <a:headEnd type="none" w="sm" len="sm"/>
            <a:tailEnd type="none" w="sm" len="sm"/>
          </a:ln>
        </p:spPr>
      </p:sp>
      <p:sp>
        <p:nvSpPr>
          <p:cNvPr id="13" name="AutoShape 13"/>
          <p:cNvSpPr/>
          <p:nvPr/>
        </p:nvSpPr>
        <p:spPr>
          <a:xfrm>
            <a:off x="2340781" y="4839474"/>
            <a:ext cx="0" cy="608053"/>
          </a:xfrm>
          <a:prstGeom prst="line">
            <a:avLst/>
          </a:prstGeom>
          <a:ln w="38100" cap="flat">
            <a:solidFill>
              <a:srgbClr val="000000"/>
            </a:solidFill>
            <a:prstDash val="solid"/>
            <a:headEnd type="none" w="sm" len="sm"/>
            <a:tailEnd type="arrow" w="med" len="sm"/>
          </a:ln>
        </p:spPr>
      </p:sp>
      <p:sp>
        <p:nvSpPr>
          <p:cNvPr id="14" name="AutoShape 14"/>
          <p:cNvSpPr/>
          <p:nvPr/>
        </p:nvSpPr>
        <p:spPr>
          <a:xfrm>
            <a:off x="7775238" y="4839474"/>
            <a:ext cx="0" cy="608053"/>
          </a:xfrm>
          <a:prstGeom prst="line">
            <a:avLst/>
          </a:prstGeom>
          <a:ln w="38100" cap="flat">
            <a:solidFill>
              <a:srgbClr val="000000"/>
            </a:solidFill>
            <a:prstDash val="solid"/>
            <a:headEnd type="none" w="sm" len="sm"/>
            <a:tailEnd type="arrow" w="med" len="sm"/>
          </a:ln>
        </p:spPr>
      </p:sp>
      <p:sp>
        <p:nvSpPr>
          <p:cNvPr id="15" name="AutoShape 15"/>
          <p:cNvSpPr/>
          <p:nvPr/>
        </p:nvSpPr>
        <p:spPr>
          <a:xfrm>
            <a:off x="13029798" y="4839474"/>
            <a:ext cx="0" cy="608053"/>
          </a:xfrm>
          <a:prstGeom prst="line">
            <a:avLst/>
          </a:prstGeom>
          <a:ln w="38100" cap="flat">
            <a:solidFill>
              <a:srgbClr val="000000"/>
            </a:solidFill>
            <a:prstDash val="solid"/>
            <a:headEnd type="none" w="sm" len="sm"/>
            <a:tailEnd type="arrow" w="med" len="sm"/>
          </a:ln>
        </p:spPr>
      </p:sp>
      <p:sp>
        <p:nvSpPr>
          <p:cNvPr id="16" name="Freeform 16"/>
          <p:cNvSpPr/>
          <p:nvPr/>
        </p:nvSpPr>
        <p:spPr>
          <a:xfrm>
            <a:off x="13236105" y="2515533"/>
            <a:ext cx="3503898" cy="471434"/>
          </a:xfrm>
          <a:custGeom>
            <a:avLst/>
            <a:gdLst/>
            <a:ahLst/>
            <a:cxnLst/>
            <a:rect l="l" t="t" r="r" b="b"/>
            <a:pathLst>
              <a:path w="3503898" h="471434">
                <a:moveTo>
                  <a:pt x="0" y="0"/>
                </a:moveTo>
                <a:lnTo>
                  <a:pt x="3503898" y="0"/>
                </a:lnTo>
                <a:lnTo>
                  <a:pt x="3503898" y="471433"/>
                </a:lnTo>
                <a:lnTo>
                  <a:pt x="0" y="4714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TextBox 17"/>
          <p:cNvSpPr txBox="1"/>
          <p:nvPr/>
        </p:nvSpPr>
        <p:spPr>
          <a:xfrm>
            <a:off x="1028700" y="6500982"/>
            <a:ext cx="3320710" cy="1332195"/>
          </a:xfrm>
          <a:prstGeom prst="rect">
            <a:avLst/>
          </a:prstGeom>
        </p:spPr>
        <p:txBody>
          <a:bodyPr lIns="0" tIns="0" rIns="0" bIns="0" rtlCol="0" anchor="t">
            <a:spAutoFit/>
          </a:bodyPr>
          <a:lstStyle/>
          <a:p>
            <a:pPr marL="0" lvl="0" indent="0" algn="l">
              <a:lnSpc>
                <a:spcPts val="2131"/>
              </a:lnSpc>
              <a:spcBef>
                <a:spcPct val="0"/>
              </a:spcBef>
            </a:pPr>
            <a:r>
              <a:rPr lang="en-US" sz="1705">
                <a:solidFill>
                  <a:srgbClr val="000000"/>
                </a:solidFill>
                <a:latin typeface="TT Hoves"/>
                <a:ea typeface="TT Hoves"/>
                <a:cs typeface="TT Hoves"/>
                <a:sym typeface="TT Hoves"/>
              </a:rPr>
              <a:t>IStart the day by greeting my colleagues, grabbing a fresh coffee, going to my desk, turning on my computer, and connecting to the server.</a:t>
            </a:r>
          </a:p>
        </p:txBody>
      </p:sp>
      <p:sp>
        <p:nvSpPr>
          <p:cNvPr id="18" name="TextBox 18"/>
          <p:cNvSpPr txBox="1"/>
          <p:nvPr/>
        </p:nvSpPr>
        <p:spPr>
          <a:xfrm>
            <a:off x="1028700" y="5839272"/>
            <a:ext cx="3956792" cy="289014"/>
          </a:xfrm>
          <a:prstGeom prst="rect">
            <a:avLst/>
          </a:prstGeom>
        </p:spPr>
        <p:txBody>
          <a:bodyPr lIns="0" tIns="0" rIns="0" bIns="0" rtlCol="0" anchor="t">
            <a:spAutoFit/>
          </a:bodyPr>
          <a:lstStyle/>
          <a:p>
            <a:pPr marL="0" lvl="0" indent="0" algn="l">
              <a:lnSpc>
                <a:spcPts val="2316"/>
              </a:lnSpc>
            </a:pPr>
            <a:r>
              <a:rPr lang="en-US" sz="2014" b="1">
                <a:solidFill>
                  <a:srgbClr val="000000"/>
                </a:solidFill>
                <a:latin typeface="TT Hoves Bold"/>
                <a:ea typeface="TT Hoves Bold"/>
                <a:cs typeface="TT Hoves Bold"/>
                <a:sym typeface="TT Hoves Bold"/>
              </a:rPr>
              <a:t>Prepare Workspace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004456" y="302716"/>
            <a:ext cx="13451137" cy="1483210"/>
            <a:chOff x="0" y="0"/>
            <a:chExt cx="3542686" cy="390640"/>
          </a:xfrm>
        </p:grpSpPr>
        <p:sp>
          <p:nvSpPr>
            <p:cNvPr id="3" name="Freeform 3"/>
            <p:cNvSpPr/>
            <p:nvPr/>
          </p:nvSpPr>
          <p:spPr>
            <a:xfrm>
              <a:off x="0" y="0"/>
              <a:ext cx="3542686" cy="390640"/>
            </a:xfrm>
            <a:custGeom>
              <a:avLst/>
              <a:gdLst/>
              <a:ahLst/>
              <a:cxnLst/>
              <a:rect l="l" t="t" r="r" b="b"/>
              <a:pathLst>
                <a:path w="3542686" h="390640">
                  <a:moveTo>
                    <a:pt x="57556" y="0"/>
                  </a:moveTo>
                  <a:lnTo>
                    <a:pt x="3485131" y="0"/>
                  </a:lnTo>
                  <a:cubicBezTo>
                    <a:pt x="3516918" y="0"/>
                    <a:pt x="3542686" y="25769"/>
                    <a:pt x="3542686" y="57556"/>
                  </a:cubicBezTo>
                  <a:lnTo>
                    <a:pt x="3542686" y="333084"/>
                  </a:lnTo>
                  <a:cubicBezTo>
                    <a:pt x="3542686" y="364871"/>
                    <a:pt x="3516918" y="390640"/>
                    <a:pt x="3485131" y="390640"/>
                  </a:cubicBezTo>
                  <a:lnTo>
                    <a:pt x="57556" y="390640"/>
                  </a:lnTo>
                  <a:cubicBezTo>
                    <a:pt x="25769" y="390640"/>
                    <a:pt x="0" y="364871"/>
                    <a:pt x="0" y="333084"/>
                  </a:cubicBezTo>
                  <a:lnTo>
                    <a:pt x="0" y="57556"/>
                  </a:lnTo>
                  <a:cubicBezTo>
                    <a:pt x="0" y="25769"/>
                    <a:pt x="25769" y="0"/>
                    <a:pt x="57556" y="0"/>
                  </a:cubicBezTo>
                  <a:close/>
                </a:path>
              </a:pathLst>
            </a:custGeom>
            <a:solidFill>
              <a:srgbClr val="92B8DD"/>
            </a:solidFill>
          </p:spPr>
        </p:sp>
        <p:sp>
          <p:nvSpPr>
            <p:cNvPr id="4" name="TextBox 4"/>
            <p:cNvSpPr txBox="1"/>
            <p:nvPr/>
          </p:nvSpPr>
          <p:spPr>
            <a:xfrm>
              <a:off x="0" y="-19050"/>
              <a:ext cx="3542686" cy="409690"/>
            </a:xfrm>
            <a:prstGeom prst="rect">
              <a:avLst/>
            </a:prstGeom>
          </p:spPr>
          <p:txBody>
            <a:bodyPr lIns="50800" tIns="50800" rIns="50800" bIns="50800" rtlCol="0" anchor="ctr"/>
            <a:lstStyle/>
            <a:p>
              <a:pPr marL="0" lvl="0" indent="0" algn="ctr">
                <a:lnSpc>
                  <a:spcPts val="2500"/>
                </a:lnSpc>
              </a:pPr>
              <a:endParaRPr/>
            </a:p>
          </p:txBody>
        </p:sp>
      </p:grpSp>
      <p:sp>
        <p:nvSpPr>
          <p:cNvPr id="5" name="Freeform 5"/>
          <p:cNvSpPr/>
          <p:nvPr/>
        </p:nvSpPr>
        <p:spPr>
          <a:xfrm>
            <a:off x="16653114" y="640862"/>
            <a:ext cx="852752" cy="806917"/>
          </a:xfrm>
          <a:custGeom>
            <a:avLst/>
            <a:gdLst/>
            <a:ahLst/>
            <a:cxnLst/>
            <a:rect l="l" t="t" r="r" b="b"/>
            <a:pathLst>
              <a:path w="852752" h="806917">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028700" y="8786866"/>
            <a:ext cx="3503898" cy="471434"/>
          </a:xfrm>
          <a:custGeom>
            <a:avLst/>
            <a:gdLst/>
            <a:ahLst/>
            <a:cxnLst/>
            <a:rect l="l" t="t" r="r" b="b"/>
            <a:pathLst>
              <a:path w="3503898" h="471434">
                <a:moveTo>
                  <a:pt x="0" y="0"/>
                </a:moveTo>
                <a:lnTo>
                  <a:pt x="3503898" y="0"/>
                </a:lnTo>
                <a:lnTo>
                  <a:pt x="3503898" y="471434"/>
                </a:lnTo>
                <a:lnTo>
                  <a:pt x="0" y="47143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a:off x="2419553" y="4160232"/>
            <a:ext cx="3086100" cy="3086100"/>
            <a:chOff x="0" y="0"/>
            <a:chExt cx="812800" cy="812800"/>
          </a:xfrm>
        </p:grpSpPr>
        <p:sp>
          <p:nvSpPr>
            <p:cNvPr id="8" name="Freeform 8"/>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92B8DD"/>
            </a:solidFill>
          </p:spPr>
        </p:sp>
        <p:sp>
          <p:nvSpPr>
            <p:cNvPr id="9" name="TextBox 9"/>
            <p:cNvSpPr txBox="1"/>
            <p:nvPr/>
          </p:nvSpPr>
          <p:spPr>
            <a:xfrm>
              <a:off x="0" y="-19050"/>
              <a:ext cx="812800" cy="831850"/>
            </a:xfrm>
            <a:prstGeom prst="rect">
              <a:avLst/>
            </a:prstGeom>
          </p:spPr>
          <p:txBody>
            <a:bodyPr lIns="50800" tIns="50800" rIns="50800" bIns="50800" rtlCol="0" anchor="ctr"/>
            <a:lstStyle/>
            <a:p>
              <a:pPr algn="ctr">
                <a:lnSpc>
                  <a:spcPts val="2500"/>
                </a:lnSpc>
              </a:pPr>
              <a:r>
                <a:rPr lang="en-US" sz="2000" spc="162">
                  <a:solidFill>
                    <a:srgbClr val="000000"/>
                  </a:solidFill>
                  <a:latin typeface="TT Hoves"/>
                  <a:ea typeface="TT Hoves"/>
                  <a:cs typeface="TT Hoves"/>
                  <a:sym typeface="TT Hoves"/>
                </a:rPr>
                <a:t>Install Windows and configure system security measures on the new intern's computer.</a:t>
              </a:r>
            </a:p>
          </p:txBody>
        </p:sp>
      </p:grpSp>
      <p:grpSp>
        <p:nvGrpSpPr>
          <p:cNvPr id="10" name="Group 10"/>
          <p:cNvGrpSpPr/>
          <p:nvPr/>
        </p:nvGrpSpPr>
        <p:grpSpPr>
          <a:xfrm>
            <a:off x="7487471" y="4160232"/>
            <a:ext cx="3086100" cy="3086100"/>
            <a:chOff x="0" y="0"/>
            <a:chExt cx="812800" cy="812800"/>
          </a:xfrm>
        </p:grpSpPr>
        <p:sp>
          <p:nvSpPr>
            <p:cNvPr id="11" name="Freeform 1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92B8DD"/>
            </a:solidFill>
          </p:spPr>
        </p:sp>
        <p:sp>
          <p:nvSpPr>
            <p:cNvPr id="12" name="TextBox 12"/>
            <p:cNvSpPr txBox="1"/>
            <p:nvPr/>
          </p:nvSpPr>
          <p:spPr>
            <a:xfrm>
              <a:off x="0" y="-19050"/>
              <a:ext cx="812800" cy="831850"/>
            </a:xfrm>
            <a:prstGeom prst="rect">
              <a:avLst/>
            </a:prstGeom>
          </p:spPr>
          <p:txBody>
            <a:bodyPr lIns="50800" tIns="50800" rIns="50800" bIns="50800" rtlCol="0" anchor="ctr"/>
            <a:lstStyle/>
            <a:p>
              <a:pPr algn="ctr">
                <a:lnSpc>
                  <a:spcPts val="2500"/>
                </a:lnSpc>
              </a:pPr>
              <a:r>
                <a:rPr lang="en-US" sz="2000" spc="162">
                  <a:solidFill>
                    <a:srgbClr val="000000"/>
                  </a:solidFill>
                  <a:latin typeface="TT Hoves"/>
                  <a:ea typeface="TT Hoves"/>
                  <a:cs typeface="TT Hoves"/>
                  <a:sym typeface="TT Hoves"/>
                </a:rPr>
                <a:t>Run a test on the company's system to check the server latency.</a:t>
              </a:r>
            </a:p>
          </p:txBody>
        </p:sp>
      </p:grpSp>
      <p:grpSp>
        <p:nvGrpSpPr>
          <p:cNvPr id="13" name="Group 13"/>
          <p:cNvGrpSpPr/>
          <p:nvPr/>
        </p:nvGrpSpPr>
        <p:grpSpPr>
          <a:xfrm>
            <a:off x="12554771" y="4160232"/>
            <a:ext cx="3086100" cy="3086100"/>
            <a:chOff x="0" y="0"/>
            <a:chExt cx="812800" cy="812800"/>
          </a:xfrm>
        </p:grpSpPr>
        <p:sp>
          <p:nvSpPr>
            <p:cNvPr id="14" name="Freeform 1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92B8DD"/>
            </a:solidFill>
          </p:spPr>
        </p:sp>
        <p:sp>
          <p:nvSpPr>
            <p:cNvPr id="15" name="TextBox 15"/>
            <p:cNvSpPr txBox="1"/>
            <p:nvPr/>
          </p:nvSpPr>
          <p:spPr>
            <a:xfrm>
              <a:off x="0" y="-19050"/>
              <a:ext cx="812800" cy="831850"/>
            </a:xfrm>
            <a:prstGeom prst="rect">
              <a:avLst/>
            </a:prstGeom>
          </p:spPr>
          <p:txBody>
            <a:bodyPr lIns="50800" tIns="50800" rIns="50800" bIns="50800" rtlCol="0" anchor="ctr"/>
            <a:lstStyle/>
            <a:p>
              <a:pPr algn="ctr">
                <a:lnSpc>
                  <a:spcPts val="2500"/>
                </a:lnSpc>
              </a:pPr>
              <a:r>
                <a:rPr lang="en-US" sz="2000" spc="162">
                  <a:solidFill>
                    <a:srgbClr val="000000"/>
                  </a:solidFill>
                  <a:latin typeface="TT Hoves"/>
                  <a:ea typeface="TT Hoves"/>
                  <a:cs typeface="TT Hoves"/>
                  <a:sym typeface="TT Hoves"/>
                </a:rPr>
                <a:t>Meet with the company's Chief Financial Officer (CFO) to discuss cloud service pricing.</a:t>
              </a:r>
            </a:p>
          </p:txBody>
        </p:sp>
      </p:grpSp>
      <p:sp>
        <p:nvSpPr>
          <p:cNvPr id="16" name="TextBox 16"/>
          <p:cNvSpPr txBox="1"/>
          <p:nvPr/>
        </p:nvSpPr>
        <p:spPr>
          <a:xfrm>
            <a:off x="6535227" y="490554"/>
            <a:ext cx="7721399" cy="1104867"/>
          </a:xfrm>
          <a:prstGeom prst="rect">
            <a:avLst/>
          </a:prstGeom>
        </p:spPr>
        <p:txBody>
          <a:bodyPr lIns="0" tIns="0" rIns="0" bIns="0" rtlCol="0" anchor="t">
            <a:spAutoFit/>
          </a:bodyPr>
          <a:lstStyle/>
          <a:p>
            <a:pPr marL="0" lvl="0" indent="0" algn="ctr">
              <a:lnSpc>
                <a:spcPts val="8618"/>
              </a:lnSpc>
            </a:pPr>
            <a:r>
              <a:rPr lang="en-US" sz="7494" b="1">
                <a:solidFill>
                  <a:srgbClr val="000000"/>
                </a:solidFill>
                <a:latin typeface="TT Hoves Bold"/>
                <a:ea typeface="TT Hoves Bold"/>
                <a:cs typeface="TT Hoves Bold"/>
                <a:sym typeface="TT Hoves Bold"/>
              </a:rPr>
              <a:t>Morning Tasks</a:t>
            </a:r>
          </a:p>
        </p:txBody>
      </p:sp>
      <p:sp>
        <p:nvSpPr>
          <p:cNvPr id="17" name="TextBox 17"/>
          <p:cNvSpPr txBox="1"/>
          <p:nvPr/>
        </p:nvSpPr>
        <p:spPr>
          <a:xfrm>
            <a:off x="1028700" y="711200"/>
            <a:ext cx="1510928" cy="625484"/>
          </a:xfrm>
          <a:prstGeom prst="rect">
            <a:avLst/>
          </a:prstGeom>
        </p:spPr>
        <p:txBody>
          <a:bodyPr lIns="0" tIns="0" rIns="0" bIns="0" rtlCol="0" anchor="t">
            <a:spAutoFit/>
          </a:bodyPr>
          <a:lstStyle/>
          <a:p>
            <a:pPr marL="0" lvl="0" indent="0" algn="l">
              <a:lnSpc>
                <a:spcPts val="2498"/>
              </a:lnSpc>
            </a:pPr>
            <a:r>
              <a:rPr lang="en-US" sz="1998" spc="161">
                <a:solidFill>
                  <a:srgbClr val="000000"/>
                </a:solidFill>
                <a:latin typeface="TT Hoves"/>
                <a:ea typeface="TT Hoves"/>
                <a:cs typeface="TT Hoves"/>
                <a:sym typeface="TT Hoves"/>
              </a:rPr>
              <a:t>A Day in the Life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80869" y="3085557"/>
            <a:ext cx="13451137" cy="1483210"/>
            <a:chOff x="0" y="0"/>
            <a:chExt cx="3542686" cy="390640"/>
          </a:xfrm>
        </p:grpSpPr>
        <p:sp>
          <p:nvSpPr>
            <p:cNvPr id="3" name="Freeform 3"/>
            <p:cNvSpPr/>
            <p:nvPr/>
          </p:nvSpPr>
          <p:spPr>
            <a:xfrm>
              <a:off x="0" y="0"/>
              <a:ext cx="3542686" cy="390640"/>
            </a:xfrm>
            <a:custGeom>
              <a:avLst/>
              <a:gdLst/>
              <a:ahLst/>
              <a:cxnLst/>
              <a:rect l="l" t="t" r="r" b="b"/>
              <a:pathLst>
                <a:path w="3542686" h="390640">
                  <a:moveTo>
                    <a:pt x="57556" y="0"/>
                  </a:moveTo>
                  <a:lnTo>
                    <a:pt x="3485131" y="0"/>
                  </a:lnTo>
                  <a:cubicBezTo>
                    <a:pt x="3516918" y="0"/>
                    <a:pt x="3542686" y="25769"/>
                    <a:pt x="3542686" y="57556"/>
                  </a:cubicBezTo>
                  <a:lnTo>
                    <a:pt x="3542686" y="333084"/>
                  </a:lnTo>
                  <a:cubicBezTo>
                    <a:pt x="3542686" y="364871"/>
                    <a:pt x="3516918" y="390640"/>
                    <a:pt x="3485131" y="390640"/>
                  </a:cubicBezTo>
                  <a:lnTo>
                    <a:pt x="57556" y="390640"/>
                  </a:lnTo>
                  <a:cubicBezTo>
                    <a:pt x="25769" y="390640"/>
                    <a:pt x="0" y="364871"/>
                    <a:pt x="0" y="333084"/>
                  </a:cubicBezTo>
                  <a:lnTo>
                    <a:pt x="0" y="57556"/>
                  </a:lnTo>
                  <a:cubicBezTo>
                    <a:pt x="0" y="25769"/>
                    <a:pt x="25769" y="0"/>
                    <a:pt x="57556" y="0"/>
                  </a:cubicBezTo>
                  <a:close/>
                </a:path>
              </a:pathLst>
            </a:custGeom>
            <a:solidFill>
              <a:srgbClr val="92B8DD"/>
            </a:solidFill>
          </p:spPr>
        </p:sp>
        <p:sp>
          <p:nvSpPr>
            <p:cNvPr id="4" name="TextBox 4"/>
            <p:cNvSpPr txBox="1"/>
            <p:nvPr/>
          </p:nvSpPr>
          <p:spPr>
            <a:xfrm>
              <a:off x="0" y="-19050"/>
              <a:ext cx="3542686" cy="409690"/>
            </a:xfrm>
            <a:prstGeom prst="rect">
              <a:avLst/>
            </a:prstGeom>
          </p:spPr>
          <p:txBody>
            <a:bodyPr lIns="50800" tIns="50800" rIns="50800" bIns="50800" rtlCol="0" anchor="ctr"/>
            <a:lstStyle/>
            <a:p>
              <a:pPr marL="0" lvl="0" indent="0" algn="ctr">
                <a:lnSpc>
                  <a:spcPts val="2500"/>
                </a:lnSpc>
              </a:pPr>
              <a:endParaRPr/>
            </a:p>
          </p:txBody>
        </p:sp>
      </p:grpSp>
      <p:sp>
        <p:nvSpPr>
          <p:cNvPr id="5" name="TextBox 5"/>
          <p:cNvSpPr txBox="1"/>
          <p:nvPr/>
        </p:nvSpPr>
        <p:spPr>
          <a:xfrm>
            <a:off x="5283301" y="3289000"/>
            <a:ext cx="7721399" cy="1104867"/>
          </a:xfrm>
          <a:prstGeom prst="rect">
            <a:avLst/>
          </a:prstGeom>
        </p:spPr>
        <p:txBody>
          <a:bodyPr lIns="0" tIns="0" rIns="0" bIns="0" rtlCol="0" anchor="t">
            <a:spAutoFit/>
          </a:bodyPr>
          <a:lstStyle/>
          <a:p>
            <a:pPr marL="0" lvl="0" indent="0" algn="ctr">
              <a:lnSpc>
                <a:spcPts val="8618"/>
              </a:lnSpc>
            </a:pPr>
            <a:r>
              <a:rPr lang="en-US" sz="7494" b="1">
                <a:solidFill>
                  <a:srgbClr val="000000"/>
                </a:solidFill>
                <a:latin typeface="TT Hoves Bold"/>
                <a:ea typeface="TT Hoves Bold"/>
                <a:cs typeface="TT Hoves Bold"/>
                <a:sym typeface="TT Hoves Bold"/>
              </a:rPr>
              <a:t>Afternoon</a:t>
            </a:r>
          </a:p>
        </p:txBody>
      </p:sp>
      <p:sp>
        <p:nvSpPr>
          <p:cNvPr id="6" name="TextBox 6"/>
          <p:cNvSpPr txBox="1"/>
          <p:nvPr/>
        </p:nvSpPr>
        <p:spPr>
          <a:xfrm>
            <a:off x="4031375" y="5133975"/>
            <a:ext cx="10225251" cy="1568459"/>
          </a:xfrm>
          <a:prstGeom prst="rect">
            <a:avLst/>
          </a:prstGeom>
        </p:spPr>
        <p:txBody>
          <a:bodyPr lIns="0" tIns="0" rIns="0" bIns="0" rtlCol="0" anchor="t">
            <a:spAutoFit/>
          </a:bodyPr>
          <a:lstStyle/>
          <a:p>
            <a:pPr marL="0" lvl="0" indent="0" algn="ctr">
              <a:lnSpc>
                <a:spcPts val="2498"/>
              </a:lnSpc>
              <a:spcBef>
                <a:spcPct val="0"/>
              </a:spcBef>
            </a:pPr>
            <a:r>
              <a:rPr lang="en-US" sz="1998" spc="161">
                <a:solidFill>
                  <a:srgbClr val="000000"/>
                </a:solidFill>
                <a:latin typeface="TT Hoves"/>
                <a:ea typeface="TT Hoves"/>
                <a:cs typeface="TT Hoves"/>
                <a:sym typeface="TT Hoves"/>
              </a:rPr>
              <a:t>The afternoon brings a change of pace. The Systems Administrator attends the team's weekly alignment meeting to discuss ongoing projects and future implementations. Back at his desk, he continues working on his to-do list when, suddenly, an alert is triggered: the server is experiencing critical intermittent failures.   </a:t>
            </a:r>
          </a:p>
        </p:txBody>
      </p:sp>
      <p:sp>
        <p:nvSpPr>
          <p:cNvPr id="7" name="TextBox 7"/>
          <p:cNvSpPr txBox="1"/>
          <p:nvPr/>
        </p:nvSpPr>
        <p:spPr>
          <a:xfrm>
            <a:off x="1028700" y="711200"/>
            <a:ext cx="1510928" cy="625484"/>
          </a:xfrm>
          <a:prstGeom prst="rect">
            <a:avLst/>
          </a:prstGeom>
        </p:spPr>
        <p:txBody>
          <a:bodyPr lIns="0" tIns="0" rIns="0" bIns="0" rtlCol="0" anchor="t">
            <a:spAutoFit/>
          </a:bodyPr>
          <a:lstStyle/>
          <a:p>
            <a:pPr marL="0" lvl="0" indent="0" algn="l">
              <a:lnSpc>
                <a:spcPts val="2498"/>
              </a:lnSpc>
            </a:pPr>
            <a:r>
              <a:rPr lang="en-US" sz="1998" spc="161">
                <a:solidFill>
                  <a:srgbClr val="000000"/>
                </a:solidFill>
                <a:latin typeface="TT Hoves"/>
                <a:ea typeface="TT Hoves"/>
                <a:cs typeface="TT Hoves"/>
                <a:sym typeface="TT Hoves"/>
              </a:rPr>
              <a:t>Liceria</a:t>
            </a:r>
          </a:p>
          <a:p>
            <a:pPr marL="0" lvl="0" indent="0" algn="l">
              <a:lnSpc>
                <a:spcPts val="2498"/>
              </a:lnSpc>
            </a:pPr>
            <a:r>
              <a:rPr lang="en-US" sz="1998" spc="161">
                <a:solidFill>
                  <a:srgbClr val="000000"/>
                </a:solidFill>
                <a:latin typeface="TT Hoves"/>
                <a:ea typeface="TT Hoves"/>
                <a:cs typeface="TT Hoves"/>
                <a:sym typeface="TT Hoves"/>
              </a:rPr>
              <a:t>&amp; Co.</a:t>
            </a:r>
          </a:p>
        </p:txBody>
      </p:sp>
      <p:sp>
        <p:nvSpPr>
          <p:cNvPr id="8" name="Freeform 8"/>
          <p:cNvSpPr/>
          <p:nvPr/>
        </p:nvSpPr>
        <p:spPr>
          <a:xfrm>
            <a:off x="16653114" y="640862"/>
            <a:ext cx="852752" cy="806917"/>
          </a:xfrm>
          <a:custGeom>
            <a:avLst/>
            <a:gdLst/>
            <a:ahLst/>
            <a:cxnLst/>
            <a:rect l="l" t="t" r="r" b="b"/>
            <a:pathLst>
              <a:path w="852752" h="806917">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1028700" y="8786866"/>
            <a:ext cx="3503898" cy="471434"/>
          </a:xfrm>
          <a:custGeom>
            <a:avLst/>
            <a:gdLst/>
            <a:ahLst/>
            <a:cxnLst/>
            <a:rect l="l" t="t" r="r" b="b"/>
            <a:pathLst>
              <a:path w="3503898" h="471434">
                <a:moveTo>
                  <a:pt x="0" y="0"/>
                </a:moveTo>
                <a:lnTo>
                  <a:pt x="3503898" y="0"/>
                </a:lnTo>
                <a:lnTo>
                  <a:pt x="3503898" y="471434"/>
                </a:lnTo>
                <a:lnTo>
                  <a:pt x="0" y="47143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92B8DD"/>
        </a:solidFill>
        <a:effectLst/>
      </p:bgPr>
    </p:bg>
    <p:spTree>
      <p:nvGrpSpPr>
        <p:cNvPr id="1" name=""/>
        <p:cNvGrpSpPr/>
        <p:nvPr/>
      </p:nvGrpSpPr>
      <p:grpSpPr>
        <a:xfrm>
          <a:off x="0" y="0"/>
          <a:ext cx="0" cy="0"/>
          <a:chOff x="0" y="0"/>
          <a:chExt cx="0" cy="0"/>
        </a:xfrm>
      </p:grpSpPr>
      <p:sp>
        <p:nvSpPr>
          <p:cNvPr id="2" name="TextBox 2"/>
          <p:cNvSpPr txBox="1"/>
          <p:nvPr/>
        </p:nvSpPr>
        <p:spPr>
          <a:xfrm>
            <a:off x="1298646" y="2164500"/>
            <a:ext cx="7665808" cy="2190717"/>
          </a:xfrm>
          <a:prstGeom prst="rect">
            <a:avLst/>
          </a:prstGeom>
        </p:spPr>
        <p:txBody>
          <a:bodyPr lIns="0" tIns="0" rIns="0" bIns="0" rtlCol="0" anchor="t">
            <a:spAutoFit/>
          </a:bodyPr>
          <a:lstStyle/>
          <a:p>
            <a:pPr marL="0" lvl="0" indent="0" algn="l">
              <a:lnSpc>
                <a:spcPts val="8618"/>
              </a:lnSpc>
            </a:pPr>
            <a:r>
              <a:rPr lang="en-US" sz="7494" b="1">
                <a:solidFill>
                  <a:srgbClr val="000000"/>
                </a:solidFill>
                <a:latin typeface="TT Hoves Bold"/>
                <a:ea typeface="TT Hoves Bold"/>
                <a:cs typeface="TT Hoves Bold"/>
                <a:sym typeface="TT Hoves Bold"/>
              </a:rPr>
              <a:t>Problem Resolution</a:t>
            </a:r>
          </a:p>
        </p:txBody>
      </p:sp>
      <p:sp>
        <p:nvSpPr>
          <p:cNvPr id="3" name="TextBox 3"/>
          <p:cNvSpPr txBox="1"/>
          <p:nvPr/>
        </p:nvSpPr>
        <p:spPr>
          <a:xfrm>
            <a:off x="1028700" y="720725"/>
            <a:ext cx="1510928" cy="761227"/>
          </a:xfrm>
          <a:prstGeom prst="rect">
            <a:avLst/>
          </a:prstGeom>
        </p:spPr>
        <p:txBody>
          <a:bodyPr lIns="0" tIns="0" rIns="0" bIns="0" rtlCol="0" anchor="t">
            <a:spAutoFit/>
          </a:bodyPr>
          <a:lstStyle/>
          <a:p>
            <a:pPr marL="0" lvl="0" indent="0" algn="l">
              <a:lnSpc>
                <a:spcPts val="2027"/>
              </a:lnSpc>
            </a:pPr>
            <a:r>
              <a:rPr lang="en-US" sz="1621" spc="131">
                <a:solidFill>
                  <a:srgbClr val="000000"/>
                </a:solidFill>
                <a:latin typeface="TT Hoves"/>
                <a:ea typeface="TT Hoves"/>
                <a:cs typeface="TT Hoves"/>
                <a:sym typeface="TT Hoves"/>
              </a:rPr>
              <a:t>A Day in the Life</a:t>
            </a:r>
          </a:p>
          <a:p>
            <a:pPr marL="0" lvl="0" indent="0" algn="l">
              <a:lnSpc>
                <a:spcPts val="2027"/>
              </a:lnSpc>
            </a:pPr>
            <a:r>
              <a:rPr lang="en-US" sz="1621" spc="131">
                <a:solidFill>
                  <a:srgbClr val="000000"/>
                </a:solidFill>
                <a:latin typeface="TT Hoves"/>
                <a:ea typeface="TT Hoves"/>
                <a:cs typeface="TT Hoves"/>
                <a:sym typeface="TT Hoves"/>
              </a:rPr>
              <a:t>of a SysAdmin</a:t>
            </a:r>
          </a:p>
        </p:txBody>
      </p:sp>
      <p:sp>
        <p:nvSpPr>
          <p:cNvPr id="4" name="Freeform 4"/>
          <p:cNvSpPr/>
          <p:nvPr/>
        </p:nvSpPr>
        <p:spPr>
          <a:xfrm>
            <a:off x="16653114" y="640862"/>
            <a:ext cx="852752" cy="806917"/>
          </a:xfrm>
          <a:custGeom>
            <a:avLst/>
            <a:gdLst/>
            <a:ahLst/>
            <a:cxnLst/>
            <a:rect l="l" t="t" r="r" b="b"/>
            <a:pathLst>
              <a:path w="852752" h="806917">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398897" y="6666711"/>
            <a:ext cx="3103664" cy="761227"/>
          </a:xfrm>
          <a:prstGeom prst="rect">
            <a:avLst/>
          </a:prstGeom>
        </p:spPr>
        <p:txBody>
          <a:bodyPr lIns="0" tIns="0" rIns="0" bIns="0" rtlCol="0" anchor="t">
            <a:spAutoFit/>
          </a:bodyPr>
          <a:lstStyle/>
          <a:p>
            <a:pPr marL="0" lvl="0" indent="0" algn="l">
              <a:lnSpc>
                <a:spcPts val="2027"/>
              </a:lnSpc>
              <a:spcBef>
                <a:spcPct val="0"/>
              </a:spcBef>
            </a:pPr>
            <a:r>
              <a:rPr lang="en-US" sz="1621">
                <a:solidFill>
                  <a:srgbClr val="000000"/>
                </a:solidFill>
                <a:latin typeface="TT Hoves"/>
                <a:ea typeface="TT Hoves"/>
                <a:cs typeface="TT Hoves"/>
                <a:sym typeface="TT Hoves"/>
              </a:rPr>
              <a:t>Employees begin complaining that part of the company's database has been deleted. </a:t>
            </a:r>
          </a:p>
        </p:txBody>
      </p:sp>
      <p:sp>
        <p:nvSpPr>
          <p:cNvPr id="6" name="TextBox 6"/>
          <p:cNvSpPr txBox="1"/>
          <p:nvPr/>
        </p:nvSpPr>
        <p:spPr>
          <a:xfrm>
            <a:off x="5956105" y="6666711"/>
            <a:ext cx="3187895" cy="2047102"/>
          </a:xfrm>
          <a:prstGeom prst="rect">
            <a:avLst/>
          </a:prstGeom>
        </p:spPr>
        <p:txBody>
          <a:bodyPr lIns="0" tIns="0" rIns="0" bIns="0" rtlCol="0" anchor="t">
            <a:spAutoFit/>
          </a:bodyPr>
          <a:lstStyle/>
          <a:p>
            <a:pPr marL="0" lvl="0" indent="0" algn="l">
              <a:lnSpc>
                <a:spcPts val="2027"/>
              </a:lnSpc>
              <a:spcBef>
                <a:spcPct val="0"/>
              </a:spcBef>
            </a:pPr>
            <a:r>
              <a:rPr lang="en-US" sz="1621">
                <a:solidFill>
                  <a:srgbClr val="000000"/>
                </a:solidFill>
                <a:latin typeface="TT Hoves"/>
                <a:ea typeface="TT Hoves"/>
                <a:cs typeface="TT Hoves"/>
                <a:sym typeface="TT Hoves"/>
              </a:rPr>
              <a:t>Run diagnostic tools to identify the root cause. Check server logs, network traffic, and recent configuration changes to pinpoint the problem source. He quickly diagnoses the problem. The company's AI deleted part of the database.</a:t>
            </a:r>
          </a:p>
        </p:txBody>
      </p:sp>
      <p:sp>
        <p:nvSpPr>
          <p:cNvPr id="7" name="TextBox 7"/>
          <p:cNvSpPr txBox="1"/>
          <p:nvPr/>
        </p:nvSpPr>
        <p:spPr>
          <a:xfrm>
            <a:off x="10328383" y="6666711"/>
            <a:ext cx="3156501" cy="1275577"/>
          </a:xfrm>
          <a:prstGeom prst="rect">
            <a:avLst/>
          </a:prstGeom>
        </p:spPr>
        <p:txBody>
          <a:bodyPr lIns="0" tIns="0" rIns="0" bIns="0" rtlCol="0" anchor="t">
            <a:spAutoFit/>
          </a:bodyPr>
          <a:lstStyle/>
          <a:p>
            <a:pPr marL="0" lvl="0" indent="0" algn="l">
              <a:lnSpc>
                <a:spcPts val="2027"/>
              </a:lnSpc>
              <a:spcBef>
                <a:spcPct val="0"/>
              </a:spcBef>
            </a:pPr>
            <a:r>
              <a:rPr lang="en-US" sz="1621">
                <a:solidFill>
                  <a:srgbClr val="000000"/>
                </a:solidFill>
                <a:latin typeface="TT Hoves"/>
                <a:ea typeface="TT Hoves"/>
                <a:cs typeface="TT Hoves"/>
                <a:sym typeface="TT Hoves"/>
              </a:rPr>
              <a:t>The Systems Administrator then coordinates with the network team and assures them that everything is fine, as he backed up the database the previous day.</a:t>
            </a:r>
          </a:p>
        </p:txBody>
      </p:sp>
      <p:sp>
        <p:nvSpPr>
          <p:cNvPr id="8" name="TextBox 8"/>
          <p:cNvSpPr txBox="1"/>
          <p:nvPr/>
        </p:nvSpPr>
        <p:spPr>
          <a:xfrm>
            <a:off x="14344010" y="6666711"/>
            <a:ext cx="3161857" cy="1018402"/>
          </a:xfrm>
          <a:prstGeom prst="rect">
            <a:avLst/>
          </a:prstGeom>
        </p:spPr>
        <p:txBody>
          <a:bodyPr lIns="0" tIns="0" rIns="0" bIns="0" rtlCol="0" anchor="t">
            <a:spAutoFit/>
          </a:bodyPr>
          <a:lstStyle/>
          <a:p>
            <a:pPr marL="0" lvl="0" indent="0" algn="l">
              <a:lnSpc>
                <a:spcPts val="2027"/>
              </a:lnSpc>
              <a:spcBef>
                <a:spcPct val="0"/>
              </a:spcBef>
            </a:pPr>
            <a:r>
              <a:rPr lang="en-US" sz="1621">
                <a:solidFill>
                  <a:srgbClr val="000000"/>
                </a:solidFill>
                <a:latin typeface="TT Hoves"/>
                <a:ea typeface="TT Hoves"/>
                <a:cs typeface="TT Hoves"/>
                <a:sym typeface="TT Hoves"/>
              </a:rPr>
              <a:t>He then documents the incident and updates the monitoring thresholds to detect similar problems earlier in the future.</a:t>
            </a:r>
          </a:p>
        </p:txBody>
      </p:sp>
      <p:grpSp>
        <p:nvGrpSpPr>
          <p:cNvPr id="9" name="Group 9"/>
          <p:cNvGrpSpPr/>
          <p:nvPr/>
        </p:nvGrpSpPr>
        <p:grpSpPr>
          <a:xfrm>
            <a:off x="-951648" y="5516068"/>
            <a:ext cx="18348348" cy="730280"/>
            <a:chOff x="0" y="0"/>
            <a:chExt cx="4832487" cy="192337"/>
          </a:xfrm>
        </p:grpSpPr>
        <p:sp>
          <p:nvSpPr>
            <p:cNvPr id="10" name="Freeform 10"/>
            <p:cNvSpPr/>
            <p:nvPr/>
          </p:nvSpPr>
          <p:spPr>
            <a:xfrm>
              <a:off x="0" y="0"/>
              <a:ext cx="4832487" cy="192337"/>
            </a:xfrm>
            <a:custGeom>
              <a:avLst/>
              <a:gdLst/>
              <a:ahLst/>
              <a:cxnLst/>
              <a:rect l="l" t="t" r="r" b="b"/>
              <a:pathLst>
                <a:path w="4832487" h="192337">
                  <a:moveTo>
                    <a:pt x="42194" y="0"/>
                  </a:moveTo>
                  <a:lnTo>
                    <a:pt x="4790293" y="0"/>
                  </a:lnTo>
                  <a:cubicBezTo>
                    <a:pt x="4801483" y="0"/>
                    <a:pt x="4812216" y="4445"/>
                    <a:pt x="4820129" y="12358"/>
                  </a:cubicBezTo>
                  <a:cubicBezTo>
                    <a:pt x="4828041" y="20271"/>
                    <a:pt x="4832487" y="31004"/>
                    <a:pt x="4832487" y="42194"/>
                  </a:cubicBezTo>
                  <a:lnTo>
                    <a:pt x="4832487" y="150143"/>
                  </a:lnTo>
                  <a:cubicBezTo>
                    <a:pt x="4832487" y="161334"/>
                    <a:pt x="4828041" y="172066"/>
                    <a:pt x="4820129" y="179979"/>
                  </a:cubicBezTo>
                  <a:cubicBezTo>
                    <a:pt x="4812216" y="187892"/>
                    <a:pt x="4801483" y="192337"/>
                    <a:pt x="4790293" y="192337"/>
                  </a:cubicBezTo>
                  <a:lnTo>
                    <a:pt x="42194" y="192337"/>
                  </a:lnTo>
                  <a:cubicBezTo>
                    <a:pt x="31004" y="192337"/>
                    <a:pt x="20271" y="187892"/>
                    <a:pt x="12358" y="179979"/>
                  </a:cubicBezTo>
                  <a:cubicBezTo>
                    <a:pt x="4445" y="172066"/>
                    <a:pt x="0" y="161334"/>
                    <a:pt x="0" y="150143"/>
                  </a:cubicBezTo>
                  <a:lnTo>
                    <a:pt x="0" y="42194"/>
                  </a:lnTo>
                  <a:cubicBezTo>
                    <a:pt x="0" y="31004"/>
                    <a:pt x="4445" y="20271"/>
                    <a:pt x="12358" y="12358"/>
                  </a:cubicBezTo>
                  <a:cubicBezTo>
                    <a:pt x="20271" y="4445"/>
                    <a:pt x="31004" y="0"/>
                    <a:pt x="42194" y="0"/>
                  </a:cubicBezTo>
                  <a:close/>
                </a:path>
              </a:pathLst>
            </a:custGeom>
            <a:solidFill>
              <a:srgbClr val="FFFFFF"/>
            </a:solidFill>
          </p:spPr>
        </p:sp>
        <p:sp>
          <p:nvSpPr>
            <p:cNvPr id="11" name="TextBox 11"/>
            <p:cNvSpPr txBox="1"/>
            <p:nvPr/>
          </p:nvSpPr>
          <p:spPr>
            <a:xfrm>
              <a:off x="0" y="-19050"/>
              <a:ext cx="4832487" cy="211387"/>
            </a:xfrm>
            <a:prstGeom prst="rect">
              <a:avLst/>
            </a:prstGeom>
          </p:spPr>
          <p:txBody>
            <a:bodyPr lIns="50800" tIns="50800" rIns="50800" bIns="50800" rtlCol="0" anchor="ctr"/>
            <a:lstStyle/>
            <a:p>
              <a:pPr marL="0" lvl="0" indent="0" algn="ctr">
                <a:lnSpc>
                  <a:spcPts val="2500"/>
                </a:lnSpc>
              </a:pPr>
              <a:endParaRPr/>
            </a:p>
          </p:txBody>
        </p:sp>
      </p:grpSp>
      <p:sp>
        <p:nvSpPr>
          <p:cNvPr id="12" name="TextBox 12"/>
          <p:cNvSpPr txBox="1"/>
          <p:nvPr/>
        </p:nvSpPr>
        <p:spPr>
          <a:xfrm>
            <a:off x="1398897" y="5711346"/>
            <a:ext cx="2639703" cy="359073"/>
          </a:xfrm>
          <a:prstGeom prst="rect">
            <a:avLst/>
          </a:prstGeom>
        </p:spPr>
        <p:txBody>
          <a:bodyPr wrap="square" lIns="0" tIns="0" rIns="0" bIns="0" rtlCol="0" anchor="t">
            <a:spAutoFit/>
          </a:bodyPr>
          <a:lstStyle/>
          <a:p>
            <a:pPr marL="0" lvl="0" indent="0" algn="l">
              <a:lnSpc>
                <a:spcPts val="2767"/>
              </a:lnSpc>
            </a:pPr>
            <a:r>
              <a:rPr lang="en-US" sz="2406" b="1" dirty="0">
                <a:solidFill>
                  <a:srgbClr val="000000"/>
                </a:solidFill>
                <a:latin typeface="TT Hoves Bold"/>
                <a:ea typeface="TT Hoves Bold"/>
                <a:cs typeface="TT Hoves Bold"/>
                <a:sym typeface="TT Hoves Bold"/>
              </a:rPr>
              <a:t>Alert Detected</a:t>
            </a:r>
          </a:p>
        </p:txBody>
      </p:sp>
      <p:sp>
        <p:nvSpPr>
          <p:cNvPr id="13" name="TextBox 13"/>
          <p:cNvSpPr txBox="1"/>
          <p:nvPr/>
        </p:nvSpPr>
        <p:spPr>
          <a:xfrm>
            <a:off x="5956105" y="5711346"/>
            <a:ext cx="1724420" cy="339132"/>
          </a:xfrm>
          <a:prstGeom prst="rect">
            <a:avLst/>
          </a:prstGeom>
        </p:spPr>
        <p:txBody>
          <a:bodyPr lIns="0" tIns="0" rIns="0" bIns="0" rtlCol="0" anchor="t">
            <a:spAutoFit/>
          </a:bodyPr>
          <a:lstStyle/>
          <a:p>
            <a:pPr marL="0" lvl="0" indent="0" algn="l">
              <a:lnSpc>
                <a:spcPts val="2767"/>
              </a:lnSpc>
            </a:pPr>
            <a:r>
              <a:rPr lang="en-US" sz="2406" b="1">
                <a:solidFill>
                  <a:srgbClr val="000000"/>
                </a:solidFill>
                <a:latin typeface="TT Hoves Bold"/>
                <a:ea typeface="TT Hoves Bold"/>
                <a:cs typeface="TT Hoves Bold"/>
                <a:sym typeface="TT Hoves Bold"/>
              </a:rPr>
              <a:t>Diagnose</a:t>
            </a:r>
          </a:p>
        </p:txBody>
      </p:sp>
      <p:sp>
        <p:nvSpPr>
          <p:cNvPr id="14" name="TextBox 14"/>
          <p:cNvSpPr txBox="1"/>
          <p:nvPr/>
        </p:nvSpPr>
        <p:spPr>
          <a:xfrm>
            <a:off x="10328383" y="5711346"/>
            <a:ext cx="2926467" cy="339132"/>
          </a:xfrm>
          <a:prstGeom prst="rect">
            <a:avLst/>
          </a:prstGeom>
        </p:spPr>
        <p:txBody>
          <a:bodyPr lIns="0" tIns="0" rIns="0" bIns="0" rtlCol="0" anchor="t">
            <a:spAutoFit/>
          </a:bodyPr>
          <a:lstStyle/>
          <a:p>
            <a:pPr marL="0" lvl="0" indent="0" algn="l">
              <a:lnSpc>
                <a:spcPts val="2767"/>
              </a:lnSpc>
            </a:pPr>
            <a:r>
              <a:rPr lang="en-US" sz="2406" b="1">
                <a:solidFill>
                  <a:srgbClr val="000000"/>
                </a:solidFill>
                <a:latin typeface="TT Hoves Bold"/>
                <a:ea typeface="TT Hoves Bold"/>
                <a:cs typeface="TT Hoves Bold"/>
                <a:sym typeface="TT Hoves Bold"/>
              </a:rPr>
              <a:t>Implement Fix</a:t>
            </a:r>
          </a:p>
        </p:txBody>
      </p:sp>
      <p:sp>
        <p:nvSpPr>
          <p:cNvPr id="15" name="TextBox 15"/>
          <p:cNvSpPr txBox="1"/>
          <p:nvPr/>
        </p:nvSpPr>
        <p:spPr>
          <a:xfrm>
            <a:off x="14344010" y="5711346"/>
            <a:ext cx="2926467" cy="339132"/>
          </a:xfrm>
          <a:prstGeom prst="rect">
            <a:avLst/>
          </a:prstGeom>
        </p:spPr>
        <p:txBody>
          <a:bodyPr lIns="0" tIns="0" rIns="0" bIns="0" rtlCol="0" anchor="t">
            <a:spAutoFit/>
          </a:bodyPr>
          <a:lstStyle/>
          <a:p>
            <a:pPr marL="0" lvl="0" indent="0" algn="l">
              <a:lnSpc>
                <a:spcPts val="2767"/>
              </a:lnSpc>
            </a:pPr>
            <a:r>
              <a:rPr lang="en-US" sz="2406" b="1">
                <a:solidFill>
                  <a:srgbClr val="000000"/>
                </a:solidFill>
                <a:latin typeface="TT Hoves Bold"/>
                <a:ea typeface="TT Hoves Bold"/>
                <a:cs typeface="TT Hoves Bold"/>
                <a:sym typeface="TT Hoves Bold"/>
              </a:rPr>
              <a:t>Verify &amp; Document</a:t>
            </a:r>
          </a:p>
        </p:txBody>
      </p:sp>
      <p:sp>
        <p:nvSpPr>
          <p:cNvPr id="16" name="Freeform 16"/>
          <p:cNvSpPr/>
          <p:nvPr/>
        </p:nvSpPr>
        <p:spPr>
          <a:xfrm>
            <a:off x="13341779" y="3704370"/>
            <a:ext cx="3503898" cy="471434"/>
          </a:xfrm>
          <a:custGeom>
            <a:avLst/>
            <a:gdLst/>
            <a:ahLst/>
            <a:cxnLst/>
            <a:rect l="l" t="t" r="r" b="b"/>
            <a:pathLst>
              <a:path w="3503898" h="471434">
                <a:moveTo>
                  <a:pt x="0" y="0"/>
                </a:moveTo>
                <a:lnTo>
                  <a:pt x="3503899" y="0"/>
                </a:lnTo>
                <a:lnTo>
                  <a:pt x="3503899" y="471433"/>
                </a:lnTo>
                <a:lnTo>
                  <a:pt x="0" y="4714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653114" y="640862"/>
            <a:ext cx="852752" cy="806917"/>
          </a:xfrm>
          <a:custGeom>
            <a:avLst/>
            <a:gdLst/>
            <a:ahLst/>
            <a:cxnLst/>
            <a:rect l="l" t="t" r="r" b="b"/>
            <a:pathLst>
              <a:path w="852752" h="806917">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666012" y="8803790"/>
            <a:ext cx="13451137" cy="1483210"/>
            <a:chOff x="0" y="0"/>
            <a:chExt cx="3542686" cy="390640"/>
          </a:xfrm>
        </p:grpSpPr>
        <p:sp>
          <p:nvSpPr>
            <p:cNvPr id="4" name="Freeform 4"/>
            <p:cNvSpPr/>
            <p:nvPr/>
          </p:nvSpPr>
          <p:spPr>
            <a:xfrm>
              <a:off x="0" y="0"/>
              <a:ext cx="3542686" cy="390640"/>
            </a:xfrm>
            <a:custGeom>
              <a:avLst/>
              <a:gdLst/>
              <a:ahLst/>
              <a:cxnLst/>
              <a:rect l="l" t="t" r="r" b="b"/>
              <a:pathLst>
                <a:path w="3542686" h="390640">
                  <a:moveTo>
                    <a:pt x="57556" y="0"/>
                  </a:moveTo>
                  <a:lnTo>
                    <a:pt x="3485131" y="0"/>
                  </a:lnTo>
                  <a:cubicBezTo>
                    <a:pt x="3516918" y="0"/>
                    <a:pt x="3542686" y="25769"/>
                    <a:pt x="3542686" y="57556"/>
                  </a:cubicBezTo>
                  <a:lnTo>
                    <a:pt x="3542686" y="333084"/>
                  </a:lnTo>
                  <a:cubicBezTo>
                    <a:pt x="3542686" y="364871"/>
                    <a:pt x="3516918" y="390640"/>
                    <a:pt x="3485131" y="390640"/>
                  </a:cubicBezTo>
                  <a:lnTo>
                    <a:pt x="57556" y="390640"/>
                  </a:lnTo>
                  <a:cubicBezTo>
                    <a:pt x="25769" y="390640"/>
                    <a:pt x="0" y="364871"/>
                    <a:pt x="0" y="333084"/>
                  </a:cubicBezTo>
                  <a:lnTo>
                    <a:pt x="0" y="57556"/>
                  </a:lnTo>
                  <a:cubicBezTo>
                    <a:pt x="0" y="25769"/>
                    <a:pt x="25769" y="0"/>
                    <a:pt x="57556" y="0"/>
                  </a:cubicBezTo>
                  <a:close/>
                </a:path>
              </a:pathLst>
            </a:custGeom>
            <a:solidFill>
              <a:srgbClr val="92B8DD"/>
            </a:solidFill>
          </p:spPr>
        </p:sp>
        <p:sp>
          <p:nvSpPr>
            <p:cNvPr id="5" name="TextBox 5"/>
            <p:cNvSpPr txBox="1"/>
            <p:nvPr/>
          </p:nvSpPr>
          <p:spPr>
            <a:xfrm>
              <a:off x="0" y="-19050"/>
              <a:ext cx="3542686" cy="409690"/>
            </a:xfrm>
            <a:prstGeom prst="rect">
              <a:avLst/>
            </a:prstGeom>
          </p:spPr>
          <p:txBody>
            <a:bodyPr lIns="50800" tIns="50800" rIns="50800" bIns="50800" rtlCol="0" anchor="ctr"/>
            <a:lstStyle/>
            <a:p>
              <a:pPr marL="0" lvl="0" indent="0" algn="ctr">
                <a:lnSpc>
                  <a:spcPts val="2500"/>
                </a:lnSpc>
              </a:pPr>
              <a:endParaRPr/>
            </a:p>
          </p:txBody>
        </p:sp>
      </p:grpSp>
      <p:grpSp>
        <p:nvGrpSpPr>
          <p:cNvPr id="6" name="Group 6"/>
          <p:cNvGrpSpPr/>
          <p:nvPr/>
        </p:nvGrpSpPr>
        <p:grpSpPr>
          <a:xfrm>
            <a:off x="13006463" y="3019842"/>
            <a:ext cx="1833265" cy="1833265"/>
            <a:chOff x="0" y="0"/>
            <a:chExt cx="560044" cy="560044"/>
          </a:xfrm>
        </p:grpSpPr>
        <p:sp>
          <p:nvSpPr>
            <p:cNvPr id="7" name="Freeform 7"/>
            <p:cNvSpPr/>
            <p:nvPr/>
          </p:nvSpPr>
          <p:spPr>
            <a:xfrm>
              <a:off x="0" y="0"/>
              <a:ext cx="560044" cy="560044"/>
            </a:xfrm>
            <a:custGeom>
              <a:avLst/>
              <a:gdLst/>
              <a:ahLst/>
              <a:cxnLst/>
              <a:rect l="l" t="t" r="r" b="b"/>
              <a:pathLst>
                <a:path w="560044" h="560044">
                  <a:moveTo>
                    <a:pt x="0" y="0"/>
                  </a:moveTo>
                  <a:lnTo>
                    <a:pt x="560044" y="0"/>
                  </a:lnTo>
                  <a:lnTo>
                    <a:pt x="560044" y="560044"/>
                  </a:lnTo>
                  <a:lnTo>
                    <a:pt x="0" y="560044"/>
                  </a:lnTo>
                  <a:close/>
                </a:path>
              </a:pathLst>
            </a:custGeom>
            <a:solidFill>
              <a:srgbClr val="92B8DD"/>
            </a:solidFill>
          </p:spPr>
        </p:sp>
        <p:sp>
          <p:nvSpPr>
            <p:cNvPr id="8" name="TextBox 8"/>
            <p:cNvSpPr txBox="1"/>
            <p:nvPr/>
          </p:nvSpPr>
          <p:spPr>
            <a:xfrm>
              <a:off x="0" y="-19050"/>
              <a:ext cx="560044" cy="579094"/>
            </a:xfrm>
            <a:prstGeom prst="rect">
              <a:avLst/>
            </a:prstGeom>
          </p:spPr>
          <p:txBody>
            <a:bodyPr lIns="50800" tIns="50800" rIns="50800" bIns="50800" rtlCol="0" anchor="ctr"/>
            <a:lstStyle/>
            <a:p>
              <a:pPr marL="0" lvl="0" indent="0" algn="ctr">
                <a:lnSpc>
                  <a:spcPts val="2500"/>
                </a:lnSpc>
              </a:pPr>
              <a:endParaRPr/>
            </a:p>
          </p:txBody>
        </p:sp>
      </p:grpSp>
      <p:grpSp>
        <p:nvGrpSpPr>
          <p:cNvPr id="9" name="Group 9"/>
          <p:cNvGrpSpPr/>
          <p:nvPr/>
        </p:nvGrpSpPr>
        <p:grpSpPr>
          <a:xfrm>
            <a:off x="7821594" y="3019842"/>
            <a:ext cx="1833265" cy="1833265"/>
            <a:chOff x="0" y="0"/>
            <a:chExt cx="560044" cy="560044"/>
          </a:xfrm>
        </p:grpSpPr>
        <p:sp>
          <p:nvSpPr>
            <p:cNvPr id="10" name="Freeform 10"/>
            <p:cNvSpPr/>
            <p:nvPr/>
          </p:nvSpPr>
          <p:spPr>
            <a:xfrm>
              <a:off x="0" y="0"/>
              <a:ext cx="560044" cy="560044"/>
            </a:xfrm>
            <a:custGeom>
              <a:avLst/>
              <a:gdLst/>
              <a:ahLst/>
              <a:cxnLst/>
              <a:rect l="l" t="t" r="r" b="b"/>
              <a:pathLst>
                <a:path w="560044" h="560044">
                  <a:moveTo>
                    <a:pt x="0" y="0"/>
                  </a:moveTo>
                  <a:lnTo>
                    <a:pt x="560044" y="0"/>
                  </a:lnTo>
                  <a:lnTo>
                    <a:pt x="560044" y="560044"/>
                  </a:lnTo>
                  <a:lnTo>
                    <a:pt x="0" y="560044"/>
                  </a:lnTo>
                  <a:close/>
                </a:path>
              </a:pathLst>
            </a:custGeom>
            <a:solidFill>
              <a:srgbClr val="92B8DD"/>
            </a:solidFill>
          </p:spPr>
        </p:sp>
        <p:sp>
          <p:nvSpPr>
            <p:cNvPr id="11" name="TextBox 11"/>
            <p:cNvSpPr txBox="1"/>
            <p:nvPr/>
          </p:nvSpPr>
          <p:spPr>
            <a:xfrm>
              <a:off x="0" y="-19050"/>
              <a:ext cx="560044" cy="579094"/>
            </a:xfrm>
            <a:prstGeom prst="rect">
              <a:avLst/>
            </a:prstGeom>
          </p:spPr>
          <p:txBody>
            <a:bodyPr lIns="50800" tIns="50800" rIns="50800" bIns="50800" rtlCol="0" anchor="ctr"/>
            <a:lstStyle/>
            <a:p>
              <a:pPr marL="0" lvl="0" indent="0" algn="ctr">
                <a:lnSpc>
                  <a:spcPts val="2500"/>
                </a:lnSpc>
              </a:pPr>
              <a:endParaRPr/>
            </a:p>
          </p:txBody>
        </p:sp>
      </p:grpSp>
      <p:sp>
        <p:nvSpPr>
          <p:cNvPr id="12" name="Freeform 12"/>
          <p:cNvSpPr/>
          <p:nvPr/>
        </p:nvSpPr>
        <p:spPr>
          <a:xfrm>
            <a:off x="13440975" y="3273253"/>
            <a:ext cx="867803" cy="1166233"/>
          </a:xfrm>
          <a:custGeom>
            <a:avLst/>
            <a:gdLst/>
            <a:ahLst/>
            <a:cxnLst/>
            <a:rect l="l" t="t" r="r" b="b"/>
            <a:pathLst>
              <a:path w="867803" h="1166233">
                <a:moveTo>
                  <a:pt x="0" y="0"/>
                </a:moveTo>
                <a:lnTo>
                  <a:pt x="867803" y="0"/>
                </a:lnTo>
                <a:lnTo>
                  <a:pt x="867803" y="1166233"/>
                </a:lnTo>
                <a:lnTo>
                  <a:pt x="0" y="1166233"/>
                </a:lnTo>
                <a:lnTo>
                  <a:pt x="0" y="0"/>
                </a:lnTo>
                <a:close/>
              </a:path>
            </a:pathLst>
          </a:custGeom>
          <a:blipFill>
            <a:blip r:embed="rId4"/>
            <a:stretch>
              <a:fillRect/>
            </a:stretch>
          </a:blipFill>
        </p:spPr>
      </p:sp>
      <p:sp>
        <p:nvSpPr>
          <p:cNvPr id="13" name="Freeform 13"/>
          <p:cNvSpPr/>
          <p:nvPr/>
        </p:nvSpPr>
        <p:spPr>
          <a:xfrm>
            <a:off x="8266012" y="3516231"/>
            <a:ext cx="893130" cy="704541"/>
          </a:xfrm>
          <a:custGeom>
            <a:avLst/>
            <a:gdLst/>
            <a:ahLst/>
            <a:cxnLst/>
            <a:rect l="l" t="t" r="r" b="b"/>
            <a:pathLst>
              <a:path w="893130" h="704541">
                <a:moveTo>
                  <a:pt x="0" y="0"/>
                </a:moveTo>
                <a:lnTo>
                  <a:pt x="893131" y="0"/>
                </a:lnTo>
                <a:lnTo>
                  <a:pt x="893131" y="704541"/>
                </a:lnTo>
                <a:lnTo>
                  <a:pt x="0" y="704541"/>
                </a:lnTo>
                <a:lnTo>
                  <a:pt x="0" y="0"/>
                </a:lnTo>
                <a:close/>
              </a:path>
            </a:pathLst>
          </a:custGeom>
          <a:blipFill>
            <a:blip r:embed="rId5"/>
            <a:stretch>
              <a:fillRect/>
            </a:stretch>
          </a:blipFill>
        </p:spPr>
      </p:sp>
      <p:sp>
        <p:nvSpPr>
          <p:cNvPr id="14" name="Freeform 14"/>
          <p:cNvSpPr/>
          <p:nvPr/>
        </p:nvSpPr>
        <p:spPr>
          <a:xfrm>
            <a:off x="13755402" y="9022583"/>
            <a:ext cx="3503898" cy="471434"/>
          </a:xfrm>
          <a:custGeom>
            <a:avLst/>
            <a:gdLst/>
            <a:ahLst/>
            <a:cxnLst/>
            <a:rect l="l" t="t" r="r" b="b"/>
            <a:pathLst>
              <a:path w="3503898" h="471434">
                <a:moveTo>
                  <a:pt x="0" y="0"/>
                </a:moveTo>
                <a:lnTo>
                  <a:pt x="3503898" y="0"/>
                </a:lnTo>
                <a:lnTo>
                  <a:pt x="3503898" y="471434"/>
                </a:lnTo>
                <a:lnTo>
                  <a:pt x="0" y="47143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TextBox 15"/>
          <p:cNvSpPr txBox="1"/>
          <p:nvPr/>
        </p:nvSpPr>
        <p:spPr>
          <a:xfrm>
            <a:off x="1440755" y="2167719"/>
            <a:ext cx="5690339" cy="1095375"/>
          </a:xfrm>
          <a:prstGeom prst="rect">
            <a:avLst/>
          </a:prstGeom>
        </p:spPr>
        <p:txBody>
          <a:bodyPr lIns="0" tIns="0" rIns="0" bIns="0" rtlCol="0" anchor="t">
            <a:spAutoFit/>
          </a:bodyPr>
          <a:lstStyle/>
          <a:p>
            <a:pPr marL="0" lvl="0" indent="0" algn="l">
              <a:lnSpc>
                <a:spcPts val="8625"/>
              </a:lnSpc>
            </a:pPr>
            <a:r>
              <a:rPr lang="en-US" sz="7500" b="1">
                <a:solidFill>
                  <a:srgbClr val="000000"/>
                </a:solidFill>
                <a:latin typeface="TT Hoves Bold"/>
                <a:ea typeface="TT Hoves Bold"/>
                <a:cs typeface="TT Hoves Bold"/>
                <a:sym typeface="TT Hoves Bold"/>
              </a:rPr>
              <a:t>End of Day</a:t>
            </a:r>
          </a:p>
        </p:txBody>
      </p:sp>
      <p:sp>
        <p:nvSpPr>
          <p:cNvPr id="16" name="TextBox 16"/>
          <p:cNvSpPr txBox="1"/>
          <p:nvPr/>
        </p:nvSpPr>
        <p:spPr>
          <a:xfrm>
            <a:off x="1028700" y="711200"/>
            <a:ext cx="1510928" cy="625484"/>
          </a:xfrm>
          <a:prstGeom prst="rect">
            <a:avLst/>
          </a:prstGeom>
        </p:spPr>
        <p:txBody>
          <a:bodyPr lIns="0" tIns="0" rIns="0" bIns="0" rtlCol="0" anchor="t">
            <a:spAutoFit/>
          </a:bodyPr>
          <a:lstStyle/>
          <a:p>
            <a:pPr marL="0" lvl="0" indent="0" algn="l">
              <a:lnSpc>
                <a:spcPts val="2498"/>
              </a:lnSpc>
            </a:pPr>
            <a:r>
              <a:rPr lang="en-US" sz="1998" spc="161">
                <a:solidFill>
                  <a:srgbClr val="000000"/>
                </a:solidFill>
                <a:latin typeface="TT Hoves"/>
                <a:ea typeface="TT Hoves"/>
                <a:cs typeface="TT Hoves"/>
                <a:sym typeface="TT Hoves"/>
              </a:rPr>
              <a:t>Lucas</a:t>
            </a:r>
          </a:p>
          <a:p>
            <a:pPr marL="0" lvl="0" indent="0" algn="l">
              <a:lnSpc>
                <a:spcPts val="2498"/>
              </a:lnSpc>
            </a:pPr>
            <a:r>
              <a:rPr lang="en-US" sz="1998" spc="161">
                <a:solidFill>
                  <a:srgbClr val="000000"/>
                </a:solidFill>
                <a:latin typeface="TT Hoves"/>
                <a:ea typeface="TT Hoves"/>
                <a:cs typeface="TT Hoves"/>
                <a:sym typeface="TT Hoves"/>
              </a:rPr>
              <a:t>Hartmann</a:t>
            </a:r>
          </a:p>
        </p:txBody>
      </p:sp>
      <p:sp>
        <p:nvSpPr>
          <p:cNvPr id="17" name="TextBox 17"/>
          <p:cNvSpPr txBox="1"/>
          <p:nvPr/>
        </p:nvSpPr>
        <p:spPr>
          <a:xfrm>
            <a:off x="7821594" y="5385934"/>
            <a:ext cx="3956792" cy="368289"/>
          </a:xfrm>
          <a:prstGeom prst="rect">
            <a:avLst/>
          </a:prstGeom>
        </p:spPr>
        <p:txBody>
          <a:bodyPr lIns="0" tIns="0" rIns="0" bIns="0" rtlCol="0" anchor="t">
            <a:spAutoFit/>
          </a:bodyPr>
          <a:lstStyle/>
          <a:p>
            <a:pPr marL="0" lvl="0" indent="0" algn="l">
              <a:lnSpc>
                <a:spcPts val="2872"/>
              </a:lnSpc>
            </a:pPr>
            <a:r>
              <a:rPr lang="en-US" sz="2498" b="1">
                <a:solidFill>
                  <a:srgbClr val="000000"/>
                </a:solidFill>
                <a:latin typeface="TT Hoves Bold"/>
                <a:ea typeface="TT Hoves Bold"/>
                <a:cs typeface="TT Hoves Bold"/>
                <a:sym typeface="TT Hoves Bold"/>
              </a:rPr>
              <a:t>Team Meeting</a:t>
            </a:r>
          </a:p>
        </p:txBody>
      </p:sp>
      <p:sp>
        <p:nvSpPr>
          <p:cNvPr id="18" name="TextBox 18"/>
          <p:cNvSpPr txBox="1"/>
          <p:nvPr/>
        </p:nvSpPr>
        <p:spPr>
          <a:xfrm>
            <a:off x="13006463" y="5385934"/>
            <a:ext cx="3956792" cy="368289"/>
          </a:xfrm>
          <a:prstGeom prst="rect">
            <a:avLst/>
          </a:prstGeom>
        </p:spPr>
        <p:txBody>
          <a:bodyPr lIns="0" tIns="0" rIns="0" bIns="0" rtlCol="0" anchor="t">
            <a:spAutoFit/>
          </a:bodyPr>
          <a:lstStyle/>
          <a:p>
            <a:pPr marL="0" lvl="0" indent="0" algn="l">
              <a:lnSpc>
                <a:spcPts val="2872"/>
              </a:lnSpc>
            </a:pPr>
            <a:r>
              <a:rPr lang="en-US" sz="2498" b="1">
                <a:solidFill>
                  <a:srgbClr val="000000"/>
                </a:solidFill>
                <a:latin typeface="TT Hoves Bold"/>
                <a:ea typeface="TT Hoves Bold"/>
                <a:cs typeface="TT Hoves Bold"/>
                <a:sym typeface="TT Hoves Bold"/>
              </a:rPr>
              <a:t>Wrapping Up</a:t>
            </a:r>
          </a:p>
        </p:txBody>
      </p:sp>
      <p:sp>
        <p:nvSpPr>
          <p:cNvPr id="19" name="TextBox 19"/>
          <p:cNvSpPr txBox="1"/>
          <p:nvPr/>
        </p:nvSpPr>
        <p:spPr>
          <a:xfrm>
            <a:off x="7821594" y="5996872"/>
            <a:ext cx="4318710" cy="1882784"/>
          </a:xfrm>
          <a:prstGeom prst="rect">
            <a:avLst/>
          </a:prstGeom>
        </p:spPr>
        <p:txBody>
          <a:bodyPr lIns="0" tIns="0" rIns="0" bIns="0" rtlCol="0" anchor="t">
            <a:spAutoFit/>
          </a:bodyPr>
          <a:lstStyle/>
          <a:p>
            <a:pPr marL="0" lvl="0" indent="0" algn="l">
              <a:lnSpc>
                <a:spcPts val="2498"/>
              </a:lnSpc>
              <a:spcBef>
                <a:spcPct val="0"/>
              </a:spcBef>
            </a:pPr>
            <a:r>
              <a:rPr lang="en-US" sz="1998">
                <a:solidFill>
                  <a:srgbClr val="000000"/>
                </a:solidFill>
                <a:latin typeface="TT Hoves"/>
                <a:ea typeface="TT Hoves"/>
                <a:cs typeface="TT Hoves"/>
                <a:sym typeface="TT Hoves"/>
              </a:rPr>
              <a:t>The day concludes with a final team sync meeting to review progress, discuss blockers, and align on priorities for tomorrow. This ensures everyone stays informed and coordinated.</a:t>
            </a:r>
          </a:p>
        </p:txBody>
      </p:sp>
      <p:sp>
        <p:nvSpPr>
          <p:cNvPr id="20" name="TextBox 20"/>
          <p:cNvSpPr txBox="1"/>
          <p:nvPr/>
        </p:nvSpPr>
        <p:spPr>
          <a:xfrm>
            <a:off x="13006463" y="5992359"/>
            <a:ext cx="4252837" cy="1882784"/>
          </a:xfrm>
          <a:prstGeom prst="rect">
            <a:avLst/>
          </a:prstGeom>
        </p:spPr>
        <p:txBody>
          <a:bodyPr lIns="0" tIns="0" rIns="0" bIns="0" rtlCol="0" anchor="t">
            <a:spAutoFit/>
          </a:bodyPr>
          <a:lstStyle/>
          <a:p>
            <a:pPr marL="0" lvl="0" indent="0" algn="l">
              <a:lnSpc>
                <a:spcPts val="2498"/>
              </a:lnSpc>
              <a:spcBef>
                <a:spcPct val="0"/>
              </a:spcBef>
            </a:pPr>
            <a:r>
              <a:rPr lang="en-US" sz="1998">
                <a:solidFill>
                  <a:srgbClr val="000000"/>
                </a:solidFill>
                <a:latin typeface="TT Hoves"/>
                <a:ea typeface="TT Hoves"/>
                <a:cs typeface="TT Hoves"/>
                <a:sym typeface="TT Hoves"/>
              </a:rPr>
              <a:t>After the meeting, it's time to say do a new backup of the database and say goodbye to colleagues, shut down workstations, and head home. A quick check ensures no critical alerts are pending before leaving.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92B8DD"/>
        </a:solidFill>
        <a:effectLst/>
      </p:bgPr>
    </p:bg>
    <p:spTree>
      <p:nvGrpSpPr>
        <p:cNvPr id="1" name=""/>
        <p:cNvGrpSpPr/>
        <p:nvPr/>
      </p:nvGrpSpPr>
      <p:grpSpPr>
        <a:xfrm>
          <a:off x="0" y="0"/>
          <a:ext cx="0" cy="0"/>
          <a:chOff x="0" y="0"/>
          <a:chExt cx="0" cy="0"/>
        </a:xfrm>
      </p:grpSpPr>
      <p:grpSp>
        <p:nvGrpSpPr>
          <p:cNvPr id="2" name="Group 2"/>
          <p:cNvGrpSpPr/>
          <p:nvPr/>
        </p:nvGrpSpPr>
        <p:grpSpPr>
          <a:xfrm>
            <a:off x="0" y="-153702"/>
            <a:ext cx="16072434" cy="8520557"/>
            <a:chOff x="0" y="0"/>
            <a:chExt cx="4233069" cy="2244097"/>
          </a:xfrm>
        </p:grpSpPr>
        <p:sp>
          <p:nvSpPr>
            <p:cNvPr id="3" name="Freeform 3"/>
            <p:cNvSpPr/>
            <p:nvPr/>
          </p:nvSpPr>
          <p:spPr>
            <a:xfrm>
              <a:off x="0" y="0"/>
              <a:ext cx="4233069" cy="2244097"/>
            </a:xfrm>
            <a:custGeom>
              <a:avLst/>
              <a:gdLst/>
              <a:ahLst/>
              <a:cxnLst/>
              <a:rect l="l" t="t" r="r" b="b"/>
              <a:pathLst>
                <a:path w="4233069" h="2244097">
                  <a:moveTo>
                    <a:pt x="0" y="0"/>
                  </a:moveTo>
                  <a:lnTo>
                    <a:pt x="4233069" y="0"/>
                  </a:lnTo>
                  <a:lnTo>
                    <a:pt x="4233069" y="2244097"/>
                  </a:lnTo>
                  <a:lnTo>
                    <a:pt x="0" y="2244097"/>
                  </a:lnTo>
                  <a:close/>
                </a:path>
              </a:pathLst>
            </a:custGeom>
            <a:solidFill>
              <a:srgbClr val="FFFFFF"/>
            </a:solidFill>
          </p:spPr>
        </p:sp>
        <p:sp>
          <p:nvSpPr>
            <p:cNvPr id="4" name="TextBox 4"/>
            <p:cNvSpPr txBox="1"/>
            <p:nvPr/>
          </p:nvSpPr>
          <p:spPr>
            <a:xfrm>
              <a:off x="0" y="-38100"/>
              <a:ext cx="4233069" cy="228219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653114" y="640862"/>
            <a:ext cx="852752" cy="806917"/>
          </a:xfrm>
          <a:custGeom>
            <a:avLst/>
            <a:gdLst/>
            <a:ahLst/>
            <a:cxnLst/>
            <a:rect l="l" t="t" r="r" b="b"/>
            <a:pathLst>
              <a:path w="852752" h="806917">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4406931" y="9097010"/>
            <a:ext cx="2852369" cy="403098"/>
          </a:xfrm>
          <a:prstGeom prst="rect">
            <a:avLst/>
          </a:prstGeom>
        </p:spPr>
        <p:txBody>
          <a:bodyPr lIns="0" tIns="0" rIns="0" bIns="0" rtlCol="0" anchor="t">
            <a:spAutoFit/>
          </a:bodyPr>
          <a:lstStyle/>
          <a:p>
            <a:pPr marL="0" lvl="0" indent="0" algn="r">
              <a:lnSpc>
                <a:spcPts val="1716"/>
              </a:lnSpc>
            </a:pPr>
            <a:r>
              <a:rPr lang="en-US" sz="1200" spc="97">
                <a:solidFill>
                  <a:srgbClr val="000000"/>
                </a:solidFill>
                <a:latin typeface="TT Hoves"/>
                <a:ea typeface="TT Hoves"/>
                <a:cs typeface="TT Hoves"/>
                <a:sym typeface="TT Hoves"/>
              </a:rPr>
              <a:t>Keeping infrastructure running smoothly</a:t>
            </a:r>
          </a:p>
        </p:txBody>
      </p:sp>
      <p:sp>
        <p:nvSpPr>
          <p:cNvPr id="7" name="AutoShape 7"/>
          <p:cNvSpPr/>
          <p:nvPr/>
        </p:nvSpPr>
        <p:spPr>
          <a:xfrm>
            <a:off x="-350272" y="9277350"/>
            <a:ext cx="14757203" cy="0"/>
          </a:xfrm>
          <a:prstGeom prst="line">
            <a:avLst/>
          </a:prstGeom>
          <a:ln w="9525" cap="flat">
            <a:solidFill>
              <a:srgbClr val="000000"/>
            </a:solidFill>
            <a:prstDash val="solid"/>
            <a:headEnd type="none" w="sm" len="sm"/>
            <a:tailEnd type="none" w="sm" len="sm"/>
          </a:ln>
        </p:spPr>
      </p:sp>
      <p:sp>
        <p:nvSpPr>
          <p:cNvPr id="8" name="AutoShape 8"/>
          <p:cNvSpPr/>
          <p:nvPr/>
        </p:nvSpPr>
        <p:spPr>
          <a:xfrm flipH="1">
            <a:off x="3522469" y="7115310"/>
            <a:ext cx="211976" cy="367153"/>
          </a:xfrm>
          <a:prstGeom prst="line">
            <a:avLst/>
          </a:prstGeom>
          <a:ln w="9525" cap="flat">
            <a:solidFill>
              <a:srgbClr val="000000"/>
            </a:solidFill>
            <a:prstDash val="solid"/>
            <a:headEnd type="none" w="sm" len="sm"/>
            <a:tailEnd type="none" w="sm" len="sm"/>
          </a:ln>
        </p:spPr>
      </p:sp>
      <p:sp>
        <p:nvSpPr>
          <p:cNvPr id="9" name="Freeform 9"/>
          <p:cNvSpPr/>
          <p:nvPr/>
        </p:nvSpPr>
        <p:spPr>
          <a:xfrm rot="5400000">
            <a:off x="15677421" y="2307892"/>
            <a:ext cx="3228076" cy="3060818"/>
          </a:xfrm>
          <a:custGeom>
            <a:avLst/>
            <a:gdLst/>
            <a:ahLst/>
            <a:cxnLst/>
            <a:rect l="l" t="t" r="r" b="b"/>
            <a:pathLst>
              <a:path w="3228076" h="3060818">
                <a:moveTo>
                  <a:pt x="0" y="0"/>
                </a:moveTo>
                <a:lnTo>
                  <a:pt x="3228076" y="0"/>
                </a:lnTo>
                <a:lnTo>
                  <a:pt x="3228076" y="3060818"/>
                </a:lnTo>
                <a:lnTo>
                  <a:pt x="0" y="3060818"/>
                </a:lnTo>
                <a:lnTo>
                  <a:pt x="0" y="0"/>
                </a:lnTo>
                <a:close/>
              </a:path>
            </a:pathLst>
          </a:custGeom>
          <a:blipFill>
            <a:blip r:embed="rId4"/>
            <a:stretch>
              <a:fillRect/>
            </a:stretch>
          </a:blipFill>
        </p:spPr>
      </p:sp>
      <p:sp>
        <p:nvSpPr>
          <p:cNvPr id="10" name="TextBox 10"/>
          <p:cNvSpPr txBox="1"/>
          <p:nvPr/>
        </p:nvSpPr>
        <p:spPr>
          <a:xfrm>
            <a:off x="1028700" y="740791"/>
            <a:ext cx="1510928" cy="373380"/>
          </a:xfrm>
          <a:prstGeom prst="rect">
            <a:avLst/>
          </a:prstGeom>
        </p:spPr>
        <p:txBody>
          <a:bodyPr lIns="0" tIns="0" rIns="0" bIns="0" rtlCol="0" anchor="t">
            <a:spAutoFit/>
          </a:bodyPr>
          <a:lstStyle/>
          <a:p>
            <a:pPr marL="0" lvl="0" indent="0" algn="l">
              <a:lnSpc>
                <a:spcPts val="1500"/>
              </a:lnSpc>
            </a:pPr>
            <a:r>
              <a:rPr lang="en-US" sz="1200" spc="97">
                <a:solidFill>
                  <a:srgbClr val="000000"/>
                </a:solidFill>
                <a:latin typeface="TT Hoves"/>
                <a:ea typeface="TT Hoves"/>
                <a:cs typeface="TT Hoves"/>
                <a:sym typeface="TT Hoves"/>
              </a:rPr>
              <a:t>Lucas</a:t>
            </a:r>
          </a:p>
          <a:p>
            <a:pPr marL="0" lvl="0" indent="0" algn="l">
              <a:lnSpc>
                <a:spcPts val="1500"/>
              </a:lnSpc>
            </a:pPr>
            <a:r>
              <a:rPr lang="en-US" sz="1200" spc="97">
                <a:solidFill>
                  <a:srgbClr val="000000"/>
                </a:solidFill>
                <a:latin typeface="TT Hoves"/>
                <a:ea typeface="TT Hoves"/>
                <a:cs typeface="TT Hoves"/>
                <a:sym typeface="TT Hoves"/>
              </a:rPr>
              <a:t>Hartmann</a:t>
            </a:r>
          </a:p>
        </p:txBody>
      </p:sp>
      <p:sp>
        <p:nvSpPr>
          <p:cNvPr id="11" name="TextBox 11"/>
          <p:cNvSpPr txBox="1"/>
          <p:nvPr/>
        </p:nvSpPr>
        <p:spPr>
          <a:xfrm>
            <a:off x="1028700" y="3516907"/>
            <a:ext cx="7804538" cy="1560746"/>
          </a:xfrm>
          <a:prstGeom prst="rect">
            <a:avLst/>
          </a:prstGeom>
        </p:spPr>
        <p:txBody>
          <a:bodyPr lIns="0" tIns="0" rIns="0" bIns="0" rtlCol="0" anchor="t">
            <a:spAutoFit/>
          </a:bodyPr>
          <a:lstStyle/>
          <a:p>
            <a:pPr marL="0" lvl="0" indent="0" algn="l">
              <a:lnSpc>
                <a:spcPts val="12141"/>
              </a:lnSpc>
            </a:pPr>
            <a:r>
              <a:rPr lang="en-US" sz="10558" b="1">
                <a:solidFill>
                  <a:srgbClr val="000000"/>
                </a:solidFill>
                <a:latin typeface="TT Hoves Bold"/>
                <a:ea typeface="TT Hoves Bold"/>
                <a:cs typeface="TT Hoves Bold"/>
                <a:sym typeface="TT Hoves Bold"/>
              </a:rPr>
              <a:t>Thank You </a:t>
            </a:r>
          </a:p>
        </p:txBody>
      </p:sp>
      <p:sp>
        <p:nvSpPr>
          <p:cNvPr id="12" name="TextBox 12"/>
          <p:cNvSpPr txBox="1"/>
          <p:nvPr/>
        </p:nvSpPr>
        <p:spPr>
          <a:xfrm>
            <a:off x="1028700" y="7128071"/>
            <a:ext cx="2230214" cy="193548"/>
          </a:xfrm>
          <a:prstGeom prst="rect">
            <a:avLst/>
          </a:prstGeom>
        </p:spPr>
        <p:txBody>
          <a:bodyPr lIns="0" tIns="0" rIns="0" bIns="0" rtlCol="0" anchor="t">
            <a:spAutoFit/>
          </a:bodyPr>
          <a:lstStyle/>
          <a:p>
            <a:pPr marL="0" lvl="0" indent="0" algn="l">
              <a:lnSpc>
                <a:spcPts val="1716"/>
              </a:lnSpc>
            </a:pPr>
            <a:r>
              <a:rPr lang="en-US" sz="1200" spc="55">
                <a:solidFill>
                  <a:srgbClr val="000000"/>
                </a:solidFill>
                <a:latin typeface="TT Hoves"/>
                <a:ea typeface="TT Hoves"/>
                <a:cs typeface="TT Hoves"/>
                <a:sym typeface="TT Hoves"/>
              </a:rPr>
              <a:t>Lucas Hartmann</a:t>
            </a:r>
          </a:p>
        </p:txBody>
      </p:sp>
      <p:sp>
        <p:nvSpPr>
          <p:cNvPr id="13" name="TextBox 13"/>
          <p:cNvSpPr txBox="1"/>
          <p:nvPr/>
        </p:nvSpPr>
        <p:spPr>
          <a:xfrm>
            <a:off x="4264978" y="7128071"/>
            <a:ext cx="3577563" cy="193548"/>
          </a:xfrm>
          <a:prstGeom prst="rect">
            <a:avLst/>
          </a:prstGeom>
        </p:spPr>
        <p:txBody>
          <a:bodyPr lIns="0" tIns="0" rIns="0" bIns="0" rtlCol="0" anchor="t">
            <a:spAutoFit/>
          </a:bodyPr>
          <a:lstStyle/>
          <a:p>
            <a:pPr marL="0" lvl="0" indent="0" algn="l">
              <a:lnSpc>
                <a:spcPts val="1716"/>
              </a:lnSpc>
            </a:pPr>
            <a:r>
              <a:rPr lang="en-US" sz="1200" spc="55">
                <a:solidFill>
                  <a:srgbClr val="000000"/>
                </a:solidFill>
                <a:latin typeface="TT Hoves"/>
                <a:ea typeface="TT Hoves"/>
                <a:cs typeface="TT Hoves"/>
                <a:sym typeface="TT Hoves"/>
              </a:rPr>
              <a:t>lucas.hartmann@email.com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444</Words>
  <Application>Microsoft Office PowerPoint</Application>
  <PresentationFormat>Personalizar</PresentationFormat>
  <Paragraphs>46</Paragraphs>
  <Slides>7</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7</vt:i4>
      </vt:variant>
    </vt:vector>
  </HeadingPairs>
  <TitlesOfParts>
    <vt:vector size="12" baseType="lpstr">
      <vt:lpstr>TT Hoves Bold</vt:lpstr>
      <vt:lpstr>Arial</vt:lpstr>
      <vt:lpstr>TT Hoves</vt:lpstr>
      <vt:lpstr>Calibri</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day begins with arriving at the office and greeting colleagues. After grabbing a fresh cup of coffee, it's time to settle in and check emails and Slack messages. This morning routine helps identify the day's priorities and any urgent issues that need</dc:title>
  <cp:lastModifiedBy>LUCAS AUGUSTO HARTMANN</cp:lastModifiedBy>
  <cp:revision>2</cp:revision>
  <dcterms:created xsi:type="dcterms:W3CDTF">2006-08-16T00:00:00Z</dcterms:created>
  <dcterms:modified xsi:type="dcterms:W3CDTF">2026-03-18T14:08:45Z</dcterms:modified>
  <dc:identifier>DAHENZORNsY</dc:identifier>
</cp:coreProperties>
</file>