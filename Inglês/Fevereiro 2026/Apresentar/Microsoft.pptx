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0" r:id="rId6"/>
    <p:sldId id="261" r:id="rId7"/>
    <p:sldId id="262" r:id="rId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282"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38A1AE-0587-489D-8A8A-DF6C35B64EBC}"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A03A9B55-DA74-4443-907B-DA3E25F1AB19}">
      <dgm:prSet/>
      <dgm:spPr/>
      <dgm:t>
        <a:bodyPr/>
        <a:lstStyle/>
        <a:p>
          <a:r>
            <a:rPr lang="en-US" dirty="0"/>
            <a:t>Microsoft is a technology company founded in 1975 by Bill Gates and Paul Allen. It is best known for creating Windows, the world's most popular computer operating system</a:t>
          </a:r>
        </a:p>
      </dgm:t>
    </dgm:pt>
    <dgm:pt modelId="{1ACA4B8A-F684-4C5A-B945-59FAE17103CE}" type="parTrans" cxnId="{D1BDB348-422D-4F25-9682-EF3036FF3236}">
      <dgm:prSet/>
      <dgm:spPr/>
      <dgm:t>
        <a:bodyPr/>
        <a:lstStyle/>
        <a:p>
          <a:endParaRPr lang="en-US"/>
        </a:p>
      </dgm:t>
    </dgm:pt>
    <dgm:pt modelId="{6C0DDDD5-DB85-4CA9-BAC6-43C1B1CE1B24}" type="sibTrans" cxnId="{D1BDB348-422D-4F25-9682-EF3036FF3236}">
      <dgm:prSet/>
      <dgm:spPr/>
      <dgm:t>
        <a:bodyPr/>
        <a:lstStyle/>
        <a:p>
          <a:endParaRPr lang="en-US"/>
        </a:p>
      </dgm:t>
    </dgm:pt>
    <dgm:pt modelId="{15B64CB8-D25C-4184-80AC-67321CFCFBB0}">
      <dgm:prSet/>
      <dgm:spPr/>
      <dgm:t>
        <a:bodyPr/>
        <a:lstStyle/>
        <a:p>
          <a:r>
            <a:rPr lang="en-US" dirty="0"/>
            <a:t>In its early years, Microsoft focused on dominating the operating systems market, launching MS-DOS and Windows</a:t>
          </a:r>
        </a:p>
      </dgm:t>
    </dgm:pt>
    <dgm:pt modelId="{9A5D4EF2-18D9-4FDE-B701-408A3C96251C}" type="parTrans" cxnId="{35CD5F81-BB1E-4E6F-AD89-AD22C6C9ACFF}">
      <dgm:prSet/>
      <dgm:spPr/>
      <dgm:t>
        <a:bodyPr/>
        <a:lstStyle/>
        <a:p>
          <a:endParaRPr lang="en-US"/>
        </a:p>
      </dgm:t>
    </dgm:pt>
    <dgm:pt modelId="{BD4877F0-41F8-4A18-B0A6-389780DD12FB}" type="sibTrans" cxnId="{35CD5F81-BB1E-4E6F-AD89-AD22C6C9ACFF}">
      <dgm:prSet/>
      <dgm:spPr/>
      <dgm:t>
        <a:bodyPr/>
        <a:lstStyle/>
        <a:p>
          <a:endParaRPr lang="en-US"/>
        </a:p>
      </dgm:t>
    </dgm:pt>
    <dgm:pt modelId="{9BA4B202-E5AD-4D15-88AD-06E6D1245170}">
      <dgm:prSet/>
      <dgm:spPr/>
      <dgm:t>
        <a:bodyPr/>
        <a:lstStyle/>
        <a:p>
          <a:r>
            <a:rPr lang="en-US" dirty="0"/>
            <a:t>Now the company is focusing on AI and cloud computing</a:t>
          </a:r>
        </a:p>
      </dgm:t>
    </dgm:pt>
    <dgm:pt modelId="{04309E8F-218D-4A8C-BB6C-44D3DF77370D}" type="parTrans" cxnId="{AADB1A21-9A3F-4F9B-A6AD-0C20EC599C39}">
      <dgm:prSet/>
      <dgm:spPr/>
      <dgm:t>
        <a:bodyPr/>
        <a:lstStyle/>
        <a:p>
          <a:endParaRPr lang="en-US"/>
        </a:p>
      </dgm:t>
    </dgm:pt>
    <dgm:pt modelId="{20424F17-B67F-424B-A6A7-25C8908321B8}" type="sibTrans" cxnId="{AADB1A21-9A3F-4F9B-A6AD-0C20EC599C39}">
      <dgm:prSet/>
      <dgm:spPr/>
      <dgm:t>
        <a:bodyPr/>
        <a:lstStyle/>
        <a:p>
          <a:endParaRPr lang="en-US"/>
        </a:p>
      </dgm:t>
    </dgm:pt>
    <dgm:pt modelId="{BC91E7B5-452B-46AE-8908-B46254C7316C}" type="pres">
      <dgm:prSet presAssocID="{6B38A1AE-0587-489D-8A8A-DF6C35B64EBC}" presName="root" presStyleCnt="0">
        <dgm:presLayoutVars>
          <dgm:dir/>
          <dgm:resizeHandles val="exact"/>
        </dgm:presLayoutVars>
      </dgm:prSet>
      <dgm:spPr/>
    </dgm:pt>
    <dgm:pt modelId="{09B76FE0-B806-4AAF-B0EA-1D95C9CDCDC7}" type="pres">
      <dgm:prSet presAssocID="{A03A9B55-DA74-4443-907B-DA3E25F1AB19}" presName="compNode" presStyleCnt="0"/>
      <dgm:spPr/>
    </dgm:pt>
    <dgm:pt modelId="{9622F229-E744-40FE-92D9-3C4AA42B9765}" type="pres">
      <dgm:prSet presAssocID="{A03A9B55-DA74-4443-907B-DA3E25F1AB19}" presName="bgRect" presStyleLbl="bgShp" presStyleIdx="0" presStyleCnt="3"/>
      <dgm:spPr/>
    </dgm:pt>
    <dgm:pt modelId="{85EE0FE5-E9DA-4E95-AAC7-57E0BEE33186}" type="pres">
      <dgm:prSet presAssocID="{A03A9B55-DA74-4443-907B-DA3E25F1AB1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ador"/>
        </a:ext>
      </dgm:extLst>
    </dgm:pt>
    <dgm:pt modelId="{3469120F-A616-48DE-B3CA-CA533631CDE9}" type="pres">
      <dgm:prSet presAssocID="{A03A9B55-DA74-4443-907B-DA3E25F1AB19}" presName="spaceRect" presStyleCnt="0"/>
      <dgm:spPr/>
    </dgm:pt>
    <dgm:pt modelId="{F88CD76B-203B-4D53-A891-1D7EADE4D6F5}" type="pres">
      <dgm:prSet presAssocID="{A03A9B55-DA74-4443-907B-DA3E25F1AB19}" presName="parTx" presStyleLbl="revTx" presStyleIdx="0" presStyleCnt="3">
        <dgm:presLayoutVars>
          <dgm:chMax val="0"/>
          <dgm:chPref val="0"/>
        </dgm:presLayoutVars>
      </dgm:prSet>
      <dgm:spPr/>
    </dgm:pt>
    <dgm:pt modelId="{364082FA-2757-45DE-A277-4AF687872B82}" type="pres">
      <dgm:prSet presAssocID="{6C0DDDD5-DB85-4CA9-BAC6-43C1B1CE1B24}" presName="sibTrans" presStyleCnt="0"/>
      <dgm:spPr/>
    </dgm:pt>
    <dgm:pt modelId="{CC849102-6CB4-4D6F-A0B5-99B16A6D79D0}" type="pres">
      <dgm:prSet presAssocID="{15B64CB8-D25C-4184-80AC-67321CFCFBB0}" presName="compNode" presStyleCnt="0"/>
      <dgm:spPr/>
    </dgm:pt>
    <dgm:pt modelId="{E5D6E699-AFE4-4AAA-9065-A1CAF09087AD}" type="pres">
      <dgm:prSet presAssocID="{15B64CB8-D25C-4184-80AC-67321CFCFBB0}" presName="bgRect" presStyleLbl="bgShp" presStyleIdx="1" presStyleCnt="3"/>
      <dgm:spPr/>
    </dgm:pt>
    <dgm:pt modelId="{B0C2D168-8D97-4A28-813D-325805F7759B}" type="pres">
      <dgm:prSet presAssocID="{15B64CB8-D25C-4184-80AC-67321CFCFBB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ador"/>
        </a:ext>
      </dgm:extLst>
    </dgm:pt>
    <dgm:pt modelId="{8B2F7FBF-01BC-4F2E-B126-2502D27A0E81}" type="pres">
      <dgm:prSet presAssocID="{15B64CB8-D25C-4184-80AC-67321CFCFBB0}" presName="spaceRect" presStyleCnt="0"/>
      <dgm:spPr/>
    </dgm:pt>
    <dgm:pt modelId="{6D732F24-4CAD-4E7C-8EFD-782425C45CA6}" type="pres">
      <dgm:prSet presAssocID="{15B64CB8-D25C-4184-80AC-67321CFCFBB0}" presName="parTx" presStyleLbl="revTx" presStyleIdx="1" presStyleCnt="3">
        <dgm:presLayoutVars>
          <dgm:chMax val="0"/>
          <dgm:chPref val="0"/>
        </dgm:presLayoutVars>
      </dgm:prSet>
      <dgm:spPr/>
    </dgm:pt>
    <dgm:pt modelId="{F401461E-E78F-4A64-BB78-F107BDC5978C}" type="pres">
      <dgm:prSet presAssocID="{BD4877F0-41F8-4A18-B0A6-389780DD12FB}" presName="sibTrans" presStyleCnt="0"/>
      <dgm:spPr/>
    </dgm:pt>
    <dgm:pt modelId="{90D2830A-2FBB-48C5-81CB-2DBFFF785FB1}" type="pres">
      <dgm:prSet presAssocID="{9BA4B202-E5AD-4D15-88AD-06E6D1245170}" presName="compNode" presStyleCnt="0"/>
      <dgm:spPr/>
    </dgm:pt>
    <dgm:pt modelId="{9DBDE07F-FAD8-4907-AD35-559DB85E773C}" type="pres">
      <dgm:prSet presAssocID="{9BA4B202-E5AD-4D15-88AD-06E6D1245170}" presName="bgRect" presStyleLbl="bgShp" presStyleIdx="2" presStyleCnt="3"/>
      <dgm:spPr/>
    </dgm:pt>
    <dgm:pt modelId="{DA8BF673-A29E-4AD9-B4D3-EF6E79AE2465}" type="pres">
      <dgm:prSet presAssocID="{9BA4B202-E5AD-4D15-88AD-06E6D124517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uvem"/>
        </a:ext>
      </dgm:extLst>
    </dgm:pt>
    <dgm:pt modelId="{AB489096-951E-43EE-9D6A-76ED539D411B}" type="pres">
      <dgm:prSet presAssocID="{9BA4B202-E5AD-4D15-88AD-06E6D1245170}" presName="spaceRect" presStyleCnt="0"/>
      <dgm:spPr/>
    </dgm:pt>
    <dgm:pt modelId="{C7D09913-FEE4-4275-85AB-4B683FC2FA38}" type="pres">
      <dgm:prSet presAssocID="{9BA4B202-E5AD-4D15-88AD-06E6D1245170}" presName="parTx" presStyleLbl="revTx" presStyleIdx="2" presStyleCnt="3">
        <dgm:presLayoutVars>
          <dgm:chMax val="0"/>
          <dgm:chPref val="0"/>
        </dgm:presLayoutVars>
      </dgm:prSet>
      <dgm:spPr/>
    </dgm:pt>
  </dgm:ptLst>
  <dgm:cxnLst>
    <dgm:cxn modelId="{564D5510-FB7A-40A5-8052-B9DC1E168803}" type="presOf" srcId="{6B38A1AE-0587-489D-8A8A-DF6C35B64EBC}" destId="{BC91E7B5-452B-46AE-8908-B46254C7316C}" srcOrd="0" destOrd="0" presId="urn:microsoft.com/office/officeart/2018/2/layout/IconVerticalSolidList"/>
    <dgm:cxn modelId="{AADB1A21-9A3F-4F9B-A6AD-0C20EC599C39}" srcId="{6B38A1AE-0587-489D-8A8A-DF6C35B64EBC}" destId="{9BA4B202-E5AD-4D15-88AD-06E6D1245170}" srcOrd="2" destOrd="0" parTransId="{04309E8F-218D-4A8C-BB6C-44D3DF77370D}" sibTransId="{20424F17-B67F-424B-A6A7-25C8908321B8}"/>
    <dgm:cxn modelId="{28DA5D5C-6706-46D3-B315-879B58B1A5A6}" type="presOf" srcId="{9BA4B202-E5AD-4D15-88AD-06E6D1245170}" destId="{C7D09913-FEE4-4275-85AB-4B683FC2FA38}" srcOrd="0" destOrd="0" presId="urn:microsoft.com/office/officeart/2018/2/layout/IconVerticalSolidList"/>
    <dgm:cxn modelId="{F6552B5E-3613-455A-BE3D-DFBAAEBB6D9C}" type="presOf" srcId="{15B64CB8-D25C-4184-80AC-67321CFCFBB0}" destId="{6D732F24-4CAD-4E7C-8EFD-782425C45CA6}" srcOrd="0" destOrd="0" presId="urn:microsoft.com/office/officeart/2018/2/layout/IconVerticalSolidList"/>
    <dgm:cxn modelId="{D1BDB348-422D-4F25-9682-EF3036FF3236}" srcId="{6B38A1AE-0587-489D-8A8A-DF6C35B64EBC}" destId="{A03A9B55-DA74-4443-907B-DA3E25F1AB19}" srcOrd="0" destOrd="0" parTransId="{1ACA4B8A-F684-4C5A-B945-59FAE17103CE}" sibTransId="{6C0DDDD5-DB85-4CA9-BAC6-43C1B1CE1B24}"/>
    <dgm:cxn modelId="{35CD5F81-BB1E-4E6F-AD89-AD22C6C9ACFF}" srcId="{6B38A1AE-0587-489D-8A8A-DF6C35B64EBC}" destId="{15B64CB8-D25C-4184-80AC-67321CFCFBB0}" srcOrd="1" destOrd="0" parTransId="{9A5D4EF2-18D9-4FDE-B701-408A3C96251C}" sibTransId="{BD4877F0-41F8-4A18-B0A6-389780DD12FB}"/>
    <dgm:cxn modelId="{A0868487-8230-475F-A018-D49D5563F41E}" type="presOf" srcId="{A03A9B55-DA74-4443-907B-DA3E25F1AB19}" destId="{F88CD76B-203B-4D53-A891-1D7EADE4D6F5}" srcOrd="0" destOrd="0" presId="urn:microsoft.com/office/officeart/2018/2/layout/IconVerticalSolidList"/>
    <dgm:cxn modelId="{B07110BE-A277-4671-9AC6-C6EE4B76A02C}" type="presParOf" srcId="{BC91E7B5-452B-46AE-8908-B46254C7316C}" destId="{09B76FE0-B806-4AAF-B0EA-1D95C9CDCDC7}" srcOrd="0" destOrd="0" presId="urn:microsoft.com/office/officeart/2018/2/layout/IconVerticalSolidList"/>
    <dgm:cxn modelId="{65F9362B-9EB8-47C9-8E10-EA48EBC3B5AB}" type="presParOf" srcId="{09B76FE0-B806-4AAF-B0EA-1D95C9CDCDC7}" destId="{9622F229-E744-40FE-92D9-3C4AA42B9765}" srcOrd="0" destOrd="0" presId="urn:microsoft.com/office/officeart/2018/2/layout/IconVerticalSolidList"/>
    <dgm:cxn modelId="{989AE17F-8229-4CAF-A4A0-0C6C323995A7}" type="presParOf" srcId="{09B76FE0-B806-4AAF-B0EA-1D95C9CDCDC7}" destId="{85EE0FE5-E9DA-4E95-AAC7-57E0BEE33186}" srcOrd="1" destOrd="0" presId="urn:microsoft.com/office/officeart/2018/2/layout/IconVerticalSolidList"/>
    <dgm:cxn modelId="{5BC789DF-E19F-424B-AB34-67E88506D36B}" type="presParOf" srcId="{09B76FE0-B806-4AAF-B0EA-1D95C9CDCDC7}" destId="{3469120F-A616-48DE-B3CA-CA533631CDE9}" srcOrd="2" destOrd="0" presId="urn:microsoft.com/office/officeart/2018/2/layout/IconVerticalSolidList"/>
    <dgm:cxn modelId="{3A3EACCC-A302-42A0-BB2A-265CCEBCED27}" type="presParOf" srcId="{09B76FE0-B806-4AAF-B0EA-1D95C9CDCDC7}" destId="{F88CD76B-203B-4D53-A891-1D7EADE4D6F5}" srcOrd="3" destOrd="0" presId="urn:microsoft.com/office/officeart/2018/2/layout/IconVerticalSolidList"/>
    <dgm:cxn modelId="{ADD107DB-827F-4CF0-8D5A-E412AF801655}" type="presParOf" srcId="{BC91E7B5-452B-46AE-8908-B46254C7316C}" destId="{364082FA-2757-45DE-A277-4AF687872B82}" srcOrd="1" destOrd="0" presId="urn:microsoft.com/office/officeart/2018/2/layout/IconVerticalSolidList"/>
    <dgm:cxn modelId="{CA86F134-59EF-422B-85E5-D30C9F5B3943}" type="presParOf" srcId="{BC91E7B5-452B-46AE-8908-B46254C7316C}" destId="{CC849102-6CB4-4D6F-A0B5-99B16A6D79D0}" srcOrd="2" destOrd="0" presId="urn:microsoft.com/office/officeart/2018/2/layout/IconVerticalSolidList"/>
    <dgm:cxn modelId="{D66A90A2-CB77-4BDE-81D7-B97207A6FDC8}" type="presParOf" srcId="{CC849102-6CB4-4D6F-A0B5-99B16A6D79D0}" destId="{E5D6E699-AFE4-4AAA-9065-A1CAF09087AD}" srcOrd="0" destOrd="0" presId="urn:microsoft.com/office/officeart/2018/2/layout/IconVerticalSolidList"/>
    <dgm:cxn modelId="{2660F492-DD1B-454A-A8EA-ADD76E69640F}" type="presParOf" srcId="{CC849102-6CB4-4D6F-A0B5-99B16A6D79D0}" destId="{B0C2D168-8D97-4A28-813D-325805F7759B}" srcOrd="1" destOrd="0" presId="urn:microsoft.com/office/officeart/2018/2/layout/IconVerticalSolidList"/>
    <dgm:cxn modelId="{2111E81D-CC9F-4439-8C16-21D34FAC3982}" type="presParOf" srcId="{CC849102-6CB4-4D6F-A0B5-99B16A6D79D0}" destId="{8B2F7FBF-01BC-4F2E-B126-2502D27A0E81}" srcOrd="2" destOrd="0" presId="urn:microsoft.com/office/officeart/2018/2/layout/IconVerticalSolidList"/>
    <dgm:cxn modelId="{53E28614-A3EB-4412-A9D8-5EA61AF35EB0}" type="presParOf" srcId="{CC849102-6CB4-4D6F-A0B5-99B16A6D79D0}" destId="{6D732F24-4CAD-4E7C-8EFD-782425C45CA6}" srcOrd="3" destOrd="0" presId="urn:microsoft.com/office/officeart/2018/2/layout/IconVerticalSolidList"/>
    <dgm:cxn modelId="{226380A3-8BD7-42DC-94E6-17942242F7B1}" type="presParOf" srcId="{BC91E7B5-452B-46AE-8908-B46254C7316C}" destId="{F401461E-E78F-4A64-BB78-F107BDC5978C}" srcOrd="3" destOrd="0" presId="urn:microsoft.com/office/officeart/2018/2/layout/IconVerticalSolidList"/>
    <dgm:cxn modelId="{017D41B3-FFC1-424C-B495-ABA44F361F8E}" type="presParOf" srcId="{BC91E7B5-452B-46AE-8908-B46254C7316C}" destId="{90D2830A-2FBB-48C5-81CB-2DBFFF785FB1}" srcOrd="4" destOrd="0" presId="urn:microsoft.com/office/officeart/2018/2/layout/IconVerticalSolidList"/>
    <dgm:cxn modelId="{97A2416D-0170-4070-A9D1-1AFF0D4DECCA}" type="presParOf" srcId="{90D2830A-2FBB-48C5-81CB-2DBFFF785FB1}" destId="{9DBDE07F-FAD8-4907-AD35-559DB85E773C}" srcOrd="0" destOrd="0" presId="urn:microsoft.com/office/officeart/2018/2/layout/IconVerticalSolidList"/>
    <dgm:cxn modelId="{487269CA-3E16-46B7-A2FD-A191F31DCFF1}" type="presParOf" srcId="{90D2830A-2FBB-48C5-81CB-2DBFFF785FB1}" destId="{DA8BF673-A29E-4AD9-B4D3-EF6E79AE2465}" srcOrd="1" destOrd="0" presId="urn:microsoft.com/office/officeart/2018/2/layout/IconVerticalSolidList"/>
    <dgm:cxn modelId="{F2650AB8-9BF3-4C9D-BB5A-18B359F4C767}" type="presParOf" srcId="{90D2830A-2FBB-48C5-81CB-2DBFFF785FB1}" destId="{AB489096-951E-43EE-9D6A-76ED539D411B}" srcOrd="2" destOrd="0" presId="urn:microsoft.com/office/officeart/2018/2/layout/IconVerticalSolidList"/>
    <dgm:cxn modelId="{6DD5F047-3000-4D51-B589-198D623DD757}" type="presParOf" srcId="{90D2830A-2FBB-48C5-81CB-2DBFFF785FB1}" destId="{C7D09913-FEE4-4275-85AB-4B683FC2FA3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5ED3E4-E46D-4D0F-8076-F16B9F472AEA}"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47E602C5-D378-4361-A49F-28ED312DEA23}">
      <dgm:prSet/>
      <dgm:spPr/>
      <dgm:t>
        <a:bodyPr/>
        <a:lstStyle/>
        <a:p>
          <a:r>
            <a:rPr lang="en-US" dirty="0"/>
            <a:t>Microsoft began investing in artificial intelligence decades ago through Microsoft Research, founded in 1991. In the 2010s, the company expanded its focus on machine learning, speech recognition, and cloud-based AI services. </a:t>
          </a:r>
        </a:p>
      </dgm:t>
    </dgm:pt>
    <dgm:pt modelId="{D3D079ED-EFFE-406F-8278-01D7624BDE7C}" type="parTrans" cxnId="{1F31E53A-A462-412F-983A-5F4032956952}">
      <dgm:prSet/>
      <dgm:spPr/>
      <dgm:t>
        <a:bodyPr/>
        <a:lstStyle/>
        <a:p>
          <a:endParaRPr lang="en-US"/>
        </a:p>
      </dgm:t>
    </dgm:pt>
    <dgm:pt modelId="{F5DF722A-72F3-4D20-AB3E-6C9CA76B0F7E}" type="sibTrans" cxnId="{1F31E53A-A462-412F-983A-5F4032956952}">
      <dgm:prSet phldrT="1" phldr="0"/>
      <dgm:spPr/>
    </dgm:pt>
    <dgm:pt modelId="{992FCA7B-B783-45D7-A34F-3FB51146A4F8}">
      <dgm:prSet/>
      <dgm:spPr/>
      <dgm:t>
        <a:bodyPr/>
        <a:lstStyle/>
        <a:p>
          <a:r>
            <a:rPr lang="en-US"/>
            <a:t>The partnership with OpenAI started in 2019 with a $1 billion investment. Microsoft Azure became the exclusive cloud provider for OpenAI.</a:t>
          </a:r>
        </a:p>
      </dgm:t>
    </dgm:pt>
    <dgm:pt modelId="{0C503875-02C7-44C7-B7BD-AF0C60CB2AC9}" type="parTrans" cxnId="{C96B8C66-1C1E-4B10-8D6B-64E502CEE4FF}">
      <dgm:prSet/>
      <dgm:spPr/>
      <dgm:t>
        <a:bodyPr/>
        <a:lstStyle/>
        <a:p>
          <a:endParaRPr lang="en-US"/>
        </a:p>
      </dgm:t>
    </dgm:pt>
    <dgm:pt modelId="{ACC6E50F-BC95-402B-8D72-76E64A7783B9}" type="sibTrans" cxnId="{C96B8C66-1C1E-4B10-8D6B-64E502CEE4FF}">
      <dgm:prSet phldrT="2" phldr="0"/>
      <dgm:spPr/>
    </dgm:pt>
    <dgm:pt modelId="{F9D40EE3-2CBA-457B-A5AB-91B7E0A834F8}">
      <dgm:prSet/>
      <dgm:spPr/>
      <dgm:t>
        <a:bodyPr/>
        <a:lstStyle/>
        <a:p>
          <a:r>
            <a:rPr lang="en-US"/>
            <a:t>Azure is Microsoft’s cloud computing platform. It provides infrastructure, data storage, computing power, and AI services for businesses and developers. </a:t>
          </a:r>
        </a:p>
      </dgm:t>
    </dgm:pt>
    <dgm:pt modelId="{439B36E6-63FA-413B-947A-333A92B9FB8C}" type="parTrans" cxnId="{D12E2DD4-8FE2-43BC-83CA-FEC429DC3EB5}">
      <dgm:prSet/>
      <dgm:spPr/>
      <dgm:t>
        <a:bodyPr/>
        <a:lstStyle/>
        <a:p>
          <a:endParaRPr lang="en-US"/>
        </a:p>
      </dgm:t>
    </dgm:pt>
    <dgm:pt modelId="{1E16F33A-AF9B-4B3E-8742-E420CFEB8449}" type="sibTrans" cxnId="{D12E2DD4-8FE2-43BC-83CA-FEC429DC3EB5}">
      <dgm:prSet phldrT="3" phldr="0"/>
      <dgm:spPr/>
    </dgm:pt>
    <dgm:pt modelId="{59999402-0E8F-4A08-ACDF-A3F36A965441}">
      <dgm:prSet/>
      <dgm:spPr/>
      <dgm:t>
        <a:bodyPr/>
        <a:lstStyle/>
        <a:p>
          <a:r>
            <a:rPr lang="en-US"/>
            <a:t>Microsoft Copilot is Microsoft’s AI assistant integrated into products like Windows and Microsoft 365. It uses advanced language models to help users write, analyze data, code, and automate tasks.</a:t>
          </a:r>
        </a:p>
      </dgm:t>
    </dgm:pt>
    <dgm:pt modelId="{E3D764CF-66A3-49AE-92CE-AB0F154EF280}" type="parTrans" cxnId="{A20D8BE0-1CE8-4C33-AD35-48E07BE68EBD}">
      <dgm:prSet/>
      <dgm:spPr/>
      <dgm:t>
        <a:bodyPr/>
        <a:lstStyle/>
        <a:p>
          <a:endParaRPr lang="en-US"/>
        </a:p>
      </dgm:t>
    </dgm:pt>
    <dgm:pt modelId="{2E9FCB91-8A02-4DF0-A5D5-06722BC6ED70}" type="sibTrans" cxnId="{A20D8BE0-1CE8-4C33-AD35-48E07BE68EBD}">
      <dgm:prSet phldrT="4" phldr="0"/>
      <dgm:spPr/>
    </dgm:pt>
    <dgm:pt modelId="{7074DF86-A456-457B-ABE9-8D212457F75E}">
      <dgm:prSet/>
      <dgm:spPr/>
      <dgm:t>
        <a:bodyPr/>
        <a:lstStyle/>
        <a:p>
          <a:r>
            <a:rPr lang="en-US"/>
            <a:t>Microsoft’s goal is to lead the AI-powered cloud market, increase productivity through AI integration, and strengthen Azure as the core infrastructure for advanced artificial intelligence services.</a:t>
          </a:r>
        </a:p>
      </dgm:t>
    </dgm:pt>
    <dgm:pt modelId="{F1F01632-0577-424E-81B0-199F2DA58B4C}" type="parTrans" cxnId="{E1208104-ED8F-4B1B-A5BA-DCE1C3FE890A}">
      <dgm:prSet/>
      <dgm:spPr/>
      <dgm:t>
        <a:bodyPr/>
        <a:lstStyle/>
        <a:p>
          <a:endParaRPr lang="en-US"/>
        </a:p>
      </dgm:t>
    </dgm:pt>
    <dgm:pt modelId="{E7FF3FFA-C797-4BC7-AF97-7481C056BECF}" type="sibTrans" cxnId="{E1208104-ED8F-4B1B-A5BA-DCE1C3FE890A}">
      <dgm:prSet phldrT="5" phldr="0"/>
      <dgm:spPr/>
    </dgm:pt>
    <dgm:pt modelId="{0638DBF8-A259-4944-96CF-5D9125A8FF2B}" type="pres">
      <dgm:prSet presAssocID="{FD5ED3E4-E46D-4D0F-8076-F16B9F472AEA}" presName="vert0" presStyleCnt="0">
        <dgm:presLayoutVars>
          <dgm:dir/>
          <dgm:animOne val="branch"/>
          <dgm:animLvl val="lvl"/>
        </dgm:presLayoutVars>
      </dgm:prSet>
      <dgm:spPr/>
    </dgm:pt>
    <dgm:pt modelId="{F592DDE4-625F-40C9-8DA6-3E735C80DE73}" type="pres">
      <dgm:prSet presAssocID="{47E602C5-D378-4361-A49F-28ED312DEA23}" presName="thickLine" presStyleLbl="alignNode1" presStyleIdx="0" presStyleCnt="5"/>
      <dgm:spPr/>
    </dgm:pt>
    <dgm:pt modelId="{2EFD4D81-A2E4-4232-B218-5A9A7A110F83}" type="pres">
      <dgm:prSet presAssocID="{47E602C5-D378-4361-A49F-28ED312DEA23}" presName="horz1" presStyleCnt="0"/>
      <dgm:spPr/>
    </dgm:pt>
    <dgm:pt modelId="{2A37C812-20DB-466E-B0C5-1BE64B387994}" type="pres">
      <dgm:prSet presAssocID="{47E602C5-D378-4361-A49F-28ED312DEA23}" presName="tx1" presStyleLbl="revTx" presStyleIdx="0" presStyleCnt="5"/>
      <dgm:spPr/>
    </dgm:pt>
    <dgm:pt modelId="{D301948C-4F28-40E5-BE20-F07D5DAD7928}" type="pres">
      <dgm:prSet presAssocID="{47E602C5-D378-4361-A49F-28ED312DEA23}" presName="vert1" presStyleCnt="0"/>
      <dgm:spPr/>
    </dgm:pt>
    <dgm:pt modelId="{82208D69-99D5-4C30-B13E-2454CC7FC461}" type="pres">
      <dgm:prSet presAssocID="{992FCA7B-B783-45D7-A34F-3FB51146A4F8}" presName="thickLine" presStyleLbl="alignNode1" presStyleIdx="1" presStyleCnt="5"/>
      <dgm:spPr/>
    </dgm:pt>
    <dgm:pt modelId="{94E9BA04-1FC1-41D8-A50A-22A2FCBDED49}" type="pres">
      <dgm:prSet presAssocID="{992FCA7B-B783-45D7-A34F-3FB51146A4F8}" presName="horz1" presStyleCnt="0"/>
      <dgm:spPr/>
    </dgm:pt>
    <dgm:pt modelId="{2FD34E2D-8237-4ADB-B577-6B47D5DB54B8}" type="pres">
      <dgm:prSet presAssocID="{992FCA7B-B783-45D7-A34F-3FB51146A4F8}" presName="tx1" presStyleLbl="revTx" presStyleIdx="1" presStyleCnt="5"/>
      <dgm:spPr/>
    </dgm:pt>
    <dgm:pt modelId="{CD4BB213-342E-4971-AC01-EBE1D5D5FE2B}" type="pres">
      <dgm:prSet presAssocID="{992FCA7B-B783-45D7-A34F-3FB51146A4F8}" presName="vert1" presStyleCnt="0"/>
      <dgm:spPr/>
    </dgm:pt>
    <dgm:pt modelId="{3F197D9F-B2D0-4BBD-8CC3-FA2F6ECCC2FC}" type="pres">
      <dgm:prSet presAssocID="{F9D40EE3-2CBA-457B-A5AB-91B7E0A834F8}" presName="thickLine" presStyleLbl="alignNode1" presStyleIdx="2" presStyleCnt="5"/>
      <dgm:spPr/>
    </dgm:pt>
    <dgm:pt modelId="{B1370058-4EE5-43D3-97C4-58D1A659E4AD}" type="pres">
      <dgm:prSet presAssocID="{F9D40EE3-2CBA-457B-A5AB-91B7E0A834F8}" presName="horz1" presStyleCnt="0"/>
      <dgm:spPr/>
    </dgm:pt>
    <dgm:pt modelId="{2823D0C5-A28B-4B16-8D7D-72D0ECD17D06}" type="pres">
      <dgm:prSet presAssocID="{F9D40EE3-2CBA-457B-A5AB-91B7E0A834F8}" presName="tx1" presStyleLbl="revTx" presStyleIdx="2" presStyleCnt="5"/>
      <dgm:spPr/>
    </dgm:pt>
    <dgm:pt modelId="{D2E7FC7D-E978-40EE-AFF4-B547602214C6}" type="pres">
      <dgm:prSet presAssocID="{F9D40EE3-2CBA-457B-A5AB-91B7E0A834F8}" presName="vert1" presStyleCnt="0"/>
      <dgm:spPr/>
    </dgm:pt>
    <dgm:pt modelId="{D5172C60-DF5C-4A02-AD34-DDE8ECF25EA0}" type="pres">
      <dgm:prSet presAssocID="{59999402-0E8F-4A08-ACDF-A3F36A965441}" presName="thickLine" presStyleLbl="alignNode1" presStyleIdx="3" presStyleCnt="5"/>
      <dgm:spPr/>
    </dgm:pt>
    <dgm:pt modelId="{FB5D793A-F9F6-4114-847B-FC5D9BF38061}" type="pres">
      <dgm:prSet presAssocID="{59999402-0E8F-4A08-ACDF-A3F36A965441}" presName="horz1" presStyleCnt="0"/>
      <dgm:spPr/>
    </dgm:pt>
    <dgm:pt modelId="{B2960A8A-EF4D-4CE3-B80A-F2A300E07CA6}" type="pres">
      <dgm:prSet presAssocID="{59999402-0E8F-4A08-ACDF-A3F36A965441}" presName="tx1" presStyleLbl="revTx" presStyleIdx="3" presStyleCnt="5"/>
      <dgm:spPr/>
    </dgm:pt>
    <dgm:pt modelId="{7F08D280-00A0-4578-878A-1F7354C4D791}" type="pres">
      <dgm:prSet presAssocID="{59999402-0E8F-4A08-ACDF-A3F36A965441}" presName="vert1" presStyleCnt="0"/>
      <dgm:spPr/>
    </dgm:pt>
    <dgm:pt modelId="{1B5F2B2F-B7B7-41C7-834F-D252E6C654BB}" type="pres">
      <dgm:prSet presAssocID="{7074DF86-A456-457B-ABE9-8D212457F75E}" presName="thickLine" presStyleLbl="alignNode1" presStyleIdx="4" presStyleCnt="5"/>
      <dgm:spPr/>
    </dgm:pt>
    <dgm:pt modelId="{7FAE67B5-E604-4D79-8514-F26027621A38}" type="pres">
      <dgm:prSet presAssocID="{7074DF86-A456-457B-ABE9-8D212457F75E}" presName="horz1" presStyleCnt="0"/>
      <dgm:spPr/>
    </dgm:pt>
    <dgm:pt modelId="{615A34AB-FD2E-4C1E-A95A-4378842F12B8}" type="pres">
      <dgm:prSet presAssocID="{7074DF86-A456-457B-ABE9-8D212457F75E}" presName="tx1" presStyleLbl="revTx" presStyleIdx="4" presStyleCnt="5"/>
      <dgm:spPr/>
    </dgm:pt>
    <dgm:pt modelId="{4F720BBF-8AB1-49C9-9CFE-3E84B0D511E4}" type="pres">
      <dgm:prSet presAssocID="{7074DF86-A456-457B-ABE9-8D212457F75E}" presName="vert1" presStyleCnt="0"/>
      <dgm:spPr/>
    </dgm:pt>
  </dgm:ptLst>
  <dgm:cxnLst>
    <dgm:cxn modelId="{E1208104-ED8F-4B1B-A5BA-DCE1C3FE890A}" srcId="{FD5ED3E4-E46D-4D0F-8076-F16B9F472AEA}" destId="{7074DF86-A456-457B-ABE9-8D212457F75E}" srcOrd="4" destOrd="0" parTransId="{F1F01632-0577-424E-81B0-199F2DA58B4C}" sibTransId="{E7FF3FFA-C797-4BC7-AF97-7481C056BECF}"/>
    <dgm:cxn modelId="{1F31E53A-A462-412F-983A-5F4032956952}" srcId="{FD5ED3E4-E46D-4D0F-8076-F16B9F472AEA}" destId="{47E602C5-D378-4361-A49F-28ED312DEA23}" srcOrd="0" destOrd="0" parTransId="{D3D079ED-EFFE-406F-8278-01D7624BDE7C}" sibTransId="{F5DF722A-72F3-4D20-AB3E-6C9CA76B0F7E}"/>
    <dgm:cxn modelId="{C96B8C66-1C1E-4B10-8D6B-64E502CEE4FF}" srcId="{FD5ED3E4-E46D-4D0F-8076-F16B9F472AEA}" destId="{992FCA7B-B783-45D7-A34F-3FB51146A4F8}" srcOrd="1" destOrd="0" parTransId="{0C503875-02C7-44C7-B7BD-AF0C60CB2AC9}" sibTransId="{ACC6E50F-BC95-402B-8D72-76E64A7783B9}"/>
    <dgm:cxn modelId="{28D9916D-BD26-4F06-856C-018AA4B2C126}" type="presOf" srcId="{59999402-0E8F-4A08-ACDF-A3F36A965441}" destId="{B2960A8A-EF4D-4CE3-B80A-F2A300E07CA6}" srcOrd="0" destOrd="0" presId="urn:microsoft.com/office/officeart/2008/layout/LinedList"/>
    <dgm:cxn modelId="{7B1DDC6D-89F2-404A-AA5E-3B593828C662}" type="presOf" srcId="{47E602C5-D378-4361-A49F-28ED312DEA23}" destId="{2A37C812-20DB-466E-B0C5-1BE64B387994}" srcOrd="0" destOrd="0" presId="urn:microsoft.com/office/officeart/2008/layout/LinedList"/>
    <dgm:cxn modelId="{39956D8C-15E4-46D9-AA45-8FF987D97A4F}" type="presOf" srcId="{992FCA7B-B783-45D7-A34F-3FB51146A4F8}" destId="{2FD34E2D-8237-4ADB-B577-6B47D5DB54B8}" srcOrd="0" destOrd="0" presId="urn:microsoft.com/office/officeart/2008/layout/LinedList"/>
    <dgm:cxn modelId="{17B78DB2-9573-4166-BC4A-637B392643B6}" type="presOf" srcId="{FD5ED3E4-E46D-4D0F-8076-F16B9F472AEA}" destId="{0638DBF8-A259-4944-96CF-5D9125A8FF2B}" srcOrd="0" destOrd="0" presId="urn:microsoft.com/office/officeart/2008/layout/LinedList"/>
    <dgm:cxn modelId="{1815B4C2-3143-4FAF-AB1F-FD5570AAF5F6}" type="presOf" srcId="{F9D40EE3-2CBA-457B-A5AB-91B7E0A834F8}" destId="{2823D0C5-A28B-4B16-8D7D-72D0ECD17D06}" srcOrd="0" destOrd="0" presId="urn:microsoft.com/office/officeart/2008/layout/LinedList"/>
    <dgm:cxn modelId="{D12E2DD4-8FE2-43BC-83CA-FEC429DC3EB5}" srcId="{FD5ED3E4-E46D-4D0F-8076-F16B9F472AEA}" destId="{F9D40EE3-2CBA-457B-A5AB-91B7E0A834F8}" srcOrd="2" destOrd="0" parTransId="{439B36E6-63FA-413B-947A-333A92B9FB8C}" sibTransId="{1E16F33A-AF9B-4B3E-8742-E420CFEB8449}"/>
    <dgm:cxn modelId="{A20D8BE0-1CE8-4C33-AD35-48E07BE68EBD}" srcId="{FD5ED3E4-E46D-4D0F-8076-F16B9F472AEA}" destId="{59999402-0E8F-4A08-ACDF-A3F36A965441}" srcOrd="3" destOrd="0" parTransId="{E3D764CF-66A3-49AE-92CE-AB0F154EF280}" sibTransId="{2E9FCB91-8A02-4DF0-A5D5-06722BC6ED70}"/>
    <dgm:cxn modelId="{8F359BE2-3D90-4766-8C8A-FCC4B4E8B193}" type="presOf" srcId="{7074DF86-A456-457B-ABE9-8D212457F75E}" destId="{615A34AB-FD2E-4C1E-A95A-4378842F12B8}" srcOrd="0" destOrd="0" presId="urn:microsoft.com/office/officeart/2008/layout/LinedList"/>
    <dgm:cxn modelId="{CFB522F7-C52D-406A-A142-A080B2B1C571}" type="presParOf" srcId="{0638DBF8-A259-4944-96CF-5D9125A8FF2B}" destId="{F592DDE4-625F-40C9-8DA6-3E735C80DE73}" srcOrd="0" destOrd="0" presId="urn:microsoft.com/office/officeart/2008/layout/LinedList"/>
    <dgm:cxn modelId="{2FA0435C-0D91-4242-9AB4-13B9C0780374}" type="presParOf" srcId="{0638DBF8-A259-4944-96CF-5D9125A8FF2B}" destId="{2EFD4D81-A2E4-4232-B218-5A9A7A110F83}" srcOrd="1" destOrd="0" presId="urn:microsoft.com/office/officeart/2008/layout/LinedList"/>
    <dgm:cxn modelId="{97F595A3-3F6F-4C2B-8457-1DA381BFD0ED}" type="presParOf" srcId="{2EFD4D81-A2E4-4232-B218-5A9A7A110F83}" destId="{2A37C812-20DB-466E-B0C5-1BE64B387994}" srcOrd="0" destOrd="0" presId="urn:microsoft.com/office/officeart/2008/layout/LinedList"/>
    <dgm:cxn modelId="{30429106-9705-487E-8F62-94106E9FBEC9}" type="presParOf" srcId="{2EFD4D81-A2E4-4232-B218-5A9A7A110F83}" destId="{D301948C-4F28-40E5-BE20-F07D5DAD7928}" srcOrd="1" destOrd="0" presId="urn:microsoft.com/office/officeart/2008/layout/LinedList"/>
    <dgm:cxn modelId="{8179BC48-089E-421D-9822-B5BB89A23279}" type="presParOf" srcId="{0638DBF8-A259-4944-96CF-5D9125A8FF2B}" destId="{82208D69-99D5-4C30-B13E-2454CC7FC461}" srcOrd="2" destOrd="0" presId="urn:microsoft.com/office/officeart/2008/layout/LinedList"/>
    <dgm:cxn modelId="{43384665-EDD5-46EB-A060-6DE8EA818E99}" type="presParOf" srcId="{0638DBF8-A259-4944-96CF-5D9125A8FF2B}" destId="{94E9BA04-1FC1-41D8-A50A-22A2FCBDED49}" srcOrd="3" destOrd="0" presId="urn:microsoft.com/office/officeart/2008/layout/LinedList"/>
    <dgm:cxn modelId="{B5A2101F-3B4F-4E7E-BA84-B114FEBFE586}" type="presParOf" srcId="{94E9BA04-1FC1-41D8-A50A-22A2FCBDED49}" destId="{2FD34E2D-8237-4ADB-B577-6B47D5DB54B8}" srcOrd="0" destOrd="0" presId="urn:microsoft.com/office/officeart/2008/layout/LinedList"/>
    <dgm:cxn modelId="{ABC90CC6-B413-48B8-B143-ED5A506D241E}" type="presParOf" srcId="{94E9BA04-1FC1-41D8-A50A-22A2FCBDED49}" destId="{CD4BB213-342E-4971-AC01-EBE1D5D5FE2B}" srcOrd="1" destOrd="0" presId="urn:microsoft.com/office/officeart/2008/layout/LinedList"/>
    <dgm:cxn modelId="{0E276F5C-E1B9-421E-B380-2E2FBEB0FC0E}" type="presParOf" srcId="{0638DBF8-A259-4944-96CF-5D9125A8FF2B}" destId="{3F197D9F-B2D0-4BBD-8CC3-FA2F6ECCC2FC}" srcOrd="4" destOrd="0" presId="urn:microsoft.com/office/officeart/2008/layout/LinedList"/>
    <dgm:cxn modelId="{F39D41B2-F1B9-4BE6-8D9B-8049DE804C33}" type="presParOf" srcId="{0638DBF8-A259-4944-96CF-5D9125A8FF2B}" destId="{B1370058-4EE5-43D3-97C4-58D1A659E4AD}" srcOrd="5" destOrd="0" presId="urn:microsoft.com/office/officeart/2008/layout/LinedList"/>
    <dgm:cxn modelId="{3A119A2D-0FB1-4986-933C-DB68592D22E3}" type="presParOf" srcId="{B1370058-4EE5-43D3-97C4-58D1A659E4AD}" destId="{2823D0C5-A28B-4B16-8D7D-72D0ECD17D06}" srcOrd="0" destOrd="0" presId="urn:microsoft.com/office/officeart/2008/layout/LinedList"/>
    <dgm:cxn modelId="{6C79B12E-9A91-4541-BBEC-8A25EAFAE321}" type="presParOf" srcId="{B1370058-4EE5-43D3-97C4-58D1A659E4AD}" destId="{D2E7FC7D-E978-40EE-AFF4-B547602214C6}" srcOrd="1" destOrd="0" presId="urn:microsoft.com/office/officeart/2008/layout/LinedList"/>
    <dgm:cxn modelId="{017198A8-8F56-4BDE-AF2F-290BFF1C8775}" type="presParOf" srcId="{0638DBF8-A259-4944-96CF-5D9125A8FF2B}" destId="{D5172C60-DF5C-4A02-AD34-DDE8ECF25EA0}" srcOrd="6" destOrd="0" presId="urn:microsoft.com/office/officeart/2008/layout/LinedList"/>
    <dgm:cxn modelId="{8BF235C3-CDF0-4356-8E1F-8ED397E0F8D1}" type="presParOf" srcId="{0638DBF8-A259-4944-96CF-5D9125A8FF2B}" destId="{FB5D793A-F9F6-4114-847B-FC5D9BF38061}" srcOrd="7" destOrd="0" presId="urn:microsoft.com/office/officeart/2008/layout/LinedList"/>
    <dgm:cxn modelId="{98794CEF-C652-49D4-B901-5CED514EB6C5}" type="presParOf" srcId="{FB5D793A-F9F6-4114-847B-FC5D9BF38061}" destId="{B2960A8A-EF4D-4CE3-B80A-F2A300E07CA6}" srcOrd="0" destOrd="0" presId="urn:microsoft.com/office/officeart/2008/layout/LinedList"/>
    <dgm:cxn modelId="{B0F136BE-4968-4E32-9587-9124C53C4BED}" type="presParOf" srcId="{FB5D793A-F9F6-4114-847B-FC5D9BF38061}" destId="{7F08D280-00A0-4578-878A-1F7354C4D791}" srcOrd="1" destOrd="0" presId="urn:microsoft.com/office/officeart/2008/layout/LinedList"/>
    <dgm:cxn modelId="{70575BD9-877F-4EF1-9700-BB5B5BE0A9EF}" type="presParOf" srcId="{0638DBF8-A259-4944-96CF-5D9125A8FF2B}" destId="{1B5F2B2F-B7B7-41C7-834F-D252E6C654BB}" srcOrd="8" destOrd="0" presId="urn:microsoft.com/office/officeart/2008/layout/LinedList"/>
    <dgm:cxn modelId="{F912C1E6-C3D8-44F9-9587-FEF8621B5B27}" type="presParOf" srcId="{0638DBF8-A259-4944-96CF-5D9125A8FF2B}" destId="{7FAE67B5-E604-4D79-8514-F26027621A38}" srcOrd="9" destOrd="0" presId="urn:microsoft.com/office/officeart/2008/layout/LinedList"/>
    <dgm:cxn modelId="{32C52475-293C-4B60-AA67-55095E8504CC}" type="presParOf" srcId="{7FAE67B5-E604-4D79-8514-F26027621A38}" destId="{615A34AB-FD2E-4C1E-A95A-4378842F12B8}" srcOrd="0" destOrd="0" presId="urn:microsoft.com/office/officeart/2008/layout/LinedList"/>
    <dgm:cxn modelId="{5EF034BD-28D4-4311-8D91-65CBBCDAA871}" type="presParOf" srcId="{7FAE67B5-E604-4D79-8514-F26027621A38}" destId="{4F720BBF-8AB1-49C9-9CFE-3E84B0D511E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281A040-B928-4970-A7C5-C49E9AD5B0C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3A685D8-DEC5-42C8-953D-32D41D738D52}">
      <dgm:prSet/>
      <dgm:spPr/>
      <dgm:t>
        <a:bodyPr/>
        <a:lstStyle/>
        <a:p>
          <a:pPr>
            <a:lnSpc>
              <a:spcPct val="100000"/>
            </a:lnSpc>
          </a:pPr>
          <a:r>
            <a:rPr lang="en-US"/>
            <a:t>Microsoft is important because it has played a central role in shaping the modern technology industry. Its software has influenced how people work, communicate, and use computers for more than four decades.</a:t>
          </a:r>
        </a:p>
      </dgm:t>
    </dgm:pt>
    <dgm:pt modelId="{155C9349-8F45-4575-9519-A196C3EBCAD5}" type="parTrans" cxnId="{8E62415E-4C88-4BAF-AC58-E6D7C6C3A519}">
      <dgm:prSet/>
      <dgm:spPr/>
      <dgm:t>
        <a:bodyPr/>
        <a:lstStyle/>
        <a:p>
          <a:endParaRPr lang="en-US"/>
        </a:p>
      </dgm:t>
    </dgm:pt>
    <dgm:pt modelId="{E7727996-31A3-4FD2-A4BD-A4258A921C4A}" type="sibTrans" cxnId="{8E62415E-4C88-4BAF-AC58-E6D7C6C3A519}">
      <dgm:prSet/>
      <dgm:spPr/>
      <dgm:t>
        <a:bodyPr/>
        <a:lstStyle/>
        <a:p>
          <a:pPr>
            <a:lnSpc>
              <a:spcPct val="100000"/>
            </a:lnSpc>
          </a:pPr>
          <a:endParaRPr lang="en-US"/>
        </a:p>
      </dgm:t>
    </dgm:pt>
    <dgm:pt modelId="{1D576AEE-CD46-4D1A-BE55-109B8FA10F03}">
      <dgm:prSet/>
      <dgm:spPr/>
      <dgm:t>
        <a:bodyPr/>
        <a:lstStyle/>
        <a:p>
          <a:pPr>
            <a:lnSpc>
              <a:spcPct val="100000"/>
            </a:lnSpc>
          </a:pPr>
          <a:r>
            <a:rPr lang="en-US"/>
            <a:t>One of the main reasons Microsoft is so significant is that Microsoft Windows is the most widely used desktop operating system in the world. Windows runs on the majority of personal computers, making it a global standard for businesses, schools, and home users.</a:t>
          </a:r>
        </a:p>
      </dgm:t>
    </dgm:pt>
    <dgm:pt modelId="{2C78BC00-4A5D-40ED-9962-990DC22F9216}" type="parTrans" cxnId="{1EA31BD4-35B8-4D63-A678-F6D85222C9F1}">
      <dgm:prSet/>
      <dgm:spPr/>
      <dgm:t>
        <a:bodyPr/>
        <a:lstStyle/>
        <a:p>
          <a:endParaRPr lang="en-US"/>
        </a:p>
      </dgm:t>
    </dgm:pt>
    <dgm:pt modelId="{99FEB6C9-980F-40B8-8CFF-F3522D92BB9D}" type="sibTrans" cxnId="{1EA31BD4-35B8-4D63-A678-F6D85222C9F1}">
      <dgm:prSet/>
      <dgm:spPr/>
      <dgm:t>
        <a:bodyPr/>
        <a:lstStyle/>
        <a:p>
          <a:pPr>
            <a:lnSpc>
              <a:spcPct val="100000"/>
            </a:lnSpc>
          </a:pPr>
          <a:endParaRPr lang="en-US"/>
        </a:p>
      </dgm:t>
    </dgm:pt>
    <dgm:pt modelId="{3700226C-B696-4E91-84AE-7BE2EEDDDDFF}">
      <dgm:prSet/>
      <dgm:spPr/>
      <dgm:t>
        <a:bodyPr/>
        <a:lstStyle/>
        <a:p>
          <a:pPr>
            <a:lnSpc>
              <a:spcPct val="100000"/>
            </a:lnSpc>
          </a:pPr>
          <a:r>
            <a:rPr lang="en-US"/>
            <a:t>Microsoft is also a leader in cloud computing through Microsoft Azure, which powers digital services and infrastructure for companies worldwide. In addition, its productivity tools like Microsoft 365 are essential for organizations, and its investments in artificial intelligence and gaming continue to expand its global influence.</a:t>
          </a:r>
        </a:p>
      </dgm:t>
    </dgm:pt>
    <dgm:pt modelId="{6733055A-04D4-4E2B-9A07-F9FFCB202DCC}" type="parTrans" cxnId="{A791A294-8C26-421B-9B17-7BA35547FA6F}">
      <dgm:prSet/>
      <dgm:spPr/>
      <dgm:t>
        <a:bodyPr/>
        <a:lstStyle/>
        <a:p>
          <a:endParaRPr lang="en-US"/>
        </a:p>
      </dgm:t>
    </dgm:pt>
    <dgm:pt modelId="{20D685C3-6887-47DD-9770-322AD1072BDD}" type="sibTrans" cxnId="{A791A294-8C26-421B-9B17-7BA35547FA6F}">
      <dgm:prSet/>
      <dgm:spPr/>
      <dgm:t>
        <a:bodyPr/>
        <a:lstStyle/>
        <a:p>
          <a:endParaRPr lang="en-US"/>
        </a:p>
      </dgm:t>
    </dgm:pt>
    <dgm:pt modelId="{D8F5E4C6-8F4B-4DD3-94DE-A2E61EED87EB}" type="pres">
      <dgm:prSet presAssocID="{6281A040-B928-4970-A7C5-C49E9AD5B0C6}" presName="root" presStyleCnt="0">
        <dgm:presLayoutVars>
          <dgm:dir/>
          <dgm:resizeHandles val="exact"/>
        </dgm:presLayoutVars>
      </dgm:prSet>
      <dgm:spPr/>
    </dgm:pt>
    <dgm:pt modelId="{0143352C-AFF6-4016-9BC3-B1B1A8839CBC}" type="pres">
      <dgm:prSet presAssocID="{23A685D8-DEC5-42C8-953D-32D41D738D52}" presName="compNode" presStyleCnt="0"/>
      <dgm:spPr/>
    </dgm:pt>
    <dgm:pt modelId="{01A89124-1E91-4FDF-A73E-FE207B354CE8}" type="pres">
      <dgm:prSet presAssocID="{23A685D8-DEC5-42C8-953D-32D41D738D52}" presName="bgRect" presStyleLbl="bgShp" presStyleIdx="0" presStyleCnt="3"/>
      <dgm:spPr/>
    </dgm:pt>
    <dgm:pt modelId="{4E79BBAD-EEAB-4249-B5F9-CC92FF3CE942}" type="pres">
      <dgm:prSet presAssocID="{23A685D8-DEC5-42C8-953D-32D41D738D5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BD7263EF-9473-4345-8775-FF675D8BC653}" type="pres">
      <dgm:prSet presAssocID="{23A685D8-DEC5-42C8-953D-32D41D738D52}" presName="spaceRect" presStyleCnt="0"/>
      <dgm:spPr/>
    </dgm:pt>
    <dgm:pt modelId="{8E58403B-6480-4C29-B4FA-2489049159E0}" type="pres">
      <dgm:prSet presAssocID="{23A685D8-DEC5-42C8-953D-32D41D738D52}" presName="parTx" presStyleLbl="revTx" presStyleIdx="0" presStyleCnt="3">
        <dgm:presLayoutVars>
          <dgm:chMax val="0"/>
          <dgm:chPref val="0"/>
        </dgm:presLayoutVars>
      </dgm:prSet>
      <dgm:spPr/>
    </dgm:pt>
    <dgm:pt modelId="{C192AD30-C858-4FBB-9A1F-41C67E07D5D1}" type="pres">
      <dgm:prSet presAssocID="{E7727996-31A3-4FD2-A4BD-A4258A921C4A}" presName="sibTrans" presStyleCnt="0"/>
      <dgm:spPr/>
    </dgm:pt>
    <dgm:pt modelId="{BD8A12EB-5305-4473-8ABF-B5B831768621}" type="pres">
      <dgm:prSet presAssocID="{1D576AEE-CD46-4D1A-BE55-109B8FA10F03}" presName="compNode" presStyleCnt="0"/>
      <dgm:spPr/>
    </dgm:pt>
    <dgm:pt modelId="{12687B6A-BCF1-4CFB-9367-F11754342E46}" type="pres">
      <dgm:prSet presAssocID="{1D576AEE-CD46-4D1A-BE55-109B8FA10F03}" presName="bgRect" presStyleLbl="bgShp" presStyleIdx="1" presStyleCnt="3"/>
      <dgm:spPr/>
    </dgm:pt>
    <dgm:pt modelId="{D63B7EA6-A4FB-48AB-A4EC-826D41083DF4}" type="pres">
      <dgm:prSet presAssocID="{1D576AEE-CD46-4D1A-BE55-109B8FA10F0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ador"/>
        </a:ext>
      </dgm:extLst>
    </dgm:pt>
    <dgm:pt modelId="{8FF480BE-9070-468C-B286-A0D45D378433}" type="pres">
      <dgm:prSet presAssocID="{1D576AEE-CD46-4D1A-BE55-109B8FA10F03}" presName="spaceRect" presStyleCnt="0"/>
      <dgm:spPr/>
    </dgm:pt>
    <dgm:pt modelId="{73E32AC4-92D5-4A78-B94F-036BA84DED9D}" type="pres">
      <dgm:prSet presAssocID="{1D576AEE-CD46-4D1A-BE55-109B8FA10F03}" presName="parTx" presStyleLbl="revTx" presStyleIdx="1" presStyleCnt="3">
        <dgm:presLayoutVars>
          <dgm:chMax val="0"/>
          <dgm:chPref val="0"/>
        </dgm:presLayoutVars>
      </dgm:prSet>
      <dgm:spPr/>
    </dgm:pt>
    <dgm:pt modelId="{3F0948D4-35F9-4005-B680-9BF629230225}" type="pres">
      <dgm:prSet presAssocID="{99FEB6C9-980F-40B8-8CFF-F3522D92BB9D}" presName="sibTrans" presStyleCnt="0"/>
      <dgm:spPr/>
    </dgm:pt>
    <dgm:pt modelId="{924DD19A-6863-4009-BDA3-8A6E8699C62E}" type="pres">
      <dgm:prSet presAssocID="{3700226C-B696-4E91-84AE-7BE2EEDDDDFF}" presName="compNode" presStyleCnt="0"/>
      <dgm:spPr/>
    </dgm:pt>
    <dgm:pt modelId="{EA1E6886-5420-4263-A4E2-6B8156AE358F}" type="pres">
      <dgm:prSet presAssocID="{3700226C-B696-4E91-84AE-7BE2EEDDDDFF}" presName="bgRect" presStyleLbl="bgShp" presStyleIdx="2" presStyleCnt="3"/>
      <dgm:spPr/>
    </dgm:pt>
    <dgm:pt modelId="{03C79527-C176-4B08-890B-FFFB29F8DAAB}" type="pres">
      <dgm:prSet presAssocID="{3700226C-B696-4E91-84AE-7BE2EEDDDDF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ud Computing"/>
        </a:ext>
      </dgm:extLst>
    </dgm:pt>
    <dgm:pt modelId="{D1BBAB59-2809-4BC8-BDEC-9DD1DC5D5862}" type="pres">
      <dgm:prSet presAssocID="{3700226C-B696-4E91-84AE-7BE2EEDDDDFF}" presName="spaceRect" presStyleCnt="0"/>
      <dgm:spPr/>
    </dgm:pt>
    <dgm:pt modelId="{AF979BC9-B87D-4019-8208-0D142CBA508A}" type="pres">
      <dgm:prSet presAssocID="{3700226C-B696-4E91-84AE-7BE2EEDDDDFF}" presName="parTx" presStyleLbl="revTx" presStyleIdx="2" presStyleCnt="3">
        <dgm:presLayoutVars>
          <dgm:chMax val="0"/>
          <dgm:chPref val="0"/>
        </dgm:presLayoutVars>
      </dgm:prSet>
      <dgm:spPr/>
    </dgm:pt>
  </dgm:ptLst>
  <dgm:cxnLst>
    <dgm:cxn modelId="{8E62415E-4C88-4BAF-AC58-E6D7C6C3A519}" srcId="{6281A040-B928-4970-A7C5-C49E9AD5B0C6}" destId="{23A685D8-DEC5-42C8-953D-32D41D738D52}" srcOrd="0" destOrd="0" parTransId="{155C9349-8F45-4575-9519-A196C3EBCAD5}" sibTransId="{E7727996-31A3-4FD2-A4BD-A4258A921C4A}"/>
    <dgm:cxn modelId="{328AD567-FB72-46E2-A823-FDABF8B01AC8}" type="presOf" srcId="{6281A040-B928-4970-A7C5-C49E9AD5B0C6}" destId="{D8F5E4C6-8F4B-4DD3-94DE-A2E61EED87EB}" srcOrd="0" destOrd="0" presId="urn:microsoft.com/office/officeart/2018/2/layout/IconVerticalSolidList"/>
    <dgm:cxn modelId="{FE7B2A54-F282-490C-BC73-C941AE841A8A}" type="presOf" srcId="{3700226C-B696-4E91-84AE-7BE2EEDDDDFF}" destId="{AF979BC9-B87D-4019-8208-0D142CBA508A}" srcOrd="0" destOrd="0" presId="urn:microsoft.com/office/officeart/2018/2/layout/IconVerticalSolidList"/>
    <dgm:cxn modelId="{6C16C880-5308-4724-B9C3-F7B8213800C7}" type="presOf" srcId="{1D576AEE-CD46-4D1A-BE55-109B8FA10F03}" destId="{73E32AC4-92D5-4A78-B94F-036BA84DED9D}" srcOrd="0" destOrd="0" presId="urn:microsoft.com/office/officeart/2018/2/layout/IconVerticalSolidList"/>
    <dgm:cxn modelId="{A791A294-8C26-421B-9B17-7BA35547FA6F}" srcId="{6281A040-B928-4970-A7C5-C49E9AD5B0C6}" destId="{3700226C-B696-4E91-84AE-7BE2EEDDDDFF}" srcOrd="2" destOrd="0" parTransId="{6733055A-04D4-4E2B-9A07-F9FFCB202DCC}" sibTransId="{20D685C3-6887-47DD-9770-322AD1072BDD}"/>
    <dgm:cxn modelId="{1EA31BD4-35B8-4D63-A678-F6D85222C9F1}" srcId="{6281A040-B928-4970-A7C5-C49E9AD5B0C6}" destId="{1D576AEE-CD46-4D1A-BE55-109B8FA10F03}" srcOrd="1" destOrd="0" parTransId="{2C78BC00-4A5D-40ED-9962-990DC22F9216}" sibTransId="{99FEB6C9-980F-40B8-8CFF-F3522D92BB9D}"/>
    <dgm:cxn modelId="{1D167FDC-6B81-4042-A426-C2AA10979B16}" type="presOf" srcId="{23A685D8-DEC5-42C8-953D-32D41D738D52}" destId="{8E58403B-6480-4C29-B4FA-2489049159E0}" srcOrd="0" destOrd="0" presId="urn:microsoft.com/office/officeart/2018/2/layout/IconVerticalSolidList"/>
    <dgm:cxn modelId="{C4042A5F-77B4-4003-B49B-5946402197E1}" type="presParOf" srcId="{D8F5E4C6-8F4B-4DD3-94DE-A2E61EED87EB}" destId="{0143352C-AFF6-4016-9BC3-B1B1A8839CBC}" srcOrd="0" destOrd="0" presId="urn:microsoft.com/office/officeart/2018/2/layout/IconVerticalSolidList"/>
    <dgm:cxn modelId="{90FEF7CE-6A15-4BED-9543-FCA82700C71C}" type="presParOf" srcId="{0143352C-AFF6-4016-9BC3-B1B1A8839CBC}" destId="{01A89124-1E91-4FDF-A73E-FE207B354CE8}" srcOrd="0" destOrd="0" presId="urn:microsoft.com/office/officeart/2018/2/layout/IconVerticalSolidList"/>
    <dgm:cxn modelId="{42159118-5F40-4950-993C-0A50E5365051}" type="presParOf" srcId="{0143352C-AFF6-4016-9BC3-B1B1A8839CBC}" destId="{4E79BBAD-EEAB-4249-B5F9-CC92FF3CE942}" srcOrd="1" destOrd="0" presId="urn:microsoft.com/office/officeart/2018/2/layout/IconVerticalSolidList"/>
    <dgm:cxn modelId="{FF486544-EB06-4ED7-B3AA-8682A06D4FDB}" type="presParOf" srcId="{0143352C-AFF6-4016-9BC3-B1B1A8839CBC}" destId="{BD7263EF-9473-4345-8775-FF675D8BC653}" srcOrd="2" destOrd="0" presId="urn:microsoft.com/office/officeart/2018/2/layout/IconVerticalSolidList"/>
    <dgm:cxn modelId="{6CAFCF29-DB40-407A-A3A7-87129FD9C782}" type="presParOf" srcId="{0143352C-AFF6-4016-9BC3-B1B1A8839CBC}" destId="{8E58403B-6480-4C29-B4FA-2489049159E0}" srcOrd="3" destOrd="0" presId="urn:microsoft.com/office/officeart/2018/2/layout/IconVerticalSolidList"/>
    <dgm:cxn modelId="{596C49C5-BFA6-4C77-9759-B25B9E3B30E2}" type="presParOf" srcId="{D8F5E4C6-8F4B-4DD3-94DE-A2E61EED87EB}" destId="{C192AD30-C858-4FBB-9A1F-41C67E07D5D1}" srcOrd="1" destOrd="0" presId="urn:microsoft.com/office/officeart/2018/2/layout/IconVerticalSolidList"/>
    <dgm:cxn modelId="{4AED63CD-4ED3-471A-B5C8-5725B7B9FB7D}" type="presParOf" srcId="{D8F5E4C6-8F4B-4DD3-94DE-A2E61EED87EB}" destId="{BD8A12EB-5305-4473-8ABF-B5B831768621}" srcOrd="2" destOrd="0" presId="urn:microsoft.com/office/officeart/2018/2/layout/IconVerticalSolidList"/>
    <dgm:cxn modelId="{95039E08-A064-4434-B292-E95B8EA8D42E}" type="presParOf" srcId="{BD8A12EB-5305-4473-8ABF-B5B831768621}" destId="{12687B6A-BCF1-4CFB-9367-F11754342E46}" srcOrd="0" destOrd="0" presId="urn:microsoft.com/office/officeart/2018/2/layout/IconVerticalSolidList"/>
    <dgm:cxn modelId="{9B93A6B2-75AF-4286-86F7-8A846AF839CF}" type="presParOf" srcId="{BD8A12EB-5305-4473-8ABF-B5B831768621}" destId="{D63B7EA6-A4FB-48AB-A4EC-826D41083DF4}" srcOrd="1" destOrd="0" presId="urn:microsoft.com/office/officeart/2018/2/layout/IconVerticalSolidList"/>
    <dgm:cxn modelId="{D9B9B282-603E-4DAA-A4E1-A0C2E8538D49}" type="presParOf" srcId="{BD8A12EB-5305-4473-8ABF-B5B831768621}" destId="{8FF480BE-9070-468C-B286-A0D45D378433}" srcOrd="2" destOrd="0" presId="urn:microsoft.com/office/officeart/2018/2/layout/IconVerticalSolidList"/>
    <dgm:cxn modelId="{E25845E2-6829-4500-A008-3EE453E8C5B6}" type="presParOf" srcId="{BD8A12EB-5305-4473-8ABF-B5B831768621}" destId="{73E32AC4-92D5-4A78-B94F-036BA84DED9D}" srcOrd="3" destOrd="0" presId="urn:microsoft.com/office/officeart/2018/2/layout/IconVerticalSolidList"/>
    <dgm:cxn modelId="{9D6886A2-74DC-41E9-980C-E4E7D93693F1}" type="presParOf" srcId="{D8F5E4C6-8F4B-4DD3-94DE-A2E61EED87EB}" destId="{3F0948D4-35F9-4005-B680-9BF629230225}" srcOrd="3" destOrd="0" presId="urn:microsoft.com/office/officeart/2018/2/layout/IconVerticalSolidList"/>
    <dgm:cxn modelId="{E594C0ED-CFD0-4BD4-9C08-CB40C047993B}" type="presParOf" srcId="{D8F5E4C6-8F4B-4DD3-94DE-A2E61EED87EB}" destId="{924DD19A-6863-4009-BDA3-8A6E8699C62E}" srcOrd="4" destOrd="0" presId="urn:microsoft.com/office/officeart/2018/2/layout/IconVerticalSolidList"/>
    <dgm:cxn modelId="{A459D44A-84F9-41B4-A15D-932ABEB1DA2D}" type="presParOf" srcId="{924DD19A-6863-4009-BDA3-8A6E8699C62E}" destId="{EA1E6886-5420-4263-A4E2-6B8156AE358F}" srcOrd="0" destOrd="0" presId="urn:microsoft.com/office/officeart/2018/2/layout/IconVerticalSolidList"/>
    <dgm:cxn modelId="{E0B56AF3-8738-4CB0-B0B0-1C4EF417ED84}" type="presParOf" srcId="{924DD19A-6863-4009-BDA3-8A6E8699C62E}" destId="{03C79527-C176-4B08-890B-FFFB29F8DAAB}" srcOrd="1" destOrd="0" presId="urn:microsoft.com/office/officeart/2018/2/layout/IconVerticalSolidList"/>
    <dgm:cxn modelId="{689AC771-5C2B-4CEB-8DD2-F5BF648B003A}" type="presParOf" srcId="{924DD19A-6863-4009-BDA3-8A6E8699C62E}" destId="{D1BBAB59-2809-4BC8-BDEC-9DD1DC5D5862}" srcOrd="2" destOrd="0" presId="urn:microsoft.com/office/officeart/2018/2/layout/IconVerticalSolidList"/>
    <dgm:cxn modelId="{D4EC0400-2D4F-4742-984D-97FFBF111D6B}" type="presParOf" srcId="{924DD19A-6863-4009-BDA3-8A6E8699C62E}" destId="{AF979BC9-B87D-4019-8208-0D142CBA508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22F229-E744-40FE-92D9-3C4AA42B9765}">
      <dsp:nvSpPr>
        <dsp:cNvPr id="0" name=""/>
        <dsp:cNvSpPr/>
      </dsp:nvSpPr>
      <dsp:spPr>
        <a:xfrm>
          <a:off x="0" y="531"/>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EE0FE5-E9DA-4E95-AAC7-57E0BEE33186}">
      <dsp:nvSpPr>
        <dsp:cNvPr id="0" name=""/>
        <dsp:cNvSpPr/>
      </dsp:nvSpPr>
      <dsp:spPr>
        <a:xfrm>
          <a:off x="376092" y="280269"/>
          <a:ext cx="683804" cy="6838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8CD76B-203B-4D53-A891-1D7EADE4D6F5}">
      <dsp:nvSpPr>
        <dsp:cNvPr id="0" name=""/>
        <dsp:cNvSpPr/>
      </dsp:nvSpPr>
      <dsp:spPr>
        <a:xfrm>
          <a:off x="1435988" y="5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022350">
            <a:lnSpc>
              <a:spcPct val="90000"/>
            </a:lnSpc>
            <a:spcBef>
              <a:spcPct val="0"/>
            </a:spcBef>
            <a:spcAft>
              <a:spcPct val="35000"/>
            </a:spcAft>
            <a:buNone/>
          </a:pPr>
          <a:r>
            <a:rPr lang="en-US" sz="2300" kern="1200" dirty="0"/>
            <a:t>Microsoft is a technology company founded in 1975 by Bill Gates and Paul Allen. It is best known for creating Windows, the world's most popular computer operating system</a:t>
          </a:r>
        </a:p>
      </dsp:txBody>
      <dsp:txXfrm>
        <a:off x="1435988" y="531"/>
        <a:ext cx="9079611" cy="1243280"/>
      </dsp:txXfrm>
    </dsp:sp>
    <dsp:sp modelId="{E5D6E699-AFE4-4AAA-9065-A1CAF09087AD}">
      <dsp:nvSpPr>
        <dsp:cNvPr id="0" name=""/>
        <dsp:cNvSpPr/>
      </dsp:nvSpPr>
      <dsp:spPr>
        <a:xfrm>
          <a:off x="0" y="1554631"/>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C2D168-8D97-4A28-813D-325805F7759B}">
      <dsp:nvSpPr>
        <dsp:cNvPr id="0" name=""/>
        <dsp:cNvSpPr/>
      </dsp:nvSpPr>
      <dsp:spPr>
        <a:xfrm>
          <a:off x="376092" y="1834369"/>
          <a:ext cx="683804" cy="6838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732F24-4CAD-4E7C-8EFD-782425C45CA6}">
      <dsp:nvSpPr>
        <dsp:cNvPr id="0" name=""/>
        <dsp:cNvSpPr/>
      </dsp:nvSpPr>
      <dsp:spPr>
        <a:xfrm>
          <a:off x="1435988" y="15546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022350">
            <a:lnSpc>
              <a:spcPct val="90000"/>
            </a:lnSpc>
            <a:spcBef>
              <a:spcPct val="0"/>
            </a:spcBef>
            <a:spcAft>
              <a:spcPct val="35000"/>
            </a:spcAft>
            <a:buNone/>
          </a:pPr>
          <a:r>
            <a:rPr lang="en-US" sz="2300" kern="1200" dirty="0"/>
            <a:t>In its early years, Microsoft focused on dominating the operating systems market, launching MS-DOS and Windows</a:t>
          </a:r>
        </a:p>
      </dsp:txBody>
      <dsp:txXfrm>
        <a:off x="1435988" y="1554631"/>
        <a:ext cx="9079611" cy="1243280"/>
      </dsp:txXfrm>
    </dsp:sp>
    <dsp:sp modelId="{9DBDE07F-FAD8-4907-AD35-559DB85E773C}">
      <dsp:nvSpPr>
        <dsp:cNvPr id="0" name=""/>
        <dsp:cNvSpPr/>
      </dsp:nvSpPr>
      <dsp:spPr>
        <a:xfrm>
          <a:off x="0" y="3108732"/>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8BF673-A29E-4AD9-B4D3-EF6E79AE2465}">
      <dsp:nvSpPr>
        <dsp:cNvPr id="0" name=""/>
        <dsp:cNvSpPr/>
      </dsp:nvSpPr>
      <dsp:spPr>
        <a:xfrm>
          <a:off x="376092" y="3388470"/>
          <a:ext cx="683804" cy="6838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D09913-FEE4-4275-85AB-4B683FC2FA38}">
      <dsp:nvSpPr>
        <dsp:cNvPr id="0" name=""/>
        <dsp:cNvSpPr/>
      </dsp:nvSpPr>
      <dsp:spPr>
        <a:xfrm>
          <a:off x="1435988" y="3108732"/>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022350">
            <a:lnSpc>
              <a:spcPct val="90000"/>
            </a:lnSpc>
            <a:spcBef>
              <a:spcPct val="0"/>
            </a:spcBef>
            <a:spcAft>
              <a:spcPct val="35000"/>
            </a:spcAft>
            <a:buNone/>
          </a:pPr>
          <a:r>
            <a:rPr lang="en-US" sz="2300" kern="1200" dirty="0"/>
            <a:t>Now the company is focusing on AI and cloud computing</a:t>
          </a:r>
        </a:p>
      </dsp:txBody>
      <dsp:txXfrm>
        <a:off x="1435988" y="3108732"/>
        <a:ext cx="9079611" cy="12432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92DDE4-625F-40C9-8DA6-3E735C80DE73}">
      <dsp:nvSpPr>
        <dsp:cNvPr id="0" name=""/>
        <dsp:cNvSpPr/>
      </dsp:nvSpPr>
      <dsp:spPr>
        <a:xfrm>
          <a:off x="0" y="531"/>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37C812-20DB-466E-B0C5-1BE64B387994}">
      <dsp:nvSpPr>
        <dsp:cNvPr id="0" name=""/>
        <dsp:cNvSpPr/>
      </dsp:nvSpPr>
      <dsp:spPr>
        <a:xfrm>
          <a:off x="0" y="53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Microsoft began investing in artificial intelligence decades ago through Microsoft Research, founded in 1991. In the 2010s, the company expanded its focus on machine learning, speech recognition, and cloud-based AI services. </a:t>
          </a:r>
        </a:p>
      </dsp:txBody>
      <dsp:txXfrm>
        <a:off x="0" y="531"/>
        <a:ext cx="10515600" cy="870055"/>
      </dsp:txXfrm>
    </dsp:sp>
    <dsp:sp modelId="{82208D69-99D5-4C30-B13E-2454CC7FC461}">
      <dsp:nvSpPr>
        <dsp:cNvPr id="0" name=""/>
        <dsp:cNvSpPr/>
      </dsp:nvSpPr>
      <dsp:spPr>
        <a:xfrm>
          <a:off x="0" y="870586"/>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D34E2D-8237-4ADB-B577-6B47D5DB54B8}">
      <dsp:nvSpPr>
        <dsp:cNvPr id="0" name=""/>
        <dsp:cNvSpPr/>
      </dsp:nvSpPr>
      <dsp:spPr>
        <a:xfrm>
          <a:off x="0" y="87058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The partnership with OpenAI started in 2019 with a $1 billion investment. Microsoft Azure became the exclusive cloud provider for OpenAI.</a:t>
          </a:r>
        </a:p>
      </dsp:txBody>
      <dsp:txXfrm>
        <a:off x="0" y="870586"/>
        <a:ext cx="10515600" cy="870055"/>
      </dsp:txXfrm>
    </dsp:sp>
    <dsp:sp modelId="{3F197D9F-B2D0-4BBD-8CC3-FA2F6ECCC2FC}">
      <dsp:nvSpPr>
        <dsp:cNvPr id="0" name=""/>
        <dsp:cNvSpPr/>
      </dsp:nvSpPr>
      <dsp:spPr>
        <a:xfrm>
          <a:off x="0" y="1740641"/>
          <a:ext cx="105156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23D0C5-A28B-4B16-8D7D-72D0ECD17D06}">
      <dsp:nvSpPr>
        <dsp:cNvPr id="0" name=""/>
        <dsp:cNvSpPr/>
      </dsp:nvSpPr>
      <dsp:spPr>
        <a:xfrm>
          <a:off x="0" y="174064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Azure is Microsoft’s cloud computing platform. It provides infrastructure, data storage, computing power, and AI services for businesses and developers. </a:t>
          </a:r>
        </a:p>
      </dsp:txBody>
      <dsp:txXfrm>
        <a:off x="0" y="1740641"/>
        <a:ext cx="10515600" cy="870055"/>
      </dsp:txXfrm>
    </dsp:sp>
    <dsp:sp modelId="{D5172C60-DF5C-4A02-AD34-DDE8ECF25EA0}">
      <dsp:nvSpPr>
        <dsp:cNvPr id="0" name=""/>
        <dsp:cNvSpPr/>
      </dsp:nvSpPr>
      <dsp:spPr>
        <a:xfrm>
          <a:off x="0" y="2610696"/>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960A8A-EF4D-4CE3-B80A-F2A300E07CA6}">
      <dsp:nvSpPr>
        <dsp:cNvPr id="0" name=""/>
        <dsp:cNvSpPr/>
      </dsp:nvSpPr>
      <dsp:spPr>
        <a:xfrm>
          <a:off x="0" y="261069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Microsoft Copilot is Microsoft’s AI assistant integrated into products like Windows and Microsoft 365. It uses advanced language models to help users write, analyze data, code, and automate tasks.</a:t>
          </a:r>
        </a:p>
      </dsp:txBody>
      <dsp:txXfrm>
        <a:off x="0" y="2610696"/>
        <a:ext cx="10515600" cy="870055"/>
      </dsp:txXfrm>
    </dsp:sp>
    <dsp:sp modelId="{1B5F2B2F-B7B7-41C7-834F-D252E6C654BB}">
      <dsp:nvSpPr>
        <dsp:cNvPr id="0" name=""/>
        <dsp:cNvSpPr/>
      </dsp:nvSpPr>
      <dsp:spPr>
        <a:xfrm>
          <a:off x="0" y="3480751"/>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5A34AB-FD2E-4C1E-A95A-4378842F12B8}">
      <dsp:nvSpPr>
        <dsp:cNvPr id="0" name=""/>
        <dsp:cNvSpPr/>
      </dsp:nvSpPr>
      <dsp:spPr>
        <a:xfrm>
          <a:off x="0" y="348075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Microsoft’s goal is to lead the AI-powered cloud market, increase productivity through AI integration, and strengthen Azure as the core infrastructure for advanced artificial intelligence services.</a:t>
          </a:r>
        </a:p>
      </dsp:txBody>
      <dsp:txXfrm>
        <a:off x="0" y="3480751"/>
        <a:ext cx="10515600" cy="8700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A89124-1E91-4FDF-A73E-FE207B354CE8}">
      <dsp:nvSpPr>
        <dsp:cNvPr id="0" name=""/>
        <dsp:cNvSpPr/>
      </dsp:nvSpPr>
      <dsp:spPr>
        <a:xfrm>
          <a:off x="0" y="2899"/>
          <a:ext cx="6245265" cy="14068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79BBAD-EEAB-4249-B5F9-CC92FF3CE942}">
      <dsp:nvSpPr>
        <dsp:cNvPr id="0" name=""/>
        <dsp:cNvSpPr/>
      </dsp:nvSpPr>
      <dsp:spPr>
        <a:xfrm>
          <a:off x="425580" y="319447"/>
          <a:ext cx="774539" cy="773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58403B-6480-4C29-B4FA-2489049159E0}">
      <dsp:nvSpPr>
        <dsp:cNvPr id="0" name=""/>
        <dsp:cNvSpPr/>
      </dsp:nvSpPr>
      <dsp:spPr>
        <a:xfrm>
          <a:off x="1625700" y="2899"/>
          <a:ext cx="4326929" cy="1626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159" tIns="172159" rIns="172159" bIns="172159" numCol="1" spcCol="1270" anchor="ctr" anchorCtr="0">
          <a:noAutofit/>
        </a:bodyPr>
        <a:lstStyle/>
        <a:p>
          <a:pPr marL="0" lvl="0" indent="0" algn="l" defTabSz="622300">
            <a:lnSpc>
              <a:spcPct val="100000"/>
            </a:lnSpc>
            <a:spcBef>
              <a:spcPct val="0"/>
            </a:spcBef>
            <a:spcAft>
              <a:spcPct val="35000"/>
            </a:spcAft>
            <a:buNone/>
          </a:pPr>
          <a:r>
            <a:rPr lang="en-US" sz="1400" kern="1200"/>
            <a:t>Microsoft is important because it has played a central role in shaping the modern technology industry. Its software has influenced how people work, communicate, and use computers for more than four decades.</a:t>
          </a:r>
        </a:p>
      </dsp:txBody>
      <dsp:txXfrm>
        <a:off x="1625700" y="2899"/>
        <a:ext cx="4326929" cy="1626702"/>
      </dsp:txXfrm>
    </dsp:sp>
    <dsp:sp modelId="{12687B6A-BCF1-4CFB-9367-F11754342E46}">
      <dsp:nvSpPr>
        <dsp:cNvPr id="0" name=""/>
        <dsp:cNvSpPr/>
      </dsp:nvSpPr>
      <dsp:spPr>
        <a:xfrm>
          <a:off x="0" y="1981322"/>
          <a:ext cx="6245265" cy="14068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3B7EA6-A4FB-48AB-A4EC-826D41083DF4}">
      <dsp:nvSpPr>
        <dsp:cNvPr id="0" name=""/>
        <dsp:cNvSpPr/>
      </dsp:nvSpPr>
      <dsp:spPr>
        <a:xfrm>
          <a:off x="425580" y="2297869"/>
          <a:ext cx="774539" cy="773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E32AC4-92D5-4A78-B94F-036BA84DED9D}">
      <dsp:nvSpPr>
        <dsp:cNvPr id="0" name=""/>
        <dsp:cNvSpPr/>
      </dsp:nvSpPr>
      <dsp:spPr>
        <a:xfrm>
          <a:off x="1625700" y="1981322"/>
          <a:ext cx="4326929" cy="1626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159" tIns="172159" rIns="172159" bIns="172159" numCol="1" spcCol="1270" anchor="ctr" anchorCtr="0">
          <a:noAutofit/>
        </a:bodyPr>
        <a:lstStyle/>
        <a:p>
          <a:pPr marL="0" lvl="0" indent="0" algn="l" defTabSz="622300">
            <a:lnSpc>
              <a:spcPct val="100000"/>
            </a:lnSpc>
            <a:spcBef>
              <a:spcPct val="0"/>
            </a:spcBef>
            <a:spcAft>
              <a:spcPct val="35000"/>
            </a:spcAft>
            <a:buNone/>
          </a:pPr>
          <a:r>
            <a:rPr lang="en-US" sz="1400" kern="1200"/>
            <a:t>One of the main reasons Microsoft is so significant is that Microsoft Windows is the most widely used desktop operating system in the world. Windows runs on the majority of personal computers, making it a global standard for businesses, schools, and home users.</a:t>
          </a:r>
        </a:p>
      </dsp:txBody>
      <dsp:txXfrm>
        <a:off x="1625700" y="1981322"/>
        <a:ext cx="4326929" cy="1626702"/>
      </dsp:txXfrm>
    </dsp:sp>
    <dsp:sp modelId="{EA1E6886-5420-4263-A4E2-6B8156AE358F}">
      <dsp:nvSpPr>
        <dsp:cNvPr id="0" name=""/>
        <dsp:cNvSpPr/>
      </dsp:nvSpPr>
      <dsp:spPr>
        <a:xfrm>
          <a:off x="0" y="3959744"/>
          <a:ext cx="6245265" cy="14068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C79527-C176-4B08-890B-FFFB29F8DAAB}">
      <dsp:nvSpPr>
        <dsp:cNvPr id="0" name=""/>
        <dsp:cNvSpPr/>
      </dsp:nvSpPr>
      <dsp:spPr>
        <a:xfrm>
          <a:off x="425580" y="4276292"/>
          <a:ext cx="774539" cy="77378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979BC9-B87D-4019-8208-0D142CBA508A}">
      <dsp:nvSpPr>
        <dsp:cNvPr id="0" name=""/>
        <dsp:cNvSpPr/>
      </dsp:nvSpPr>
      <dsp:spPr>
        <a:xfrm>
          <a:off x="1625700" y="3959744"/>
          <a:ext cx="4326929" cy="1626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159" tIns="172159" rIns="172159" bIns="172159" numCol="1" spcCol="1270" anchor="ctr" anchorCtr="0">
          <a:noAutofit/>
        </a:bodyPr>
        <a:lstStyle/>
        <a:p>
          <a:pPr marL="0" lvl="0" indent="0" algn="l" defTabSz="622300">
            <a:lnSpc>
              <a:spcPct val="100000"/>
            </a:lnSpc>
            <a:spcBef>
              <a:spcPct val="0"/>
            </a:spcBef>
            <a:spcAft>
              <a:spcPct val="35000"/>
            </a:spcAft>
            <a:buNone/>
          </a:pPr>
          <a:r>
            <a:rPr lang="en-US" sz="1400" kern="1200"/>
            <a:t>Microsoft is also a leader in cloud computing through Microsoft Azure, which powers digital services and infrastructure for companies worldwide. In addition, its productivity tools like Microsoft 365 are essential for organizations, and its investments in artificial intelligence and gaming continue to expand its global influence.</a:t>
          </a:r>
        </a:p>
      </dsp:txBody>
      <dsp:txXfrm>
        <a:off x="1625700" y="3959744"/>
        <a:ext cx="4326929" cy="16267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A9BFF8-7983-10C4-8EC2-AFD180AC977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8ACAF274-1B00-19A0-2425-FF0F534BC2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85F43483-C376-0C2C-68D0-B5C060AA1B89}"/>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5" name="Espaço Reservado para Rodapé 4">
            <a:extLst>
              <a:ext uri="{FF2B5EF4-FFF2-40B4-BE49-F238E27FC236}">
                <a16:creationId xmlns:a16="http://schemas.microsoft.com/office/drawing/2014/main" id="{974C0D81-A148-EA82-0F4B-388B64D1F55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B63D3EF-9605-607A-CEF8-E39649073694}"/>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2397037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A57C8A-9846-DA77-FAE1-F0DBFBF74B9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0182C118-D2D8-134D-6DD1-965FFE2022FB}"/>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8785120-B6FD-4002-F7FE-9BBEEE48A8F7}"/>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5" name="Espaço Reservado para Rodapé 4">
            <a:extLst>
              <a:ext uri="{FF2B5EF4-FFF2-40B4-BE49-F238E27FC236}">
                <a16:creationId xmlns:a16="http://schemas.microsoft.com/office/drawing/2014/main" id="{4C81A80F-8959-F533-3896-873869331DF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73E5D75-C45F-AD0C-EC34-676CAE4600C7}"/>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333075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E041D8-8EF4-5EA1-3E05-EAAA13FE8609}"/>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663F2CCD-9A22-DDB1-AD8D-FF464F71E2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87C7437-0067-5CA0-ACAC-A4ED7D86E96E}"/>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5" name="Espaço Reservado para Rodapé 4">
            <a:extLst>
              <a:ext uri="{FF2B5EF4-FFF2-40B4-BE49-F238E27FC236}">
                <a16:creationId xmlns:a16="http://schemas.microsoft.com/office/drawing/2014/main" id="{8A2B678B-55DF-8EFA-EC57-491203A52A4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ADD947E-5922-FC05-1580-2E60C760CAFB}"/>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672859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27C6AC-140F-B7FC-F056-FF240F197C3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DCDDA16-CFEE-587E-DA0B-219C9F1DB454}"/>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D831A891-25EB-A6C6-7967-399A8F418D3E}"/>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B6773F89-E73C-D02C-FAD9-69BCCBD84BEA}"/>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6" name="Espaço Reservado para Rodapé 5">
            <a:extLst>
              <a:ext uri="{FF2B5EF4-FFF2-40B4-BE49-F238E27FC236}">
                <a16:creationId xmlns:a16="http://schemas.microsoft.com/office/drawing/2014/main" id="{B957FFCA-9980-C97C-4511-86EB6BE632A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7DADB41-D848-EE14-34AB-026F8E9F74A9}"/>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19785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DB65B4-770E-4B9C-11EC-C9D1A9ACFB19}"/>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B11F555D-32FA-C58A-F727-3E372F975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9A49CC9A-90F7-93C3-3E99-0C8BD9E12EA9}"/>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0084C1EB-E2EF-9409-40D3-59902214EA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4C1575CE-F5A8-6C21-9C24-EE6FA9C82777}"/>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BD3520F3-4688-275E-6068-ABC8E272C758}"/>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8" name="Espaço Reservado para Rodapé 7">
            <a:extLst>
              <a:ext uri="{FF2B5EF4-FFF2-40B4-BE49-F238E27FC236}">
                <a16:creationId xmlns:a16="http://schemas.microsoft.com/office/drawing/2014/main" id="{9C05890C-EEBA-9AFB-406B-69C3E172BFA0}"/>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60BFF723-1FB3-9A94-D900-FD8AA2B7CDA7}"/>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2285973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9A3430-A320-A1A4-D063-229CFACE7D33}"/>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280E49E3-A56B-ECDC-288A-1BB314E8212B}"/>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4" name="Espaço Reservado para Rodapé 3">
            <a:extLst>
              <a:ext uri="{FF2B5EF4-FFF2-40B4-BE49-F238E27FC236}">
                <a16:creationId xmlns:a16="http://schemas.microsoft.com/office/drawing/2014/main" id="{5D40CBDF-BDEF-A704-8A2A-525054203037}"/>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47F29426-3411-55C8-F1CB-31D4ADB6F6C4}"/>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362111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9834887-6A46-6018-8C72-43BFF067EF51}"/>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3" name="Espaço Reservado para Rodapé 2">
            <a:extLst>
              <a:ext uri="{FF2B5EF4-FFF2-40B4-BE49-F238E27FC236}">
                <a16:creationId xmlns:a16="http://schemas.microsoft.com/office/drawing/2014/main" id="{5E3053D2-CF89-D4E5-B51F-35C845E478E3}"/>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8E7F8C8A-696E-93BF-01F0-360C74378743}"/>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1285277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D8B076-98A2-F4E8-7999-67064BA7EBDB}"/>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7C5B030E-9EC8-CE3B-0227-C9BBC1F265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21D9AF2B-30AC-24C8-6185-68F393A2D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F0A0D778-F2D8-BC7D-C398-6BD5FA355D69}"/>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6" name="Espaço Reservado para Rodapé 5">
            <a:extLst>
              <a:ext uri="{FF2B5EF4-FFF2-40B4-BE49-F238E27FC236}">
                <a16:creationId xmlns:a16="http://schemas.microsoft.com/office/drawing/2014/main" id="{25AEE6C2-5A1E-61AF-88F8-61421ADF522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8D2DF9C-C1B3-B832-7F36-0E2DF5BD2F02}"/>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2174794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68BD47-3324-246C-8B19-786AAAB204B5}"/>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B57B247-DC57-5A75-138E-E78036DA32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D808B6D-1E92-06EB-C802-17B91CA2FB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B4DB67A5-288A-8916-7953-438D58BA8DB2}"/>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6" name="Espaço Reservado para Rodapé 5">
            <a:extLst>
              <a:ext uri="{FF2B5EF4-FFF2-40B4-BE49-F238E27FC236}">
                <a16:creationId xmlns:a16="http://schemas.microsoft.com/office/drawing/2014/main" id="{3345C9CE-3554-5B50-5D86-658795F38EC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2457F16-646B-4C60-76C3-56AA154F338C}"/>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3498453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E97012-F50D-5AC2-3DCB-1C68224C7940}"/>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510A04F8-217B-5C08-6B28-EA49308DBD85}"/>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BEA0019-6483-89C9-DAD4-C8309C87FFFC}"/>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5" name="Espaço Reservado para Rodapé 4">
            <a:extLst>
              <a:ext uri="{FF2B5EF4-FFF2-40B4-BE49-F238E27FC236}">
                <a16:creationId xmlns:a16="http://schemas.microsoft.com/office/drawing/2014/main" id="{D6725B8D-6A99-4DE7-0E60-2782FEC0BC3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80E7AAE-925F-897D-F613-F22593572866}"/>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3025439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891BBEE-684D-D36B-60A2-32519761C385}"/>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50CB369-A1DE-7103-915F-A123CC568A7F}"/>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CA88CA8-44BF-22DF-F85B-58AAA5C786EF}"/>
              </a:ext>
            </a:extLst>
          </p:cNvPr>
          <p:cNvSpPr>
            <a:spLocks noGrp="1"/>
          </p:cNvSpPr>
          <p:nvPr>
            <p:ph type="dt" sz="half" idx="10"/>
          </p:nvPr>
        </p:nvSpPr>
        <p:spPr/>
        <p:txBody>
          <a:bodyPr/>
          <a:lstStyle/>
          <a:p>
            <a:fld id="{3B909730-92F1-4326-9194-2A6550869A6C}" type="datetimeFigureOut">
              <a:rPr lang="pt-BR" smtClean="0"/>
              <a:t>22/02/2026</a:t>
            </a:fld>
            <a:endParaRPr lang="pt-BR"/>
          </a:p>
        </p:txBody>
      </p:sp>
      <p:sp>
        <p:nvSpPr>
          <p:cNvPr id="5" name="Espaço Reservado para Rodapé 4">
            <a:extLst>
              <a:ext uri="{FF2B5EF4-FFF2-40B4-BE49-F238E27FC236}">
                <a16:creationId xmlns:a16="http://schemas.microsoft.com/office/drawing/2014/main" id="{27F389D8-F91A-F20F-DA20-6A2E8A82073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A6A6C73-853C-E77C-DE7A-3DAEC56C0A4B}"/>
              </a:ext>
            </a:extLst>
          </p:cNvPr>
          <p:cNvSpPr>
            <a:spLocks noGrp="1"/>
          </p:cNvSpPr>
          <p:nvPr>
            <p:ph type="sldNum" sz="quarter" idx="12"/>
          </p:nvPr>
        </p:nvSpPr>
        <p:spPr/>
        <p:txBody>
          <a:bodyPr/>
          <a:lstStyle/>
          <a:p>
            <a:fld id="{64F6B80D-8BB0-409F-AC94-31423D150D40}" type="slidenum">
              <a:rPr lang="pt-BR" smtClean="0"/>
              <a:t>‹nº›</a:t>
            </a:fld>
            <a:endParaRPr lang="pt-BR"/>
          </a:p>
        </p:txBody>
      </p:sp>
    </p:spTree>
    <p:extLst>
      <p:ext uri="{BB962C8B-B14F-4D97-AF65-F5344CB8AC3E}">
        <p14:creationId xmlns:p14="http://schemas.microsoft.com/office/powerpoint/2010/main" val="2239608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7EDF9">
                <a:lumMod val="20000"/>
              </a:srgb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208D009-A55B-C818-59C7-3B03E41F21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95530C96-EE9D-7534-5028-D1375DD3E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D5A03F1-357D-129B-F8DB-D6B52CCE65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909730-92F1-4326-9194-2A6550869A6C}" type="datetimeFigureOut">
              <a:rPr lang="pt-BR" smtClean="0"/>
              <a:t>22/02/2026</a:t>
            </a:fld>
            <a:endParaRPr lang="pt-BR"/>
          </a:p>
        </p:txBody>
      </p:sp>
      <p:sp>
        <p:nvSpPr>
          <p:cNvPr id="5" name="Espaço Reservado para Rodapé 4">
            <a:extLst>
              <a:ext uri="{FF2B5EF4-FFF2-40B4-BE49-F238E27FC236}">
                <a16:creationId xmlns:a16="http://schemas.microsoft.com/office/drawing/2014/main" id="{765DF349-A510-58E8-AA80-9329B5CAEF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46E24ED3-27FF-20C9-E65E-73A3CE3BF8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F6B80D-8BB0-409F-AC94-31423D150D40}" type="slidenum">
              <a:rPr lang="pt-BR" smtClean="0"/>
              <a:t>‹nº›</a:t>
            </a:fld>
            <a:endParaRPr lang="pt-BR"/>
          </a:p>
        </p:txBody>
      </p:sp>
    </p:spTree>
    <p:extLst>
      <p:ext uri="{BB962C8B-B14F-4D97-AF65-F5344CB8AC3E}">
        <p14:creationId xmlns:p14="http://schemas.microsoft.com/office/powerpoint/2010/main" val="438365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7177" name="Rectangle 7176">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2" name="Picture 4" descr="A história por trás do papel de parede do Windows XP | Super">
            <a:extLst>
              <a:ext uri="{FF2B5EF4-FFF2-40B4-BE49-F238E27FC236}">
                <a16:creationId xmlns:a16="http://schemas.microsoft.com/office/drawing/2014/main" id="{CE135A2D-0CBC-6A73-C17F-E2541591DD96}"/>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b="7787"/>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50938797-1885-4759-D070-DDFBCC18B1E2}"/>
              </a:ext>
            </a:extLst>
          </p:cNvPr>
          <p:cNvSpPr>
            <a:spLocks noGrp="1"/>
          </p:cNvSpPr>
          <p:nvPr>
            <p:ph type="ctrTitle"/>
          </p:nvPr>
        </p:nvSpPr>
        <p:spPr>
          <a:xfrm>
            <a:off x="1524000" y="1122362"/>
            <a:ext cx="9144000" cy="2900518"/>
          </a:xfrm>
        </p:spPr>
        <p:txBody>
          <a:bodyPr>
            <a:normAutofit/>
          </a:bodyPr>
          <a:lstStyle/>
          <a:p>
            <a:r>
              <a:rPr lang="pt-BR">
                <a:solidFill>
                  <a:srgbClr val="FFFFFF"/>
                </a:solidFill>
              </a:rPr>
              <a:t>Microsoft</a:t>
            </a:r>
          </a:p>
        </p:txBody>
      </p:sp>
      <p:sp>
        <p:nvSpPr>
          <p:cNvPr id="3" name="Subtítulo 2">
            <a:extLst>
              <a:ext uri="{FF2B5EF4-FFF2-40B4-BE49-F238E27FC236}">
                <a16:creationId xmlns:a16="http://schemas.microsoft.com/office/drawing/2014/main" id="{056D72E3-D610-51A2-23D9-E8B710B8AF9D}"/>
              </a:ext>
            </a:extLst>
          </p:cNvPr>
          <p:cNvSpPr>
            <a:spLocks noGrp="1"/>
          </p:cNvSpPr>
          <p:nvPr>
            <p:ph type="subTitle" idx="1"/>
          </p:nvPr>
        </p:nvSpPr>
        <p:spPr>
          <a:xfrm>
            <a:off x="1524000" y="4159404"/>
            <a:ext cx="9144000" cy="1098395"/>
          </a:xfrm>
        </p:spPr>
        <p:txBody>
          <a:bodyPr>
            <a:normAutofit/>
          </a:bodyPr>
          <a:lstStyle/>
          <a:p>
            <a:r>
              <a:rPr lang="pt-BR">
                <a:solidFill>
                  <a:srgbClr val="FFFFFF"/>
                </a:solidFill>
              </a:rPr>
              <a:t>Name</a:t>
            </a:r>
            <a:r>
              <a:rPr lang="pt-BR" dirty="0">
                <a:solidFill>
                  <a:srgbClr val="FFFFFF"/>
                </a:solidFill>
              </a:rPr>
              <a:t>: Lucas Augusto Hartmann</a:t>
            </a:r>
          </a:p>
        </p:txBody>
      </p:sp>
    </p:spTree>
    <p:extLst>
      <p:ext uri="{BB962C8B-B14F-4D97-AF65-F5344CB8AC3E}">
        <p14:creationId xmlns:p14="http://schemas.microsoft.com/office/powerpoint/2010/main" val="352043812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AE28B54-BC32-5C90-45C3-09B996E78DD2}"/>
              </a:ext>
            </a:extLst>
          </p:cNvPr>
          <p:cNvSpPr>
            <a:spLocks noGrp="1"/>
          </p:cNvSpPr>
          <p:nvPr>
            <p:ph type="title"/>
          </p:nvPr>
        </p:nvSpPr>
        <p:spPr>
          <a:xfrm>
            <a:off x="838200" y="557188"/>
            <a:ext cx="10515600" cy="1133499"/>
          </a:xfrm>
        </p:spPr>
        <p:txBody>
          <a:bodyPr>
            <a:normAutofit/>
          </a:bodyPr>
          <a:lstStyle/>
          <a:p>
            <a:pPr algn="ctr"/>
            <a:r>
              <a:rPr lang="pt-BR" sz="5200"/>
              <a:t>What is Microsoft?</a:t>
            </a:r>
          </a:p>
        </p:txBody>
      </p:sp>
      <p:graphicFrame>
        <p:nvGraphicFramePr>
          <p:cNvPr id="5" name="Espaço Reservado para Conteúdo 2">
            <a:extLst>
              <a:ext uri="{FF2B5EF4-FFF2-40B4-BE49-F238E27FC236}">
                <a16:creationId xmlns:a16="http://schemas.microsoft.com/office/drawing/2014/main" id="{021260CF-6687-51EB-72B4-6B3535C74DA2}"/>
              </a:ext>
            </a:extLst>
          </p:cNvPr>
          <p:cNvGraphicFramePr>
            <a:graphicFrameLocks noGrp="1"/>
          </p:cNvGraphicFramePr>
          <p:nvPr>
            <p:ph idx="1"/>
            <p:extLst>
              <p:ext uri="{D42A27DB-BD31-4B8C-83A1-F6EECF244321}">
                <p14:modId xmlns:p14="http://schemas.microsoft.com/office/powerpoint/2010/main" val="1820557138"/>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6406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3A7593"/>
            </a:gs>
            <a:gs pos="100000">
              <a:srgbClr val="5AA0C2"/>
            </a:gs>
            <a:gs pos="0">
              <a:srgbClr val="4685A5"/>
            </a:gs>
            <a:gs pos="0">
              <a:srgbClr val="356F8D"/>
            </a:gs>
            <a:gs pos="0">
              <a:srgbClr val="D7EDF9">
                <a:lumMod val="20000"/>
                <a:alpha val="98000"/>
              </a:srgbClr>
            </a:gs>
            <a:gs pos="0">
              <a:schemeClr val="accent1">
                <a:lumMod val="5000"/>
                <a:lumOff val="95000"/>
              </a:schemeClr>
            </a:gs>
            <a:gs pos="74000">
              <a:schemeClr val="accent1">
                <a:lumMod val="45000"/>
                <a:lumOff val="55000"/>
              </a:schemeClr>
            </a:gs>
            <a:gs pos="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245F76-589A-CDDD-DC18-EFDF34884755}"/>
              </a:ext>
            </a:extLst>
          </p:cNvPr>
          <p:cNvSpPr>
            <a:spLocks noGrp="1"/>
          </p:cNvSpPr>
          <p:nvPr>
            <p:ph type="title"/>
          </p:nvPr>
        </p:nvSpPr>
        <p:spPr>
          <a:xfrm>
            <a:off x="292905" y="287076"/>
            <a:ext cx="10515600" cy="474826"/>
          </a:xfrm>
        </p:spPr>
        <p:txBody>
          <a:bodyPr>
            <a:normAutofit fontScale="90000"/>
          </a:bodyPr>
          <a:lstStyle/>
          <a:p>
            <a:r>
              <a:rPr lang="pt-BR" sz="4400" dirty="0">
                <a:solidFill>
                  <a:srgbClr val="000000"/>
                </a:solidFill>
                <a:effectLst/>
                <a:latin typeface="Aptos Display" panose="020B0004020202020204" pitchFamily="34" charset="0"/>
              </a:rPr>
              <a:t>Microsoft – In </a:t>
            </a:r>
            <a:r>
              <a:rPr lang="pt-BR" sz="4400" dirty="0" err="1">
                <a:solidFill>
                  <a:srgbClr val="000000"/>
                </a:solidFill>
                <a:effectLst/>
                <a:latin typeface="Aptos Display" panose="020B0004020202020204" pitchFamily="34" charset="0"/>
              </a:rPr>
              <a:t>the</a:t>
            </a:r>
            <a:r>
              <a:rPr lang="pt-BR" sz="4400" dirty="0">
                <a:solidFill>
                  <a:srgbClr val="000000"/>
                </a:solidFill>
                <a:effectLst/>
                <a:latin typeface="Aptos Display" panose="020B0004020202020204" pitchFamily="34" charset="0"/>
              </a:rPr>
              <a:t> </a:t>
            </a:r>
            <a:r>
              <a:rPr lang="pt-BR" sz="4400" dirty="0" err="1">
                <a:solidFill>
                  <a:srgbClr val="000000"/>
                </a:solidFill>
                <a:effectLst/>
                <a:latin typeface="Aptos Display" panose="020B0004020202020204" pitchFamily="34" charset="0"/>
              </a:rPr>
              <a:t>Past</a:t>
            </a:r>
            <a:endParaRPr lang="pt-BR" dirty="0"/>
          </a:p>
        </p:txBody>
      </p:sp>
      <p:pic>
        <p:nvPicPr>
          <p:cNvPr id="1026" name="Picture 2">
            <a:extLst>
              <a:ext uri="{FF2B5EF4-FFF2-40B4-BE49-F238E27FC236}">
                <a16:creationId xmlns:a16="http://schemas.microsoft.com/office/drawing/2014/main" id="{4D595BCA-08F5-7CD4-C08B-4A3939E187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4165" y="1466277"/>
            <a:ext cx="1367556" cy="1462088"/>
          </a:xfrm>
          <a:prstGeom prst="rect">
            <a:avLst/>
          </a:prstGeom>
          <a:noFill/>
          <a:effectLst>
            <a:outerShdw blurRad="9398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3405D05-22F9-6E5A-DAD8-C8599105C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919" y="1059341"/>
            <a:ext cx="2115572" cy="2133600"/>
          </a:xfrm>
          <a:prstGeom prst="rect">
            <a:avLst/>
          </a:prstGeom>
          <a:noFill/>
          <a:effectLst>
            <a:outerShdw blurRad="1651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pic>
        <p:nvPicPr>
          <p:cNvPr id="1030" name="Picture 6" descr="Lumia 720, um Windows Phone prático de usar - Jornal O Globo">
            <a:extLst>
              <a:ext uri="{FF2B5EF4-FFF2-40B4-BE49-F238E27FC236}">
                <a16:creationId xmlns:a16="http://schemas.microsoft.com/office/drawing/2014/main" id="{1354CFCF-441E-AFA0-2D9C-E9EF7FB795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8775" y="4246458"/>
            <a:ext cx="2762250" cy="1657350"/>
          </a:xfrm>
          <a:prstGeom prst="rect">
            <a:avLst/>
          </a:prstGeom>
          <a:noFill/>
          <a:effectLst>
            <a:outerShdw blurRad="10160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pic>
        <p:nvPicPr>
          <p:cNvPr id="1036" name="Picture 12" descr="Como proteger os seus dados no Microsoft Office 365 - Menos Fios">
            <a:extLst>
              <a:ext uri="{FF2B5EF4-FFF2-40B4-BE49-F238E27FC236}">
                <a16:creationId xmlns:a16="http://schemas.microsoft.com/office/drawing/2014/main" id="{3E882ABE-3241-9559-9E34-64C77CF08C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6320" y="4533912"/>
            <a:ext cx="1396647" cy="1143223"/>
          </a:xfrm>
          <a:prstGeom prst="rect">
            <a:avLst/>
          </a:prstGeom>
          <a:noFill/>
          <a:effectLst>
            <a:outerShdw blurRad="7620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pic>
        <p:nvPicPr>
          <p:cNvPr id="1038" name="Picture 14" descr="How Microsoft first party developers will make or break Xbox Series X |  Metro News">
            <a:extLst>
              <a:ext uri="{FF2B5EF4-FFF2-40B4-BE49-F238E27FC236}">
                <a16:creationId xmlns:a16="http://schemas.microsoft.com/office/drawing/2014/main" id="{99D97636-2501-D7BC-A4DE-29B577A5C6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73377" y="1127634"/>
            <a:ext cx="3128894" cy="2082700"/>
          </a:xfrm>
          <a:prstGeom prst="rect">
            <a:avLst/>
          </a:prstGeom>
          <a:noFill/>
          <a:effectLst>
            <a:outerShdw blurRad="9652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sp>
        <p:nvSpPr>
          <p:cNvPr id="8" name="CaixaDeTexto 7">
            <a:extLst>
              <a:ext uri="{FF2B5EF4-FFF2-40B4-BE49-F238E27FC236}">
                <a16:creationId xmlns:a16="http://schemas.microsoft.com/office/drawing/2014/main" id="{A1E471DB-82D5-D808-A30C-D1A7A4176475}"/>
              </a:ext>
            </a:extLst>
          </p:cNvPr>
          <p:cNvSpPr txBox="1"/>
          <p:nvPr/>
        </p:nvSpPr>
        <p:spPr>
          <a:xfrm>
            <a:off x="1250973" y="3383904"/>
            <a:ext cx="2087339" cy="369332"/>
          </a:xfrm>
          <a:prstGeom prst="rect">
            <a:avLst/>
          </a:prstGeom>
          <a:noFill/>
        </p:spPr>
        <p:txBody>
          <a:bodyPr wrap="square" rtlCol="0">
            <a:spAutoFit/>
          </a:bodyPr>
          <a:lstStyle/>
          <a:p>
            <a:r>
              <a:rPr lang="pt-BR" b="1" dirty="0"/>
              <a:t>1981</a:t>
            </a:r>
            <a:r>
              <a:rPr lang="pt-BR" dirty="0"/>
              <a:t> – MS-DOS</a:t>
            </a:r>
          </a:p>
        </p:txBody>
      </p:sp>
      <p:sp>
        <p:nvSpPr>
          <p:cNvPr id="9" name="CaixaDeTexto 8">
            <a:extLst>
              <a:ext uri="{FF2B5EF4-FFF2-40B4-BE49-F238E27FC236}">
                <a16:creationId xmlns:a16="http://schemas.microsoft.com/office/drawing/2014/main" id="{D09C16E7-16B4-FC02-9DEE-FC1DD011A6F7}"/>
              </a:ext>
            </a:extLst>
          </p:cNvPr>
          <p:cNvSpPr txBox="1"/>
          <p:nvPr/>
        </p:nvSpPr>
        <p:spPr>
          <a:xfrm>
            <a:off x="4433445" y="3392879"/>
            <a:ext cx="2234522" cy="369332"/>
          </a:xfrm>
          <a:prstGeom prst="rect">
            <a:avLst/>
          </a:prstGeom>
          <a:noFill/>
        </p:spPr>
        <p:txBody>
          <a:bodyPr wrap="none" rtlCol="0">
            <a:spAutoFit/>
          </a:bodyPr>
          <a:lstStyle/>
          <a:p>
            <a:r>
              <a:rPr lang="pt-BR" b="1" dirty="0"/>
              <a:t>1985</a:t>
            </a:r>
            <a:r>
              <a:rPr lang="pt-BR" dirty="0"/>
              <a:t> – Windows 1.0</a:t>
            </a:r>
          </a:p>
        </p:txBody>
      </p:sp>
      <p:sp>
        <p:nvSpPr>
          <p:cNvPr id="10" name="CaixaDeTexto 9">
            <a:extLst>
              <a:ext uri="{FF2B5EF4-FFF2-40B4-BE49-F238E27FC236}">
                <a16:creationId xmlns:a16="http://schemas.microsoft.com/office/drawing/2014/main" id="{5486FE7A-A028-8A0A-0D06-27D45929E926}"/>
              </a:ext>
            </a:extLst>
          </p:cNvPr>
          <p:cNvSpPr txBox="1"/>
          <p:nvPr/>
        </p:nvSpPr>
        <p:spPr>
          <a:xfrm>
            <a:off x="8196578" y="6160447"/>
            <a:ext cx="2726644" cy="369332"/>
          </a:xfrm>
          <a:prstGeom prst="rect">
            <a:avLst/>
          </a:prstGeom>
          <a:noFill/>
        </p:spPr>
        <p:txBody>
          <a:bodyPr wrap="none" rtlCol="0">
            <a:spAutoFit/>
          </a:bodyPr>
          <a:lstStyle/>
          <a:p>
            <a:r>
              <a:rPr lang="pt-BR" b="1" dirty="0"/>
              <a:t>2010</a:t>
            </a:r>
            <a:r>
              <a:rPr lang="pt-BR" dirty="0"/>
              <a:t> – Windows Phone 7</a:t>
            </a:r>
          </a:p>
        </p:txBody>
      </p:sp>
      <p:sp>
        <p:nvSpPr>
          <p:cNvPr id="11" name="CaixaDeTexto 10">
            <a:extLst>
              <a:ext uri="{FF2B5EF4-FFF2-40B4-BE49-F238E27FC236}">
                <a16:creationId xmlns:a16="http://schemas.microsoft.com/office/drawing/2014/main" id="{D8C4DAD2-FA5E-6885-F5F9-31C8645FB1CD}"/>
              </a:ext>
            </a:extLst>
          </p:cNvPr>
          <p:cNvSpPr txBox="1"/>
          <p:nvPr/>
        </p:nvSpPr>
        <p:spPr>
          <a:xfrm>
            <a:off x="1184362" y="6164629"/>
            <a:ext cx="2598596" cy="369332"/>
          </a:xfrm>
          <a:prstGeom prst="rect">
            <a:avLst/>
          </a:prstGeom>
          <a:noFill/>
        </p:spPr>
        <p:txBody>
          <a:bodyPr wrap="none" rtlCol="0">
            <a:spAutoFit/>
          </a:bodyPr>
          <a:lstStyle/>
          <a:p>
            <a:r>
              <a:rPr lang="pt-BR" b="1" dirty="0"/>
              <a:t>1989</a:t>
            </a:r>
            <a:r>
              <a:rPr lang="pt-BR" dirty="0"/>
              <a:t> – Microsoft Office </a:t>
            </a:r>
          </a:p>
        </p:txBody>
      </p:sp>
      <p:sp>
        <p:nvSpPr>
          <p:cNvPr id="12" name="CaixaDeTexto 11">
            <a:extLst>
              <a:ext uri="{FF2B5EF4-FFF2-40B4-BE49-F238E27FC236}">
                <a16:creationId xmlns:a16="http://schemas.microsoft.com/office/drawing/2014/main" id="{AB0DC086-D779-29D9-7DDD-E45B1BF8B2F8}"/>
              </a:ext>
            </a:extLst>
          </p:cNvPr>
          <p:cNvSpPr txBox="1"/>
          <p:nvPr/>
        </p:nvSpPr>
        <p:spPr>
          <a:xfrm>
            <a:off x="7873377" y="3395533"/>
            <a:ext cx="3512308" cy="369332"/>
          </a:xfrm>
          <a:prstGeom prst="rect">
            <a:avLst/>
          </a:prstGeom>
          <a:noFill/>
        </p:spPr>
        <p:txBody>
          <a:bodyPr wrap="none" rtlCol="0">
            <a:spAutoFit/>
          </a:bodyPr>
          <a:lstStyle/>
          <a:p>
            <a:r>
              <a:rPr lang="pt-BR" b="1" dirty="0"/>
              <a:t>1982</a:t>
            </a:r>
            <a:r>
              <a:rPr lang="pt-BR" dirty="0"/>
              <a:t> – Microsoft </a:t>
            </a:r>
            <a:r>
              <a:rPr lang="pt-BR" dirty="0" err="1"/>
              <a:t>Flight</a:t>
            </a:r>
            <a:r>
              <a:rPr lang="pt-BR" dirty="0"/>
              <a:t> Simulator</a:t>
            </a:r>
          </a:p>
        </p:txBody>
      </p:sp>
      <p:pic>
        <p:nvPicPr>
          <p:cNvPr id="1040" name="Picture 16" descr="Internet Explorer para Windows - Baixe gratuitamente na Uptodown">
            <a:extLst>
              <a:ext uri="{FF2B5EF4-FFF2-40B4-BE49-F238E27FC236}">
                <a16:creationId xmlns:a16="http://schemas.microsoft.com/office/drawing/2014/main" id="{1EBA7A36-785F-2199-6495-7C76E358A6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52850" y="4246458"/>
            <a:ext cx="1595711" cy="1595711"/>
          </a:xfrm>
          <a:prstGeom prst="rect">
            <a:avLst/>
          </a:prstGeom>
          <a:noFill/>
          <a:effectLst>
            <a:outerShdw blurRad="635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sp>
        <p:nvSpPr>
          <p:cNvPr id="13" name="CaixaDeTexto 12">
            <a:extLst>
              <a:ext uri="{FF2B5EF4-FFF2-40B4-BE49-F238E27FC236}">
                <a16:creationId xmlns:a16="http://schemas.microsoft.com/office/drawing/2014/main" id="{9E721642-B08F-8AE6-F072-8B4B80C0A2B7}"/>
              </a:ext>
            </a:extLst>
          </p:cNvPr>
          <p:cNvSpPr txBox="1"/>
          <p:nvPr/>
        </p:nvSpPr>
        <p:spPr>
          <a:xfrm>
            <a:off x="4363796" y="6160447"/>
            <a:ext cx="2605713" cy="369332"/>
          </a:xfrm>
          <a:prstGeom prst="rect">
            <a:avLst/>
          </a:prstGeom>
          <a:noFill/>
        </p:spPr>
        <p:txBody>
          <a:bodyPr wrap="none" rtlCol="0">
            <a:spAutoFit/>
          </a:bodyPr>
          <a:lstStyle/>
          <a:p>
            <a:r>
              <a:rPr lang="pt-BR" b="1" dirty="0"/>
              <a:t>1995</a:t>
            </a:r>
            <a:r>
              <a:rPr lang="pt-BR" dirty="0"/>
              <a:t> – Internet Explorer</a:t>
            </a:r>
          </a:p>
        </p:txBody>
      </p:sp>
    </p:spTree>
    <p:extLst>
      <p:ext uri="{BB962C8B-B14F-4D97-AF65-F5344CB8AC3E}">
        <p14:creationId xmlns:p14="http://schemas.microsoft.com/office/powerpoint/2010/main" val="1099211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FF9A4-E5D2-FDBB-8067-11951B4772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B521D8-EF8B-5F56-FA4A-8231A1577CCF}"/>
              </a:ext>
            </a:extLst>
          </p:cNvPr>
          <p:cNvSpPr>
            <a:spLocks noGrp="1"/>
          </p:cNvSpPr>
          <p:nvPr>
            <p:ph type="title"/>
          </p:nvPr>
        </p:nvSpPr>
        <p:spPr>
          <a:xfrm>
            <a:off x="162608" y="189644"/>
            <a:ext cx="10515600" cy="474826"/>
          </a:xfrm>
        </p:spPr>
        <p:txBody>
          <a:bodyPr>
            <a:normAutofit fontScale="90000"/>
          </a:bodyPr>
          <a:lstStyle/>
          <a:p>
            <a:r>
              <a:rPr lang="pt-BR" sz="4400" dirty="0">
                <a:solidFill>
                  <a:srgbClr val="000000"/>
                </a:solidFill>
                <a:effectLst/>
                <a:latin typeface="Aptos Display" panose="020B0004020202020204" pitchFamily="34" charset="0"/>
              </a:rPr>
              <a:t>Microsoft – </a:t>
            </a:r>
            <a:r>
              <a:rPr lang="pt-BR" sz="4400" dirty="0" err="1">
                <a:solidFill>
                  <a:srgbClr val="000000"/>
                </a:solidFill>
                <a:effectLst/>
                <a:latin typeface="Aptos Display" panose="020B0004020202020204" pitchFamily="34" charset="0"/>
              </a:rPr>
              <a:t>Present</a:t>
            </a:r>
            <a:r>
              <a:rPr lang="pt-BR" sz="4400" dirty="0">
                <a:solidFill>
                  <a:srgbClr val="000000"/>
                </a:solidFill>
                <a:effectLst/>
                <a:latin typeface="Aptos Display" panose="020B0004020202020204" pitchFamily="34" charset="0"/>
              </a:rPr>
              <a:t> Day</a:t>
            </a:r>
            <a:endParaRPr lang="pt-BR" dirty="0"/>
          </a:p>
        </p:txBody>
      </p:sp>
      <p:pic>
        <p:nvPicPr>
          <p:cNvPr id="2056" name="Picture 8" descr="Microsoft compra Activision Blizzard por quase US$ 70 bilhões | Ge">
            <a:extLst>
              <a:ext uri="{FF2B5EF4-FFF2-40B4-BE49-F238E27FC236}">
                <a16:creationId xmlns:a16="http://schemas.microsoft.com/office/drawing/2014/main" id="{A19DAEB7-C948-B845-7C3C-0D0E8C20B8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7905" y="1194548"/>
            <a:ext cx="1602563" cy="1359582"/>
          </a:xfrm>
          <a:prstGeom prst="rect">
            <a:avLst/>
          </a:prstGeom>
          <a:noFill/>
          <a:effectLst>
            <a:outerShdw blurRad="8382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pic>
        <p:nvPicPr>
          <p:cNvPr id="1034" name="Picture 10" descr="Xbox One S | Xbox">
            <a:extLst>
              <a:ext uri="{FF2B5EF4-FFF2-40B4-BE49-F238E27FC236}">
                <a16:creationId xmlns:a16="http://schemas.microsoft.com/office/drawing/2014/main" id="{475B4FA9-D1A1-975B-C32C-9C15B34162C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92885" y="1189973"/>
            <a:ext cx="1987304" cy="1600200"/>
          </a:xfrm>
          <a:prstGeom prst="rect">
            <a:avLst/>
          </a:prstGeom>
          <a:noFill/>
          <a:effectLst>
            <a:outerShdw blurRad="3556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sp>
        <p:nvSpPr>
          <p:cNvPr id="3" name="CaixaDeTexto 2">
            <a:extLst>
              <a:ext uri="{FF2B5EF4-FFF2-40B4-BE49-F238E27FC236}">
                <a16:creationId xmlns:a16="http://schemas.microsoft.com/office/drawing/2014/main" id="{8CB7F11E-BBF9-92C9-3843-992E58E953BE}"/>
              </a:ext>
            </a:extLst>
          </p:cNvPr>
          <p:cNvSpPr txBox="1"/>
          <p:nvPr/>
        </p:nvSpPr>
        <p:spPr>
          <a:xfrm>
            <a:off x="1524658" y="2968559"/>
            <a:ext cx="2528078" cy="369332"/>
          </a:xfrm>
          <a:prstGeom prst="rect">
            <a:avLst/>
          </a:prstGeom>
          <a:noFill/>
        </p:spPr>
        <p:txBody>
          <a:bodyPr wrap="square" rtlCol="0">
            <a:spAutoFit/>
          </a:bodyPr>
          <a:lstStyle/>
          <a:p>
            <a:r>
              <a:rPr lang="pt-BR" b="1" dirty="0"/>
              <a:t>2001</a:t>
            </a:r>
            <a:r>
              <a:rPr lang="pt-BR" dirty="0"/>
              <a:t> - Xbox</a:t>
            </a:r>
          </a:p>
        </p:txBody>
      </p:sp>
      <p:pic>
        <p:nvPicPr>
          <p:cNvPr id="2050" name="Picture 2" descr="Linkedin logo Imagens – Download Grátis no Freepik">
            <a:extLst>
              <a:ext uri="{FF2B5EF4-FFF2-40B4-BE49-F238E27FC236}">
                <a16:creationId xmlns:a16="http://schemas.microsoft.com/office/drawing/2014/main" id="{07CB826F-D998-7070-BC58-FC2D1D1617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6469" y="3948447"/>
            <a:ext cx="1391267" cy="1391267"/>
          </a:xfrm>
          <a:prstGeom prst="rect">
            <a:avLst/>
          </a:prstGeom>
          <a:noFill/>
          <a:effectLst>
            <a:outerShdw blurRad="5334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pic>
        <p:nvPicPr>
          <p:cNvPr id="2052" name="Picture 4" descr="GitHub – Wikipédia, a enciclopédia livre">
            <a:extLst>
              <a:ext uri="{FF2B5EF4-FFF2-40B4-BE49-F238E27FC236}">
                <a16:creationId xmlns:a16="http://schemas.microsoft.com/office/drawing/2014/main" id="{4D8EDD17-0168-87AA-39B4-760D6832A9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9312" y="4019573"/>
            <a:ext cx="1188565" cy="1188565"/>
          </a:xfrm>
          <a:prstGeom prst="rect">
            <a:avLst/>
          </a:prstGeom>
          <a:noFill/>
          <a:effectLst>
            <a:outerShdw blurRad="4572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pic>
        <p:nvPicPr>
          <p:cNvPr id="2054" name="Picture 6" descr="Microsoft OneDrive | Integrations | OneTrust">
            <a:extLst>
              <a:ext uri="{FF2B5EF4-FFF2-40B4-BE49-F238E27FC236}">
                <a16:creationId xmlns:a16="http://schemas.microsoft.com/office/drawing/2014/main" id="{19C4110C-7808-885A-5230-CC0DB37653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73216" y="1035324"/>
            <a:ext cx="2152650" cy="2033525"/>
          </a:xfrm>
          <a:prstGeom prst="rect">
            <a:avLst/>
          </a:prstGeom>
          <a:noFill/>
          <a:effectLst>
            <a:outerShdw blurRad="381000" dist="50800" dir="372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pic>
        <p:nvPicPr>
          <p:cNvPr id="1032" name="Picture 8" descr="Microsoft Copilot - Wikipedia">
            <a:extLst>
              <a:ext uri="{FF2B5EF4-FFF2-40B4-BE49-F238E27FC236}">
                <a16:creationId xmlns:a16="http://schemas.microsoft.com/office/drawing/2014/main" id="{3A4C8227-2075-853A-59D9-3B7FA378D3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4160" y="3999780"/>
            <a:ext cx="1636100" cy="1636100"/>
          </a:xfrm>
          <a:prstGeom prst="rect">
            <a:avLst/>
          </a:prstGeom>
          <a:noFill/>
          <a:effectLst>
            <a:outerShdw blurRad="1219200" dist="50800" dir="54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41F4250E-B567-424F-A0A1-D89C912B0769}"/>
              </a:ext>
            </a:extLst>
          </p:cNvPr>
          <p:cNvSpPr txBox="1"/>
          <p:nvPr/>
        </p:nvSpPr>
        <p:spPr>
          <a:xfrm>
            <a:off x="2300885" y="5805891"/>
            <a:ext cx="2458622" cy="646331"/>
          </a:xfrm>
          <a:prstGeom prst="rect">
            <a:avLst/>
          </a:prstGeom>
          <a:noFill/>
        </p:spPr>
        <p:txBody>
          <a:bodyPr wrap="none" rtlCol="0">
            <a:spAutoFit/>
          </a:bodyPr>
          <a:lstStyle/>
          <a:p>
            <a:r>
              <a:rPr lang="pt-BR" b="1" dirty="0"/>
              <a:t>2016</a:t>
            </a:r>
            <a:r>
              <a:rPr lang="pt-BR" dirty="0"/>
              <a:t> – </a:t>
            </a:r>
            <a:r>
              <a:rPr lang="pt-BR" dirty="0" err="1"/>
              <a:t>bought</a:t>
            </a:r>
            <a:r>
              <a:rPr lang="pt-BR" dirty="0"/>
              <a:t> Linkedin</a:t>
            </a:r>
          </a:p>
          <a:p>
            <a:r>
              <a:rPr lang="pt-BR" b="1" dirty="0"/>
              <a:t>2018</a:t>
            </a:r>
            <a:r>
              <a:rPr lang="pt-BR" dirty="0"/>
              <a:t> – </a:t>
            </a:r>
            <a:r>
              <a:rPr lang="pt-BR" dirty="0" err="1"/>
              <a:t>bought</a:t>
            </a:r>
            <a:r>
              <a:rPr lang="pt-BR" dirty="0"/>
              <a:t>  Github</a:t>
            </a:r>
          </a:p>
        </p:txBody>
      </p:sp>
      <p:sp>
        <p:nvSpPr>
          <p:cNvPr id="6" name="CaixaDeTexto 5">
            <a:extLst>
              <a:ext uri="{FF2B5EF4-FFF2-40B4-BE49-F238E27FC236}">
                <a16:creationId xmlns:a16="http://schemas.microsoft.com/office/drawing/2014/main" id="{82F1F403-0E91-39A1-BC48-DF146DEC11B9}"/>
              </a:ext>
            </a:extLst>
          </p:cNvPr>
          <p:cNvSpPr txBox="1"/>
          <p:nvPr/>
        </p:nvSpPr>
        <p:spPr>
          <a:xfrm>
            <a:off x="9222696" y="3200720"/>
            <a:ext cx="1853688" cy="369332"/>
          </a:xfrm>
          <a:prstGeom prst="rect">
            <a:avLst/>
          </a:prstGeom>
          <a:noFill/>
        </p:spPr>
        <p:txBody>
          <a:bodyPr wrap="square" rtlCol="0">
            <a:spAutoFit/>
          </a:bodyPr>
          <a:lstStyle/>
          <a:p>
            <a:r>
              <a:rPr lang="pt-BR" b="1" dirty="0"/>
              <a:t>2014</a:t>
            </a:r>
            <a:r>
              <a:rPr lang="pt-BR" dirty="0"/>
              <a:t> - OneDrive</a:t>
            </a:r>
          </a:p>
        </p:txBody>
      </p:sp>
      <p:sp>
        <p:nvSpPr>
          <p:cNvPr id="5" name="CaixaDeTexto 4">
            <a:extLst>
              <a:ext uri="{FF2B5EF4-FFF2-40B4-BE49-F238E27FC236}">
                <a16:creationId xmlns:a16="http://schemas.microsoft.com/office/drawing/2014/main" id="{164A0C26-8340-50F6-F3B2-BECB4BB5A530}"/>
              </a:ext>
            </a:extLst>
          </p:cNvPr>
          <p:cNvSpPr txBox="1"/>
          <p:nvPr/>
        </p:nvSpPr>
        <p:spPr>
          <a:xfrm>
            <a:off x="6997503" y="6084742"/>
            <a:ext cx="1673856" cy="369332"/>
          </a:xfrm>
          <a:prstGeom prst="rect">
            <a:avLst/>
          </a:prstGeom>
          <a:noFill/>
        </p:spPr>
        <p:txBody>
          <a:bodyPr wrap="none" rtlCol="0">
            <a:spAutoFit/>
          </a:bodyPr>
          <a:lstStyle/>
          <a:p>
            <a:r>
              <a:rPr lang="pt-BR" b="1" dirty="0"/>
              <a:t>2021 </a:t>
            </a:r>
            <a:r>
              <a:rPr lang="pt-BR" dirty="0"/>
              <a:t>-</a:t>
            </a:r>
            <a:r>
              <a:rPr lang="pt-BR" b="1" dirty="0"/>
              <a:t> </a:t>
            </a:r>
            <a:r>
              <a:rPr lang="pt-BR" dirty="0" err="1"/>
              <a:t>Copilot</a:t>
            </a:r>
            <a:r>
              <a:rPr lang="pt-BR" dirty="0"/>
              <a:t> </a:t>
            </a:r>
          </a:p>
        </p:txBody>
      </p:sp>
      <p:pic>
        <p:nvPicPr>
          <p:cNvPr id="6146" name="Picture 2" descr="O que é Azure e para que serve? - Cloud Treinamentos">
            <a:extLst>
              <a:ext uri="{FF2B5EF4-FFF2-40B4-BE49-F238E27FC236}">
                <a16:creationId xmlns:a16="http://schemas.microsoft.com/office/drawing/2014/main" id="{D5FE4E2F-4BA1-6A5F-6E20-7BF7BEE577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5750" y="1230188"/>
            <a:ext cx="2686050" cy="1704975"/>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4" name="CaixaDeTexto 13">
            <a:extLst>
              <a:ext uri="{FF2B5EF4-FFF2-40B4-BE49-F238E27FC236}">
                <a16:creationId xmlns:a16="http://schemas.microsoft.com/office/drawing/2014/main" id="{3C1DC46A-799E-7307-8E8C-AF63151B406C}"/>
              </a:ext>
            </a:extLst>
          </p:cNvPr>
          <p:cNvSpPr txBox="1"/>
          <p:nvPr/>
        </p:nvSpPr>
        <p:spPr>
          <a:xfrm>
            <a:off x="5350105" y="3200720"/>
            <a:ext cx="2528078" cy="369332"/>
          </a:xfrm>
          <a:prstGeom prst="rect">
            <a:avLst/>
          </a:prstGeom>
          <a:noFill/>
        </p:spPr>
        <p:txBody>
          <a:bodyPr wrap="square" rtlCol="0">
            <a:spAutoFit/>
          </a:bodyPr>
          <a:lstStyle/>
          <a:p>
            <a:r>
              <a:rPr lang="pt-BR" b="1" dirty="0"/>
              <a:t>2008</a:t>
            </a:r>
            <a:r>
              <a:rPr lang="pt-BR" dirty="0"/>
              <a:t> - Azure</a:t>
            </a:r>
          </a:p>
        </p:txBody>
      </p:sp>
    </p:spTree>
    <p:extLst>
      <p:ext uri="{BB962C8B-B14F-4D97-AF65-F5344CB8AC3E}">
        <p14:creationId xmlns:p14="http://schemas.microsoft.com/office/powerpoint/2010/main" val="1183795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153668E-A968-326D-BDE1-94515F4E2806}"/>
              </a:ext>
            </a:extLst>
          </p:cNvPr>
          <p:cNvSpPr>
            <a:spLocks noGrp="1"/>
          </p:cNvSpPr>
          <p:nvPr>
            <p:ph type="title"/>
          </p:nvPr>
        </p:nvSpPr>
        <p:spPr>
          <a:xfrm>
            <a:off x="838200" y="556995"/>
            <a:ext cx="10515600" cy="1133693"/>
          </a:xfrm>
        </p:spPr>
        <p:txBody>
          <a:bodyPr>
            <a:normAutofit/>
          </a:bodyPr>
          <a:lstStyle/>
          <a:p>
            <a:r>
              <a:rPr lang="pt-BR" sz="3600" b="0" i="0">
                <a:effectLst/>
              </a:rPr>
              <a:t>Microsoft and Artificial Intelligence</a:t>
            </a:r>
            <a:br>
              <a:rPr lang="pt-BR" sz="3600" b="0" i="0">
                <a:effectLst/>
              </a:rPr>
            </a:br>
            <a:endParaRPr lang="pt-BR" sz="3600"/>
          </a:p>
        </p:txBody>
      </p:sp>
      <p:graphicFrame>
        <p:nvGraphicFramePr>
          <p:cNvPr id="10" name="Espaço Reservado para Conteúdo 6">
            <a:extLst>
              <a:ext uri="{FF2B5EF4-FFF2-40B4-BE49-F238E27FC236}">
                <a16:creationId xmlns:a16="http://schemas.microsoft.com/office/drawing/2014/main" id="{063DEB9A-2519-4355-E285-ED670544112D}"/>
              </a:ext>
            </a:extLst>
          </p:cNvPr>
          <p:cNvGraphicFramePr>
            <a:graphicFrameLocks noGrp="1"/>
          </p:cNvGraphicFramePr>
          <p:nvPr>
            <p:ph idx="1"/>
            <p:extLst>
              <p:ext uri="{D42A27DB-BD31-4B8C-83A1-F6EECF244321}">
                <p14:modId xmlns:p14="http://schemas.microsoft.com/office/powerpoint/2010/main" val="22231397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9126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29">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ítulo 1">
            <a:extLst>
              <a:ext uri="{FF2B5EF4-FFF2-40B4-BE49-F238E27FC236}">
                <a16:creationId xmlns:a16="http://schemas.microsoft.com/office/drawing/2014/main" id="{69EE8CF7-98D5-FBC0-B83A-1BB09B514D80}"/>
              </a:ext>
            </a:extLst>
          </p:cNvPr>
          <p:cNvSpPr>
            <a:spLocks noGrp="1"/>
          </p:cNvSpPr>
          <p:nvPr>
            <p:ph type="title"/>
          </p:nvPr>
        </p:nvSpPr>
        <p:spPr>
          <a:xfrm>
            <a:off x="479394" y="1070800"/>
            <a:ext cx="3939688" cy="5583126"/>
          </a:xfrm>
        </p:spPr>
        <p:txBody>
          <a:bodyPr>
            <a:normAutofit/>
          </a:bodyPr>
          <a:lstStyle/>
          <a:p>
            <a:pPr algn="r"/>
            <a:r>
              <a:rPr lang="pt-BR" sz="7400" b="0" i="0">
                <a:effectLst/>
              </a:rPr>
              <a:t>Why Microsoft is Important</a:t>
            </a:r>
            <a:br>
              <a:rPr lang="pt-BR" sz="7400" b="0" i="0">
                <a:effectLst/>
              </a:rPr>
            </a:br>
            <a:endParaRPr lang="pt-BR" sz="7400"/>
          </a:p>
        </p:txBody>
      </p:sp>
      <p:cxnSp>
        <p:nvCxnSpPr>
          <p:cNvPr id="32" name="Straight Connector 3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8" name="Espaço Reservado para Conteúdo 5">
            <a:extLst>
              <a:ext uri="{FF2B5EF4-FFF2-40B4-BE49-F238E27FC236}">
                <a16:creationId xmlns:a16="http://schemas.microsoft.com/office/drawing/2014/main" id="{303F4361-881F-CDF7-092B-091A25725AFE}"/>
              </a:ext>
            </a:extLst>
          </p:cNvPr>
          <p:cNvGraphicFramePr>
            <a:graphicFrameLocks noGrp="1"/>
          </p:cNvGraphicFramePr>
          <p:nvPr>
            <p:ph idx="1"/>
            <p:extLst>
              <p:ext uri="{D42A27DB-BD31-4B8C-83A1-F6EECF244321}">
                <p14:modId xmlns:p14="http://schemas.microsoft.com/office/powerpoint/2010/main" val="2129021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7239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5B6AEE0C-07FE-4154-BC7C-2F20530BC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8" name="Picture 7" descr="Disco rígido com formato de nuvem com cabos">
            <a:extLst>
              <a:ext uri="{FF2B5EF4-FFF2-40B4-BE49-F238E27FC236}">
                <a16:creationId xmlns:a16="http://schemas.microsoft.com/office/drawing/2014/main" id="{4CF27847-620D-43EE-52EC-7F910B35AEF6}"/>
              </a:ext>
            </a:extLst>
          </p:cNvPr>
          <p:cNvPicPr>
            <a:picLocks noChangeAspect="1"/>
          </p:cNvPicPr>
          <p:nvPr/>
        </p:nvPicPr>
        <p:blipFill>
          <a:blip r:embed="rId2">
            <a:alphaModFix amt="28000"/>
          </a:blip>
          <a:srcRect b="1747"/>
          <a:stretch>
            <a:fillRect/>
          </a:stretch>
        </p:blipFill>
        <p:spPr>
          <a:xfrm>
            <a:off x="-1" y="10"/>
            <a:ext cx="12192001" cy="6857990"/>
          </a:xfrm>
          <a:prstGeom prst="rect">
            <a:avLst/>
          </a:prstGeom>
          <a:effectLst>
            <a:outerShdw blurRad="1270000" dist="50800" dir="5400000" sx="102000" sy="102000" algn="ctr" rotWithShape="0">
              <a:srgbClr val="000000">
                <a:alpha val="99000"/>
              </a:srgbClr>
            </a:outerShdw>
          </a:effectLst>
        </p:spPr>
      </p:pic>
      <p:sp>
        <p:nvSpPr>
          <p:cNvPr id="2" name="Título 1">
            <a:extLst>
              <a:ext uri="{FF2B5EF4-FFF2-40B4-BE49-F238E27FC236}">
                <a16:creationId xmlns:a16="http://schemas.microsoft.com/office/drawing/2014/main" id="{5CF76957-3315-B2AA-89F2-A4DF349AB972}"/>
              </a:ext>
            </a:extLst>
          </p:cNvPr>
          <p:cNvSpPr>
            <a:spLocks noGrp="1"/>
          </p:cNvSpPr>
          <p:nvPr>
            <p:ph type="title"/>
          </p:nvPr>
        </p:nvSpPr>
        <p:spPr>
          <a:xfrm>
            <a:off x="838199" y="557189"/>
            <a:ext cx="5155263" cy="5571899"/>
          </a:xfrm>
        </p:spPr>
        <p:txBody>
          <a:bodyPr>
            <a:normAutofit/>
          </a:bodyPr>
          <a:lstStyle/>
          <a:p>
            <a:r>
              <a:rPr lang="pt-BR" dirty="0" err="1">
                <a:solidFill>
                  <a:srgbClr val="FFFFFF"/>
                </a:solidFill>
              </a:rPr>
              <a:t>Conclusion</a:t>
            </a:r>
            <a:endParaRPr lang="pt-BR" dirty="0">
              <a:solidFill>
                <a:srgbClr val="FFFFFF"/>
              </a:solidFill>
            </a:endParaRPr>
          </a:p>
        </p:txBody>
      </p:sp>
      <p:sp>
        <p:nvSpPr>
          <p:cNvPr id="6" name="Espaço Reservado para Conteúdo 5">
            <a:extLst>
              <a:ext uri="{FF2B5EF4-FFF2-40B4-BE49-F238E27FC236}">
                <a16:creationId xmlns:a16="http://schemas.microsoft.com/office/drawing/2014/main" id="{3A195511-EA97-240B-EC6D-3DFC5E70D76A}"/>
              </a:ext>
            </a:extLst>
          </p:cNvPr>
          <p:cNvSpPr>
            <a:spLocks noGrp="1"/>
          </p:cNvSpPr>
          <p:nvPr>
            <p:ph idx="1"/>
          </p:nvPr>
        </p:nvSpPr>
        <p:spPr>
          <a:xfrm>
            <a:off x="6195375" y="557189"/>
            <a:ext cx="5158424" cy="5571899"/>
          </a:xfrm>
        </p:spPr>
        <p:txBody>
          <a:bodyPr anchor="ctr">
            <a:normAutofit/>
          </a:bodyPr>
          <a:lstStyle/>
          <a:p>
            <a:pPr marL="0" indent="0">
              <a:buNone/>
            </a:pPr>
            <a:r>
              <a:rPr lang="en-US" sz="2000" dirty="0">
                <a:solidFill>
                  <a:srgbClr val="FFFFFF"/>
                </a:solidFill>
              </a:rPr>
              <a:t>In conclusion, Microsoft remains one of the most influential technology companies in the world. With Microsoft Windows as the most widely used desktop operating system, a strong presence in cloud computing through Azure, and growing leadership in artificial intelligence, the company continues to shape how people and businesses use technology. Its ability to adapt, innovate, and integrate new technologies into everyday tools ensures that Microsoft will remain a key player in the global digital economy.</a:t>
            </a:r>
            <a:endParaRPr lang="pt-BR" sz="2000" dirty="0">
              <a:solidFill>
                <a:srgbClr val="FFFFFF"/>
              </a:solidFill>
            </a:endParaRPr>
          </a:p>
        </p:txBody>
      </p:sp>
    </p:spTree>
    <p:extLst>
      <p:ext uri="{BB962C8B-B14F-4D97-AF65-F5344CB8AC3E}">
        <p14:creationId xmlns:p14="http://schemas.microsoft.com/office/powerpoint/2010/main" val="409179931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501</Words>
  <Application>Microsoft Office PowerPoint</Application>
  <PresentationFormat>Widescreen</PresentationFormat>
  <Paragraphs>32</Paragraphs>
  <Slides>7</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7</vt:i4>
      </vt:variant>
    </vt:vector>
  </HeadingPairs>
  <TitlesOfParts>
    <vt:vector size="12" baseType="lpstr">
      <vt:lpstr>Aptos</vt:lpstr>
      <vt:lpstr>Aptos Display</vt:lpstr>
      <vt:lpstr>Arial</vt:lpstr>
      <vt:lpstr>Calibri</vt:lpstr>
      <vt:lpstr>Tema do Office</vt:lpstr>
      <vt:lpstr>Microsoft</vt:lpstr>
      <vt:lpstr>What is Microsoft?</vt:lpstr>
      <vt:lpstr>Microsoft – In the Past</vt:lpstr>
      <vt:lpstr>Microsoft – Present Day</vt:lpstr>
      <vt:lpstr>Microsoft and Artificial Intelligence </vt:lpstr>
      <vt:lpstr>Why Microsoft is Important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Lucas Augusto Hartmann</dc:creator>
  <cp:lastModifiedBy>Lucas Augusto Hartmann</cp:lastModifiedBy>
  <cp:revision>1</cp:revision>
  <dcterms:created xsi:type="dcterms:W3CDTF">2026-02-23T01:02:51Z</dcterms:created>
  <dcterms:modified xsi:type="dcterms:W3CDTF">2026-02-23T02:39:02Z</dcterms:modified>
</cp:coreProperties>
</file>